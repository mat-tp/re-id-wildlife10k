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ZA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</a:t>
            </a:r>
            <a:r>
              <a:rPr lang="en-ZA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slide</a:t>
            </a:r>
            <a:endParaRPr lang="en-ZA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Z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</a:t>
            </a:r>
            <a:r>
              <a:rPr lang="en-Z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notes format</a:t>
            </a:r>
            <a:endParaRPr lang="en-Z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Z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Z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Z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Z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Z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Z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Z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Z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Z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E2EA158-281D-4F18-B15C-A4BFE741713F}" type="slidenum">
              <a:rPr lang="en-Z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Z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~1.5 min. Re-ID is not species classification: we ask which individual animal this is, among animals we have already seen. Closed set: the animal is guaranteed to be in the gallery, so the best match is the answer. Open set: it may be new, so we add a threshold tau; if the best score is below tau we answer 'new individual'. Our question: does fusing global, complementary and local evidence beat any single representation on WildlifeReID-10k? (Photos on this slide are from the example figure in your notes; swap in your own dataset images if you prefer.)</a:t>
            </a:r>
            <a:endParaRPr lang="en-Z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31BAAAC-CCE4-4F20-B421-A3AC024CD4A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ZA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min. The benchmark has 140k images of about 10.8k individuals across 37 datasets. There is no validation split, so we carve one out of train: whole identities are held out to mimic new animals, and whole clusters of near-identical photos are held out together, otherwise validation is too easy (leakage). Test is run once at the end. Augmentation is mild because identity cues must survive; no horizontal flips because mirrored patterns create fake identities. Compression: PCA fitted on training data only, then sweep dimensions and watch BAKS and BAUS. (Dataset counts come from your earlier draft decks; please verify.)</a:t>
            </a:r>
            <a:endParaRPr lang="en-Z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0B01106-E3D5-4235-B127-A772CFBF110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ZA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~3 min. Walk left to right. Every image becomes an embedding from the global model and from EVA02. Cosine similarity over the whole gallery gives a shortlist of K candidates. ALIKED with LightGlue works on pairs, not vectors, so it cannot be indexed: it only runs on the best 20. Why it matters: global captures overall look, EVA02 is a general second opinion, local matching catches tiny patterns. Raw scores are on different scales (cosines roughly 0.2-0.9, EVA02 squeezed near 0.8-0.95, ALIKED an inlier count up to 1000), so we calibrate each with isotonic regression into a probability of same animal, combine with a weighted sum (start 0.4/0.3/0.3, tuned on validation), re-rank, then apply tau. Images on steps 1-3 are from the example figure in your notes (a bear face re-ID illustration); replace with your own dataset crops if you want.</a:t>
            </a:r>
            <a:endParaRPr lang="en-Z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661318-6E36-4F12-9EC3-45156DB4DB1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ZA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~2.5 min. FILL BEFORE PRESENTING: replace every [__] with numbers from results/ablation_test.csv (python -m src.run_experiments ablation --test) and paste the two plots into the dashed boxes. Talking points: plain accuracy is dominated by animals photographed many times, so BAKS averages per image, then per animal, then per dataset. Closed-set score is BAKS; open-set score is the mean of BAKS and BAUS. Tau is chosen on validation and frozen for test.</a:t>
            </a:r>
            <a:endParaRPr lang="en-Z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42B68C-8C83-4F4B-94F6-21E0A7CA1FC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ZA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min, then ~2.5 min live demo (streamlit run src/ui/app.py). Ablation = switch branches off to see what each adds: each alone, each pair, then all three. If full fusion beats every single branch and pair, the evidence is complementary: that is why we fuse. State your finding in one sentence once numbers are in. Limitation: fusion cannot recover an animal the cosine shortlist missed, so shortlist recall bounds it. Demo: pick a test image, show the top identities, move tau and show an image flip to NEW.</a:t>
            </a:r>
            <a:endParaRPr lang="en-Z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4522F38-1C21-4468-A7C5-50D60277B0F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ZA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ZA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ZA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</a:t>
            </a:r>
            <a:r>
              <a:rPr lang="en-ZA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text format</a:t>
            </a:r>
            <a:endParaRPr lang="en-ZA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ZA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ZA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ZA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ZA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ZA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ZA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ZA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ZA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ZA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Z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ZA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ZA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ZA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ZA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ZA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ZA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ZA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ZA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ZA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ZA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ZA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548640" y="640080"/>
            <a:ext cx="6400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300" strike="noStrike">
                <a:solidFill>
                  <a:srgbClr val="C98A1B"/>
                </a:solidFill>
                <a:effectLst/>
                <a:uFillTx/>
                <a:latin typeface="Calibri"/>
              </a:rPr>
              <a:t>GROUP MLM  ·  </a:t>
            </a:r>
            <a:r>
              <a:rPr lang="en-US" sz="1400" b="1" u="none" spc="300" strike="noStrike">
                <a:solidFill>
                  <a:srgbClr val="C98A1B"/>
                </a:solidFill>
                <a:effectLst/>
                <a:uFillTx/>
                <a:latin typeface="Calibri"/>
              </a:rPr>
              <a:t>WILDLIFEREID-10</a:t>
            </a:r>
            <a:r>
              <a:rPr lang="en-US" sz="1400" b="1" u="none" spc="300" strike="noStrike">
                <a:solidFill>
                  <a:srgbClr val="C98A1B"/>
                </a:solidFill>
                <a:effectLst/>
                <a:uFillTx/>
                <a:latin typeface="Calibri"/>
              </a:rPr>
              <a:t>K</a:t>
            </a:r>
            <a:endParaRPr lang="en-Z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itle"/>
          <p:cNvSpPr/>
          <p:nvPr/>
        </p:nvSpPr>
        <p:spPr>
          <a:xfrm>
            <a:off x="548640" y="1097280"/>
            <a:ext cx="63090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Calibrat</a:t>
            </a:r>
            <a:r>
              <a:rPr lang="en-US" sz="40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ed </a:t>
            </a:r>
            <a:r>
              <a:rPr lang="en-US" sz="40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Multi-</a:t>
            </a:r>
            <a:r>
              <a:rPr lang="en-US" sz="40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Scale </a:t>
            </a:r>
            <a:r>
              <a:rPr lang="en-US" sz="40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Similari</a:t>
            </a:r>
            <a:r>
              <a:rPr lang="en-US" sz="40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ty </a:t>
            </a:r>
            <a:r>
              <a:rPr lang="en-US" sz="40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Fusion </a:t>
            </a:r>
            <a:r>
              <a:rPr lang="en-US" sz="40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for </a:t>
            </a:r>
            <a:r>
              <a:rPr lang="en-US" sz="40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Wildlife </a:t>
            </a:r>
            <a:r>
              <a:rPr lang="en-US" sz="40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Re-ID</a:t>
            </a:r>
            <a:endParaRPr lang="en-ZA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548640" y="3337560"/>
            <a:ext cx="60346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Can combining a </a:t>
            </a:r>
            <a:r>
              <a:rPr lang="en-US" sz="18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global, a general </a:t>
            </a:r>
            <a:r>
              <a:rPr lang="en-US" sz="18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and a local view of </a:t>
            </a:r>
            <a:r>
              <a:rPr lang="en-US" sz="18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an animal identify </a:t>
            </a:r>
            <a:r>
              <a:rPr lang="en-US" sz="18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individuals more </a:t>
            </a:r>
            <a:r>
              <a:rPr lang="en-US" sz="18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reliably than any </a:t>
            </a:r>
            <a:r>
              <a:rPr lang="en-US" sz="18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single one?</a:t>
            </a:r>
            <a:endParaRPr lang="en-Z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548640" y="4663440"/>
            <a:ext cx="2011320" cy="1234080"/>
          </a:xfrm>
          <a:prstGeom prst="roundRect">
            <a:avLst>
              <a:gd name="adj" fmla="val 8889"/>
            </a:avLst>
          </a:prstGeom>
          <a:solidFill>
            <a:srgbClr val="F2F5F1"/>
          </a:solidFill>
          <a:ln w="9525">
            <a:solidFill>
              <a:srgbClr val="DDE6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Z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685800" y="475488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C5F2D"/>
                </a:solidFill>
                <a:effectLst/>
                <a:uFillTx/>
                <a:latin typeface="Calibri"/>
              </a:rPr>
              <a:t>CLASSIFICATION</a:t>
            </a:r>
            <a:endParaRPr lang="en-ZA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685800" y="5074920"/>
            <a:ext cx="1782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What species is this?</a:t>
            </a:r>
            <a:endParaRPr lang="en-ZA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2697480" y="4663440"/>
            <a:ext cx="2011320" cy="1234080"/>
          </a:xfrm>
          <a:prstGeom prst="roundRect">
            <a:avLst>
              <a:gd name="adj" fmla="val 8889"/>
            </a:avLst>
          </a:prstGeom>
          <a:solidFill>
            <a:srgbClr val="F2F5F1"/>
          </a:solidFill>
          <a:ln w="9525">
            <a:solidFill>
              <a:srgbClr val="DDE6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Z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2834640" y="475488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C5F2D"/>
                </a:solidFill>
                <a:effectLst/>
                <a:uFillTx/>
                <a:latin typeface="Calibri"/>
              </a:rPr>
              <a:t>RE-ID, CLOSED SET</a:t>
            </a:r>
            <a:endParaRPr lang="en-ZA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2834640" y="5074920"/>
            <a:ext cx="1782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Which known individual </a:t>
            </a: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is this?</a:t>
            </a:r>
            <a:endParaRPr lang="en-ZA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9"/>
          <p:cNvSpPr/>
          <p:nvPr/>
        </p:nvSpPr>
        <p:spPr>
          <a:xfrm>
            <a:off x="4846320" y="4663440"/>
            <a:ext cx="2011320" cy="1234080"/>
          </a:xfrm>
          <a:prstGeom prst="roundRect">
            <a:avLst>
              <a:gd name="adj" fmla="val 8889"/>
            </a:avLst>
          </a:prstGeom>
          <a:solidFill>
            <a:srgbClr val="F2F5F1"/>
          </a:solidFill>
          <a:ln w="9525">
            <a:solidFill>
              <a:srgbClr val="DDE6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Z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4983480" y="475488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C5F2D"/>
                </a:solidFill>
                <a:effectLst/>
                <a:uFillTx/>
                <a:latin typeface="Calibri"/>
              </a:rPr>
              <a:t>RE-ID, OPEN SET</a:t>
            </a:r>
            <a:endParaRPr lang="en-ZA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4983480" y="5074920"/>
            <a:ext cx="1782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Or is it a new animal?</a:t>
            </a:r>
            <a:endParaRPr lang="en-ZA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" name="Query photo" descr="/tmp/claude-0/-home-claude/69af264c-e446-5a84-b6a0-945426285a6b/scratchpad/pp/query.png"/>
          <p:cNvPicPr/>
          <p:nvPr/>
        </p:nvPicPr>
        <p:blipFill>
          <a:blip r:embed="rId1"/>
          <a:stretch/>
        </p:blipFill>
        <p:spPr>
          <a:xfrm>
            <a:off x="7223760" y="731520"/>
            <a:ext cx="4388760" cy="3299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" name="Gallery" descr="/tmp/claude-0/-home-claude/69af264c-e446-5a84-b6a0-945426285a6b/scratchpad/pp/nearest.png"/>
          <p:cNvPicPr/>
          <p:nvPr/>
        </p:nvPicPr>
        <p:blipFill>
          <a:blip r:embed="rId2"/>
          <a:stretch/>
        </p:blipFill>
        <p:spPr>
          <a:xfrm>
            <a:off x="7223760" y="4160520"/>
            <a:ext cx="1416960" cy="1830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Text 12"/>
          <p:cNvSpPr/>
          <p:nvPr/>
        </p:nvSpPr>
        <p:spPr>
          <a:xfrm>
            <a:off x="8823960" y="4480560"/>
            <a:ext cx="28342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2C5F2D"/>
                </a:solidFill>
                <a:effectLst/>
                <a:uFillTx/>
                <a:latin typeface="Cambria"/>
                <a:ea typeface="Cambria"/>
              </a:rPr>
              <a:t>Which of these </a:t>
            </a:r>
            <a:r>
              <a:rPr lang="en-US" sz="2000" b="0" i="1" u="none" strike="noStrike">
                <a:solidFill>
                  <a:srgbClr val="2C5F2D"/>
                </a:solidFill>
                <a:effectLst/>
                <a:uFillTx/>
                <a:latin typeface="Cambria"/>
                <a:ea typeface="Cambria"/>
              </a:rPr>
              <a:t>individuals is it, </a:t>
            </a:r>
            <a:r>
              <a:rPr lang="en-US" sz="2000" b="0" i="1" u="none" strike="noStrike">
                <a:solidFill>
                  <a:srgbClr val="2C5F2D"/>
                </a:solidFill>
                <a:effectLst/>
                <a:uFillTx/>
                <a:latin typeface="Cambria"/>
                <a:ea typeface="Cambria"/>
              </a:rPr>
              <a:t>by ID?</a:t>
            </a:r>
            <a:endParaRPr lang="en-Z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3"/>
          <p:cNvSpPr/>
          <p:nvPr/>
        </p:nvSpPr>
        <p:spPr>
          <a:xfrm>
            <a:off x="548640" y="640080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Tshephang 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Matlala   ·  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Kamohelo 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Lebjane  ·  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Denzel 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Zimba</a:t>
            </a:r>
            <a:endParaRPr lang="en-Z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14"/>
          <p:cNvSpPr/>
          <p:nvPr/>
        </p:nvSpPr>
        <p:spPr>
          <a:xfrm>
            <a:off x="1069848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5B7F6B"/>
                </a:solidFill>
                <a:effectLst/>
                <a:uFillTx/>
                <a:latin typeface="Calibri"/>
              </a:rPr>
              <a:t>1 / 5</a:t>
            </a:r>
            <a:endParaRPr lang="en-ZA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"/>
          <p:cNvSpPr/>
          <p:nvPr/>
        </p:nvSpPr>
        <p:spPr>
          <a:xfrm>
            <a:off x="548640" y="36576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Data </a:t>
            </a:r>
            <a:r>
              <a:rPr lang="en-US" sz="38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and </a:t>
            </a:r>
            <a:r>
              <a:rPr lang="en-US" sz="38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processi</a:t>
            </a:r>
            <a:r>
              <a:rPr lang="en-US" sz="38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ng</a:t>
            </a:r>
            <a:endParaRPr lang="en-ZA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ource"/>
          <p:cNvSpPr/>
          <p:nvPr/>
        </p:nvSpPr>
        <p:spPr>
          <a:xfrm>
            <a:off x="54864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5B7F6B"/>
                </a:solidFill>
                <a:effectLst/>
                <a:uFillTx/>
                <a:latin typeface="Calibri"/>
              </a:rPr>
              <a:t>Source: WildlifeReID-10k </a:t>
            </a:r>
            <a:r>
              <a:rPr lang="en-US" sz="1100" b="0" u="none" strike="noStrike">
                <a:solidFill>
                  <a:srgbClr val="5B7F6B"/>
                </a:solidFill>
                <a:effectLst/>
                <a:uFillTx/>
                <a:latin typeface="Calibri"/>
              </a:rPr>
              <a:t>benchmark</a:t>
            </a:r>
            <a:endParaRPr lang="en-ZA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ageNo"/>
          <p:cNvSpPr/>
          <p:nvPr/>
        </p:nvSpPr>
        <p:spPr>
          <a:xfrm>
            <a:off x="1069848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5B7F6B"/>
                </a:solidFill>
                <a:effectLst/>
                <a:uFillTx/>
                <a:latin typeface="Calibri"/>
              </a:rPr>
              <a:t>2 / 5</a:t>
            </a:r>
            <a:endParaRPr lang="en-ZA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3"/>
          <p:cNvSpPr/>
          <p:nvPr/>
        </p:nvSpPr>
        <p:spPr>
          <a:xfrm>
            <a:off x="548640" y="1463040"/>
            <a:ext cx="2605680" cy="1325520"/>
          </a:xfrm>
          <a:prstGeom prst="roundRect">
            <a:avLst>
              <a:gd name="adj" fmla="val 8276"/>
            </a:avLst>
          </a:prstGeom>
          <a:solidFill>
            <a:srgbClr val="F2F5F1"/>
          </a:solidFill>
          <a:ln w="9525">
            <a:solidFill>
              <a:srgbClr val="DDE6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Z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4"/>
          <p:cNvSpPr/>
          <p:nvPr/>
        </p:nvSpPr>
        <p:spPr>
          <a:xfrm>
            <a:off x="548640" y="1554480"/>
            <a:ext cx="2605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2C5F2D"/>
                </a:solidFill>
                <a:effectLst/>
                <a:uFillTx/>
                <a:latin typeface="Cambria"/>
                <a:ea typeface="Cambria"/>
              </a:rPr>
              <a:t>140,488</a:t>
            </a:r>
            <a:endParaRPr lang="en-ZA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5"/>
          <p:cNvSpPr/>
          <p:nvPr/>
        </p:nvSpPr>
        <p:spPr>
          <a:xfrm>
            <a:off x="548640" y="2286000"/>
            <a:ext cx="2605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i</a:t>
            </a:r>
            <a:r>
              <a:rPr lang="en-US" sz="16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m</a:t>
            </a:r>
            <a:r>
              <a:rPr lang="en-US" sz="16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a</a:t>
            </a:r>
            <a:r>
              <a:rPr lang="en-US" sz="16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g</a:t>
            </a:r>
            <a:r>
              <a:rPr lang="en-US" sz="16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es</a:t>
            </a:r>
            <a:endParaRPr lang="en-Z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6"/>
          <p:cNvSpPr/>
          <p:nvPr/>
        </p:nvSpPr>
        <p:spPr>
          <a:xfrm>
            <a:off x="3337560" y="1463040"/>
            <a:ext cx="2605680" cy="1325520"/>
          </a:xfrm>
          <a:prstGeom prst="roundRect">
            <a:avLst>
              <a:gd name="adj" fmla="val 8276"/>
            </a:avLst>
          </a:prstGeom>
          <a:solidFill>
            <a:srgbClr val="F2F5F1"/>
          </a:solidFill>
          <a:ln w="9525">
            <a:solidFill>
              <a:srgbClr val="DDE6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Z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7"/>
          <p:cNvSpPr/>
          <p:nvPr/>
        </p:nvSpPr>
        <p:spPr>
          <a:xfrm>
            <a:off x="3337560" y="1554480"/>
            <a:ext cx="2605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2C5F2D"/>
                </a:solidFill>
                <a:effectLst/>
                <a:uFillTx/>
                <a:latin typeface="Cambria"/>
                <a:ea typeface="Cambria"/>
              </a:rPr>
              <a:t>1</a:t>
            </a:r>
            <a:r>
              <a:rPr lang="en-US" sz="4000" b="1" u="none" strike="noStrike">
                <a:solidFill>
                  <a:srgbClr val="2C5F2D"/>
                </a:solidFill>
                <a:effectLst/>
                <a:uFillTx/>
                <a:latin typeface="Cambria"/>
                <a:ea typeface="Cambria"/>
              </a:rPr>
              <a:t>0</a:t>
            </a:r>
            <a:r>
              <a:rPr lang="en-US" sz="4000" b="1" u="none" strike="noStrike">
                <a:solidFill>
                  <a:srgbClr val="2C5F2D"/>
                </a:solidFill>
                <a:effectLst/>
                <a:uFillTx/>
                <a:latin typeface="Cambria"/>
                <a:ea typeface="Cambria"/>
              </a:rPr>
              <a:t>,</a:t>
            </a:r>
            <a:r>
              <a:rPr lang="en-US" sz="4000" b="1" u="none" strike="noStrike">
                <a:solidFill>
                  <a:srgbClr val="2C5F2D"/>
                </a:solidFill>
                <a:effectLst/>
                <a:uFillTx/>
                <a:latin typeface="Cambria"/>
                <a:ea typeface="Cambria"/>
              </a:rPr>
              <a:t>7</a:t>
            </a:r>
            <a:r>
              <a:rPr lang="en-US" sz="4000" b="1" u="none" strike="noStrike">
                <a:solidFill>
                  <a:srgbClr val="2C5F2D"/>
                </a:solidFill>
                <a:effectLst/>
                <a:uFillTx/>
                <a:latin typeface="Cambria"/>
                <a:ea typeface="Cambria"/>
              </a:rPr>
              <a:t>7</a:t>
            </a:r>
            <a:r>
              <a:rPr lang="en-US" sz="4000" b="1" u="none" strike="noStrike">
                <a:solidFill>
                  <a:srgbClr val="2C5F2D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ZA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8"/>
          <p:cNvSpPr/>
          <p:nvPr/>
        </p:nvSpPr>
        <p:spPr>
          <a:xfrm>
            <a:off x="3337560" y="2286000"/>
            <a:ext cx="2605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individuals</a:t>
            </a:r>
            <a:endParaRPr lang="en-Z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9"/>
          <p:cNvSpPr/>
          <p:nvPr/>
        </p:nvSpPr>
        <p:spPr>
          <a:xfrm>
            <a:off x="6126480" y="1463040"/>
            <a:ext cx="2605680" cy="1325520"/>
          </a:xfrm>
          <a:prstGeom prst="roundRect">
            <a:avLst>
              <a:gd name="adj" fmla="val 8276"/>
            </a:avLst>
          </a:prstGeom>
          <a:solidFill>
            <a:srgbClr val="F2F5F1"/>
          </a:solidFill>
          <a:ln w="9525">
            <a:solidFill>
              <a:srgbClr val="DDE6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Z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0"/>
          <p:cNvSpPr/>
          <p:nvPr/>
        </p:nvSpPr>
        <p:spPr>
          <a:xfrm>
            <a:off x="6126480" y="1554480"/>
            <a:ext cx="2605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2C5F2D"/>
                </a:solidFill>
                <a:effectLst/>
                <a:uFillTx/>
                <a:latin typeface="Cambria"/>
                <a:ea typeface="Cambria"/>
              </a:rPr>
              <a:t>3</a:t>
            </a:r>
            <a:r>
              <a:rPr lang="en-US" sz="4000" b="1" u="none" strike="noStrike">
                <a:solidFill>
                  <a:srgbClr val="2C5F2D"/>
                </a:solidFill>
                <a:effectLst/>
                <a:uFillTx/>
                <a:latin typeface="Cambria"/>
                <a:ea typeface="Cambria"/>
              </a:rPr>
              <a:t>7</a:t>
            </a:r>
            <a:endParaRPr lang="en-ZA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1"/>
          <p:cNvSpPr/>
          <p:nvPr/>
        </p:nvSpPr>
        <p:spPr>
          <a:xfrm>
            <a:off x="6126480" y="2286000"/>
            <a:ext cx="2605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datasets</a:t>
            </a:r>
            <a:endParaRPr lang="en-Z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2"/>
          <p:cNvSpPr/>
          <p:nvPr/>
        </p:nvSpPr>
        <p:spPr>
          <a:xfrm>
            <a:off x="8915400" y="1463040"/>
            <a:ext cx="2605680" cy="1325520"/>
          </a:xfrm>
          <a:prstGeom prst="roundRect">
            <a:avLst>
              <a:gd name="adj" fmla="val 8276"/>
            </a:avLst>
          </a:prstGeom>
          <a:solidFill>
            <a:srgbClr val="F2F5F1"/>
          </a:solidFill>
          <a:ln w="9525">
            <a:solidFill>
              <a:srgbClr val="DDE6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Z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3"/>
          <p:cNvSpPr/>
          <p:nvPr/>
        </p:nvSpPr>
        <p:spPr>
          <a:xfrm>
            <a:off x="8915400" y="1554480"/>
            <a:ext cx="2605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2C5F2D"/>
                </a:solidFill>
                <a:effectLst/>
                <a:uFillTx/>
                <a:latin typeface="Cambria"/>
                <a:ea typeface="Cambria"/>
              </a:rPr>
              <a:t>~</a:t>
            </a:r>
            <a:r>
              <a:rPr lang="en-US" sz="4000" b="1" u="none" strike="noStrike">
                <a:solidFill>
                  <a:srgbClr val="2C5F2D"/>
                </a:solidFill>
                <a:effectLst/>
                <a:uFillTx/>
                <a:latin typeface="Cambria"/>
                <a:ea typeface="Cambria"/>
              </a:rPr>
              <a:t>3</a:t>
            </a:r>
            <a:r>
              <a:rPr lang="en-US" sz="4000" b="1" u="none" strike="noStrike">
                <a:solidFill>
                  <a:srgbClr val="2C5F2D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ZA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4"/>
          <p:cNvSpPr/>
          <p:nvPr/>
        </p:nvSpPr>
        <p:spPr>
          <a:xfrm>
            <a:off x="8915400" y="2286000"/>
            <a:ext cx="2605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species</a:t>
            </a:r>
            <a:endParaRPr lang="en-Z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5"/>
          <p:cNvSpPr/>
          <p:nvPr/>
        </p:nvSpPr>
        <p:spPr>
          <a:xfrm>
            <a:off x="548640" y="3154680"/>
            <a:ext cx="3565800" cy="29257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DE6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Z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6"/>
          <p:cNvSpPr/>
          <p:nvPr/>
        </p:nvSpPr>
        <p:spPr>
          <a:xfrm>
            <a:off x="777240" y="3291840"/>
            <a:ext cx="3108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4231C"/>
                </a:solidFill>
                <a:effectLst/>
                <a:uFillTx/>
                <a:latin typeface="Cambria"/>
                <a:ea typeface="Cambria"/>
              </a:rPr>
              <a:t>Splits without leakage</a:t>
            </a:r>
            <a:endParaRPr lang="en-Z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7"/>
          <p:cNvSpPr/>
          <p:nvPr/>
        </p:nvSpPr>
        <p:spPr>
          <a:xfrm>
            <a:off x="777240" y="3840480"/>
            <a:ext cx="31086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3B4A41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Validation is carved out of train</a:t>
            </a:r>
            <a:endParaRPr lang="en-ZA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3B4A41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10% of identities held out as “new” </a:t>
            </a:r>
            <a:r>
              <a:rPr lang="en-US" sz="15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animals</a:t>
            </a:r>
            <a:endParaRPr lang="en-ZA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3B4A41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Near-duplicate photo clusters move </a:t>
            </a:r>
            <a:r>
              <a:rPr lang="en-US" sz="15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together</a:t>
            </a:r>
            <a:endParaRPr lang="en-ZA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8"/>
          <p:cNvSpPr/>
          <p:nvPr/>
        </p:nvSpPr>
        <p:spPr>
          <a:xfrm>
            <a:off x="4297680" y="3154680"/>
            <a:ext cx="3565800" cy="29257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DE6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Z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9"/>
          <p:cNvSpPr/>
          <p:nvPr/>
        </p:nvSpPr>
        <p:spPr>
          <a:xfrm>
            <a:off x="4526280" y="3291840"/>
            <a:ext cx="3108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4231C"/>
                </a:solidFill>
                <a:effectLst/>
                <a:uFillTx/>
                <a:latin typeface="Cambria"/>
                <a:ea typeface="Cambria"/>
              </a:rPr>
              <a:t>Au</a:t>
            </a:r>
            <a:r>
              <a:rPr lang="en-US" sz="2000" b="1" u="none" strike="noStrike">
                <a:solidFill>
                  <a:srgbClr val="14231C"/>
                </a:solidFill>
                <a:effectLst/>
                <a:uFillTx/>
                <a:latin typeface="Cambria"/>
                <a:ea typeface="Cambria"/>
              </a:rPr>
              <a:t>gm</a:t>
            </a:r>
            <a:r>
              <a:rPr lang="en-US" sz="2000" b="1" u="none" strike="noStrike">
                <a:solidFill>
                  <a:srgbClr val="14231C"/>
                </a:solidFill>
                <a:effectLst/>
                <a:uFillTx/>
                <a:latin typeface="Cambria"/>
                <a:ea typeface="Cambria"/>
              </a:rPr>
              <a:t>en</a:t>
            </a:r>
            <a:r>
              <a:rPr lang="en-US" sz="2000" b="1" u="none" strike="noStrike">
                <a:solidFill>
                  <a:srgbClr val="14231C"/>
                </a:solidFill>
                <a:effectLst/>
                <a:uFillTx/>
                <a:latin typeface="Cambria"/>
                <a:ea typeface="Cambria"/>
              </a:rPr>
              <a:t>tat</a:t>
            </a:r>
            <a:r>
              <a:rPr lang="en-US" sz="2000" b="1" u="none" strike="noStrike">
                <a:solidFill>
                  <a:srgbClr val="14231C"/>
                </a:solidFill>
                <a:effectLst/>
                <a:uFillTx/>
                <a:latin typeface="Cambria"/>
                <a:ea typeface="Cambria"/>
              </a:rPr>
              <a:t>io</a:t>
            </a:r>
            <a:r>
              <a:rPr lang="en-US" sz="2000" b="1" u="none" strike="noStrike">
                <a:solidFill>
                  <a:srgbClr val="14231C"/>
                </a:solidFill>
                <a:effectLst/>
                <a:uFillTx/>
                <a:latin typeface="Cambria"/>
                <a:ea typeface="Cambria"/>
              </a:rPr>
              <a:t>n</a:t>
            </a:r>
            <a:endParaRPr lang="en-Z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0"/>
          <p:cNvSpPr/>
          <p:nvPr/>
        </p:nvSpPr>
        <p:spPr>
          <a:xfrm>
            <a:off x="4526280" y="3840480"/>
            <a:ext cx="31086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3B4A41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Mild crops, ±10° </a:t>
            </a:r>
            <a:r>
              <a:rPr lang="en-US" sz="15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rotation, small </a:t>
            </a:r>
            <a:r>
              <a:rPr lang="en-US" sz="15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hue jitter</a:t>
            </a:r>
            <a:endParaRPr lang="en-ZA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3B4A41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Blur and random </a:t>
            </a:r>
            <a:r>
              <a:rPr lang="en-US" sz="15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erasing for wild </a:t>
            </a:r>
            <a:r>
              <a:rPr lang="en-US" sz="15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conditions</a:t>
            </a:r>
            <a:endParaRPr lang="en-ZA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3B4A41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No horizontal </a:t>
            </a:r>
            <a:r>
              <a:rPr lang="en-US" sz="15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flips: mirroring </a:t>
            </a:r>
            <a:r>
              <a:rPr lang="en-US" sz="15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invents fake </a:t>
            </a:r>
            <a:r>
              <a:rPr lang="en-US" sz="15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identities</a:t>
            </a:r>
            <a:endParaRPr lang="en-ZA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1"/>
          <p:cNvSpPr/>
          <p:nvPr/>
        </p:nvSpPr>
        <p:spPr>
          <a:xfrm>
            <a:off x="8046720" y="3154680"/>
            <a:ext cx="3565800" cy="2925720"/>
          </a:xfrm>
          <a:prstGeom prst="roundRect">
            <a:avLst>
              <a:gd name="adj" fmla="val 3750"/>
            </a:avLst>
          </a:prstGeom>
          <a:solidFill>
            <a:srgbClr val="2C5F2D"/>
          </a:solidFill>
          <a:ln w="12700">
            <a:solidFill>
              <a:srgbClr val="2C5F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Z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2"/>
          <p:cNvSpPr/>
          <p:nvPr/>
        </p:nvSpPr>
        <p:spPr>
          <a:xfrm>
            <a:off x="8275320" y="3291840"/>
            <a:ext cx="3108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Compression</a:t>
            </a:r>
            <a:endParaRPr lang="en-Z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23"/>
          <p:cNvSpPr/>
          <p:nvPr/>
        </p:nvSpPr>
        <p:spPr>
          <a:xfrm>
            <a:off x="8275320" y="3840480"/>
            <a:ext cx="31086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h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h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n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n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,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n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n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n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y</a:t>
            </a:r>
            <a:endParaRPr lang="en-ZA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,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6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,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8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,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5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6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n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5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n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n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</a:t>
            </a:r>
            <a:endParaRPr lang="en-ZA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n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h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</a:t>
            </a:r>
            <a:endParaRPr lang="en-ZA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itle"/>
          <p:cNvSpPr/>
          <p:nvPr/>
        </p:nvSpPr>
        <p:spPr>
          <a:xfrm>
            <a:off x="548640" y="36576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Pipeline: three views, one score</a:t>
            </a:r>
            <a:endParaRPr lang="en-ZA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ageNo"/>
          <p:cNvSpPr/>
          <p:nvPr/>
        </p:nvSpPr>
        <p:spPr>
          <a:xfrm>
            <a:off x="1069848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5B7F6B"/>
                </a:solidFill>
                <a:effectLst/>
                <a:uFillTx/>
                <a:latin typeface="Calibri"/>
              </a:rPr>
              <a:t>3 / 5</a:t>
            </a:r>
            <a:endParaRPr lang="en-ZA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3"/>
          <p:cNvSpPr/>
          <p:nvPr/>
        </p:nvSpPr>
        <p:spPr>
          <a:xfrm>
            <a:off x="548640" y="1417320"/>
            <a:ext cx="2057040" cy="3245760"/>
          </a:xfrm>
          <a:prstGeom prst="roundRect">
            <a:avLst>
              <a:gd name="adj" fmla="val 5333"/>
            </a:avLst>
          </a:prstGeom>
          <a:solidFill>
            <a:srgbClr val="F2F5F1"/>
          </a:solidFill>
          <a:ln w="12700">
            <a:solidFill>
              <a:srgbClr val="DDE6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Z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4"/>
          <p:cNvSpPr/>
          <p:nvPr/>
        </p:nvSpPr>
        <p:spPr>
          <a:xfrm>
            <a:off x="685800" y="1554480"/>
            <a:ext cx="365400" cy="3654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Z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5"/>
          <p:cNvSpPr/>
          <p:nvPr/>
        </p:nvSpPr>
        <p:spPr>
          <a:xfrm>
            <a:off x="685800" y="155448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endParaRPr lang="en-Z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" name="Step image 1" descr="/tmp/claude-0/-home-claude/69af264c-e446-5a84-b6a0-945426285a6b/scratchpad/pp/query.png"/>
          <p:cNvPicPr/>
          <p:nvPr/>
        </p:nvPicPr>
        <p:blipFill>
          <a:blip r:embed="rId1"/>
          <a:stretch/>
        </p:blipFill>
        <p:spPr>
          <a:xfrm>
            <a:off x="640080" y="2267280"/>
            <a:ext cx="1874160" cy="1409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Text 6"/>
          <p:cNvSpPr/>
          <p:nvPr/>
        </p:nvSpPr>
        <p:spPr>
          <a:xfrm>
            <a:off x="685800" y="3977640"/>
            <a:ext cx="17827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4231C"/>
                </a:solidFill>
                <a:effectLst/>
                <a:uFillTx/>
                <a:latin typeface="Calibri"/>
              </a:rPr>
              <a:t>Query image</a:t>
            </a:r>
            <a:endParaRPr lang="en-Z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7"/>
          <p:cNvSpPr/>
          <p:nvPr/>
        </p:nvSpPr>
        <p:spPr>
          <a:xfrm>
            <a:off x="0" y="0"/>
            <a:ext cx="360" cy="360"/>
          </a:xfrm>
          <a:prstGeom prst="rtTriangl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Z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8"/>
          <p:cNvSpPr/>
          <p:nvPr/>
        </p:nvSpPr>
        <p:spPr>
          <a:xfrm>
            <a:off x="2788920" y="1417320"/>
            <a:ext cx="2057040" cy="3245760"/>
          </a:xfrm>
          <a:prstGeom prst="roundRect">
            <a:avLst>
              <a:gd name="adj" fmla="val 5333"/>
            </a:avLst>
          </a:prstGeom>
          <a:solidFill>
            <a:srgbClr val="F2F5F1"/>
          </a:solidFill>
          <a:ln w="12700">
            <a:solidFill>
              <a:srgbClr val="DDE6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Z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9"/>
          <p:cNvSpPr/>
          <p:nvPr/>
        </p:nvSpPr>
        <p:spPr>
          <a:xfrm>
            <a:off x="2926080" y="1554480"/>
            <a:ext cx="365400" cy="3654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Z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0"/>
          <p:cNvSpPr/>
          <p:nvPr/>
        </p:nvSpPr>
        <p:spPr>
          <a:xfrm>
            <a:off x="2926080" y="155448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endParaRPr lang="en-Z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" name="Step image 2" descr="/tmp/claude-0/-home-claude/69af264c-e446-5a84-b6a0-945426285a6b/scratchpad/pp/embed.png"/>
          <p:cNvPicPr/>
          <p:nvPr/>
        </p:nvPicPr>
        <p:blipFill>
          <a:blip r:embed="rId2"/>
          <a:stretch/>
        </p:blipFill>
        <p:spPr>
          <a:xfrm>
            <a:off x="2880360" y="2301840"/>
            <a:ext cx="1874160" cy="13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Text 11"/>
          <p:cNvSpPr/>
          <p:nvPr/>
        </p:nvSpPr>
        <p:spPr>
          <a:xfrm>
            <a:off x="2926080" y="3977640"/>
            <a:ext cx="17827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4231C"/>
                </a:solidFill>
                <a:effectLst/>
                <a:uFillTx/>
                <a:latin typeface="Calibri"/>
              </a:rPr>
              <a:t>Embed: global + EVA02</a:t>
            </a:r>
            <a:endParaRPr lang="en-Z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12"/>
          <p:cNvSpPr/>
          <p:nvPr/>
        </p:nvSpPr>
        <p:spPr>
          <a:xfrm>
            <a:off x="0" y="0"/>
            <a:ext cx="360" cy="360"/>
          </a:xfrm>
          <a:prstGeom prst="rtTriangl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Z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13"/>
          <p:cNvSpPr/>
          <p:nvPr/>
        </p:nvSpPr>
        <p:spPr>
          <a:xfrm>
            <a:off x="5029200" y="1417320"/>
            <a:ext cx="2057040" cy="3245760"/>
          </a:xfrm>
          <a:prstGeom prst="roundRect">
            <a:avLst>
              <a:gd name="adj" fmla="val 5333"/>
            </a:avLst>
          </a:prstGeom>
          <a:solidFill>
            <a:srgbClr val="F2F5F1"/>
          </a:solidFill>
          <a:ln w="12700">
            <a:solidFill>
              <a:srgbClr val="DDE6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Z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14"/>
          <p:cNvSpPr/>
          <p:nvPr/>
        </p:nvSpPr>
        <p:spPr>
          <a:xfrm>
            <a:off x="5166360" y="1554480"/>
            <a:ext cx="365400" cy="3654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Z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5"/>
          <p:cNvSpPr/>
          <p:nvPr/>
        </p:nvSpPr>
        <p:spPr>
          <a:xfrm>
            <a:off x="5166360" y="155448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</a:t>
            </a:r>
            <a:endParaRPr lang="en-Z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" name="Step image 3" descr="/tmp/claude-0/-home-claude/69af264c-e446-5a84-b6a0-945426285a6b/scratchpad/pp/nearest.png"/>
          <p:cNvPicPr/>
          <p:nvPr/>
        </p:nvPicPr>
        <p:blipFill>
          <a:blip r:embed="rId3"/>
          <a:stretch/>
        </p:blipFill>
        <p:spPr>
          <a:xfrm>
            <a:off x="5372280" y="2085840"/>
            <a:ext cx="1371240" cy="177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Text 16"/>
          <p:cNvSpPr/>
          <p:nvPr/>
        </p:nvSpPr>
        <p:spPr>
          <a:xfrm>
            <a:off x="5166360" y="3977640"/>
            <a:ext cx="17827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4231C"/>
                </a:solidFill>
                <a:effectLst/>
                <a:uFillTx/>
                <a:latin typeface="Calibri"/>
              </a:rPr>
              <a:t>Shortlist top-K by cosine</a:t>
            </a:r>
            <a:endParaRPr lang="en-Z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17"/>
          <p:cNvSpPr/>
          <p:nvPr/>
        </p:nvSpPr>
        <p:spPr>
          <a:xfrm>
            <a:off x="0" y="0"/>
            <a:ext cx="360" cy="360"/>
          </a:xfrm>
          <a:prstGeom prst="rtTriangl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Z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18"/>
          <p:cNvSpPr/>
          <p:nvPr/>
        </p:nvSpPr>
        <p:spPr>
          <a:xfrm>
            <a:off x="7269480" y="1417320"/>
            <a:ext cx="2057040" cy="3245760"/>
          </a:xfrm>
          <a:prstGeom prst="roundRect">
            <a:avLst>
              <a:gd name="adj" fmla="val 5333"/>
            </a:avLst>
          </a:prstGeom>
          <a:solidFill>
            <a:srgbClr val="F2F5F1"/>
          </a:solidFill>
          <a:ln w="12700">
            <a:solidFill>
              <a:srgbClr val="DDE6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Z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9"/>
          <p:cNvSpPr/>
          <p:nvPr/>
        </p:nvSpPr>
        <p:spPr>
          <a:xfrm>
            <a:off x="7406640" y="1554480"/>
            <a:ext cx="365400" cy="3654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Z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20"/>
          <p:cNvSpPr/>
          <p:nvPr/>
        </p:nvSpPr>
        <p:spPr>
          <a:xfrm>
            <a:off x="7406640" y="155448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</a:t>
            </a:r>
            <a:endParaRPr lang="en-Z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21"/>
          <p:cNvSpPr/>
          <p:nvPr/>
        </p:nvSpPr>
        <p:spPr>
          <a:xfrm>
            <a:off x="7406640" y="2148840"/>
            <a:ext cx="178272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Spots, stripes and scars matched keypoint by keypoint</a:t>
            </a:r>
            <a:endParaRPr lang="en-Z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22"/>
          <p:cNvSpPr/>
          <p:nvPr/>
        </p:nvSpPr>
        <p:spPr>
          <a:xfrm>
            <a:off x="7406640" y="3977640"/>
            <a:ext cx="17827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4231C"/>
                </a:solidFill>
                <a:effectLst/>
                <a:uFillTx/>
                <a:latin typeface="Calibri"/>
              </a:rPr>
              <a:t>ALIKED + LightGlue on best 20</a:t>
            </a:r>
            <a:endParaRPr lang="en-Z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23"/>
          <p:cNvSpPr/>
          <p:nvPr/>
        </p:nvSpPr>
        <p:spPr>
          <a:xfrm>
            <a:off x="0" y="0"/>
            <a:ext cx="360" cy="360"/>
          </a:xfrm>
          <a:prstGeom prst="rtTriangl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Z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24"/>
          <p:cNvSpPr/>
          <p:nvPr/>
        </p:nvSpPr>
        <p:spPr>
          <a:xfrm>
            <a:off x="9509760" y="1417320"/>
            <a:ext cx="2057040" cy="3245760"/>
          </a:xfrm>
          <a:prstGeom prst="roundRect">
            <a:avLst>
              <a:gd name="adj" fmla="val 5333"/>
            </a:avLst>
          </a:prstGeom>
          <a:solidFill>
            <a:srgbClr val="FBF1DC"/>
          </a:solidFill>
          <a:ln w="12700">
            <a:solidFill>
              <a:srgbClr val="C98A1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Z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25"/>
          <p:cNvSpPr/>
          <p:nvPr/>
        </p:nvSpPr>
        <p:spPr>
          <a:xfrm>
            <a:off x="9646920" y="1554480"/>
            <a:ext cx="365400" cy="365400"/>
          </a:xfrm>
          <a:prstGeom prst="ellipse">
            <a:avLst/>
          </a:prstGeom>
          <a:solidFill>
            <a:srgbClr val="C98A1B"/>
          </a:solidFill>
          <a:ln w="12700">
            <a:solidFill>
              <a:srgbClr val="C98A1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Z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26"/>
          <p:cNvSpPr/>
          <p:nvPr/>
        </p:nvSpPr>
        <p:spPr>
          <a:xfrm>
            <a:off x="9646920" y="155448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5</a:t>
            </a:r>
            <a:endParaRPr lang="en-Z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7"/>
          <p:cNvSpPr/>
          <p:nvPr/>
        </p:nvSpPr>
        <p:spPr>
          <a:xfrm>
            <a:off x="9646920" y="2148840"/>
            <a:ext cx="178272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S = 0.4·Sg + 0.3·Sc + 0.3·Sl</a:t>
            </a:r>
            <a:endParaRPr lang="en-Z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28"/>
          <p:cNvSpPr/>
          <p:nvPr/>
        </p:nvSpPr>
        <p:spPr>
          <a:xfrm>
            <a:off x="9646920" y="3977640"/>
            <a:ext cx="17827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4231C"/>
                </a:solidFill>
                <a:effectLst/>
                <a:uFillTx/>
                <a:latin typeface="Calibri"/>
              </a:rPr>
              <a:t>Calibrate, fuse, re-rank</a:t>
            </a:r>
            <a:endParaRPr lang="en-Z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9"/>
          <p:cNvSpPr/>
          <p:nvPr/>
        </p:nvSpPr>
        <p:spPr>
          <a:xfrm>
            <a:off x="2606040" y="2743200"/>
            <a:ext cx="18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98A1B"/>
                </a:solidFill>
                <a:effectLst/>
                <a:uFillTx/>
                <a:latin typeface="Calibri"/>
              </a:rPr>
              <a:t>▶</a:t>
            </a:r>
            <a:endParaRPr lang="en-ZA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30"/>
          <p:cNvSpPr/>
          <p:nvPr/>
        </p:nvSpPr>
        <p:spPr>
          <a:xfrm>
            <a:off x="4846320" y="2743200"/>
            <a:ext cx="18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98A1B"/>
                </a:solidFill>
                <a:effectLst/>
                <a:uFillTx/>
                <a:latin typeface="Calibri"/>
              </a:rPr>
              <a:t>▶</a:t>
            </a:r>
            <a:endParaRPr lang="en-ZA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31"/>
          <p:cNvSpPr/>
          <p:nvPr/>
        </p:nvSpPr>
        <p:spPr>
          <a:xfrm>
            <a:off x="7086600" y="2743200"/>
            <a:ext cx="18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98A1B"/>
                </a:solidFill>
                <a:effectLst/>
                <a:uFillTx/>
                <a:latin typeface="Calibri"/>
              </a:rPr>
              <a:t>▶</a:t>
            </a:r>
            <a:endParaRPr lang="en-ZA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32"/>
          <p:cNvSpPr/>
          <p:nvPr/>
        </p:nvSpPr>
        <p:spPr>
          <a:xfrm>
            <a:off x="9326880" y="2743200"/>
            <a:ext cx="18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98A1B"/>
                </a:solidFill>
                <a:effectLst/>
                <a:uFillTx/>
                <a:latin typeface="Calibri"/>
              </a:rPr>
              <a:t>▶</a:t>
            </a:r>
            <a:endParaRPr lang="en-ZA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33"/>
          <p:cNvSpPr/>
          <p:nvPr/>
        </p:nvSpPr>
        <p:spPr>
          <a:xfrm>
            <a:off x="548640" y="4892040"/>
            <a:ext cx="3565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C5F2D"/>
                </a:solidFill>
                <a:effectLst/>
                <a:uFillTx/>
                <a:latin typeface="Calibri"/>
              </a:rPr>
              <a:t>Global  </a:t>
            </a:r>
            <a:r>
              <a:rPr lang="en-US" sz="14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MegaDescriptor or MiewID: the overall look</a:t>
            </a:r>
            <a:endParaRPr lang="en-Z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34"/>
          <p:cNvSpPr/>
          <p:nvPr/>
        </p:nvSpPr>
        <p:spPr>
          <a:xfrm>
            <a:off x="4297680" y="4892040"/>
            <a:ext cx="3565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C5F2D"/>
                </a:solidFill>
                <a:effectLst/>
                <a:uFillTx/>
                <a:latin typeface="Calibri"/>
              </a:rPr>
              <a:t>Complementary  </a:t>
            </a:r>
            <a:r>
              <a:rPr lang="en-US" sz="14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EVA02: generic features, a second opinion</a:t>
            </a:r>
            <a:endParaRPr lang="en-Z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35"/>
          <p:cNvSpPr/>
          <p:nvPr/>
        </p:nvSpPr>
        <p:spPr>
          <a:xfrm>
            <a:off x="8046720" y="4892040"/>
            <a:ext cx="3565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C5F2D"/>
                </a:solidFill>
                <a:effectLst/>
                <a:uFillTx/>
                <a:latin typeface="Calibri"/>
              </a:rPr>
              <a:t>Local  </a:t>
            </a:r>
            <a:r>
              <a:rPr lang="en-US" sz="14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ALIKED: tiny patterns the others miss</a:t>
            </a:r>
            <a:endParaRPr lang="en-Z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36"/>
          <p:cNvSpPr/>
          <p:nvPr/>
        </p:nvSpPr>
        <p:spPr>
          <a:xfrm>
            <a:off x="548640" y="5757840"/>
            <a:ext cx="11063880" cy="639720"/>
          </a:xfrm>
          <a:prstGeom prst="rect">
            <a:avLst/>
          </a:prstGeom>
          <a:solidFill>
            <a:srgbClr val="FBF1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tIns="1440" rIns="1440" bIns="144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14231C"/>
                </a:solidFill>
                <a:effectLst/>
                <a:uFillTx/>
                <a:latin typeface="Calibri"/>
              </a:rPr>
              <a:t>Scores live on different scales, so each is </a:t>
            </a:r>
            <a:r>
              <a:rPr lang="en-US" sz="1600" b="1" u="none" strike="noStrike">
                <a:solidFill>
                  <a:srgbClr val="14231C"/>
                </a:solidFill>
                <a:effectLst/>
                <a:uFillTx/>
                <a:latin typeface="Calibri"/>
              </a:rPr>
              <a:t>calibrated</a:t>
            </a:r>
            <a:r>
              <a:rPr lang="en-US" sz="1600" b="0" u="none" strike="noStrike">
                <a:solidFill>
                  <a:srgbClr val="14231C"/>
                </a:solidFill>
                <a:effectLst/>
                <a:uFillTx/>
                <a:latin typeface="Calibri"/>
              </a:rPr>
              <a:t> to P(same animal) and then fused. If the best fused score ≥ τ, we return that identity; otherwise, NEW.</a:t>
            </a:r>
            <a:endParaRPr lang="en-Z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itle"/>
          <p:cNvSpPr/>
          <p:nvPr/>
        </p:nvSpPr>
        <p:spPr>
          <a:xfrm>
            <a:off x="548640" y="36576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Results</a:t>
            </a:r>
            <a:endParaRPr lang="en-ZA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ageNo"/>
          <p:cNvSpPr/>
          <p:nvPr/>
        </p:nvSpPr>
        <p:spPr>
          <a:xfrm>
            <a:off x="1069848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5B7F6B"/>
                </a:solidFill>
                <a:effectLst/>
                <a:uFillTx/>
                <a:latin typeface="Calibri"/>
              </a:rPr>
              <a:t>4 / 5</a:t>
            </a:r>
            <a:endParaRPr lang="en-ZA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2" name="Table 0"/>
          <p:cNvGraphicFramePr/>
          <p:nvPr/>
        </p:nvGraphicFramePr>
        <p:xfrm>
          <a:off x="548640" y="1463040"/>
          <a:ext cx="6949080" cy="3401280"/>
        </p:xfrm>
        <a:graphic>
          <a:graphicData uri="http://schemas.openxmlformats.org/drawingml/2006/table">
            <a:tbl>
              <a:tblPr/>
              <a:tblGrid>
                <a:gridCol w="2103120"/>
                <a:gridCol w="1463040"/>
                <a:gridCol w="1188720"/>
                <a:gridCol w="1005840"/>
                <a:gridCol w="1188720"/>
              </a:tblGrid>
              <a:tr h="566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Method</a:t>
                      </a:r>
                      <a:endParaRPr lang="en-ZA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Closed BAKS</a:t>
                      </a:r>
                      <a:endParaRPr lang="en-ZA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Open score</a:t>
                      </a:r>
                      <a:endParaRPr lang="en-ZA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BAUS</a:t>
                      </a:r>
                      <a:endParaRPr lang="en-ZA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mAP@K</a:t>
                      </a:r>
                      <a:endParaRPr lang="en-ZA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2C5F2D"/>
                    </a:solidFill>
                  </a:tcPr>
                </a:tc>
              </a:tr>
              <a:tr h="566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DINOv2 baseline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[__]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[__]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[__]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[__]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Global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2F5F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[__]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2F5F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[__]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2F5F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[__]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2F5F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[__]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2F5F1"/>
                    </a:solidFill>
                  </a:tcPr>
                </a:tc>
              </a:tr>
              <a:tr h="566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Global + EVA02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[__]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[__]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[__]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[__]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Global + ALIKED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2F5F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[__]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2F5F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[__]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2F5F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[__]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2F5F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[__]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2F5F1"/>
                    </a:solidFill>
                  </a:tcPr>
                </a:tc>
              </a:tr>
              <a:tr h="566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All three, fused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BF1D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[__]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BF1D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[__]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BF1D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[__]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BF1D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[__]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BF1DC"/>
                    </a:solidFill>
                  </a:tcPr>
                </a:tc>
              </a:tr>
            </a:tbl>
          </a:graphicData>
        </a:graphic>
      </p:graphicFrame>
      <p:sp>
        <p:nvSpPr>
          <p:cNvPr id="93" name="Text 3"/>
          <p:cNvSpPr/>
          <p:nvPr/>
        </p:nvSpPr>
        <p:spPr>
          <a:xfrm>
            <a:off x="548640" y="5173200"/>
            <a:ext cx="69490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16000" indent="-216000" defTabSz="914400">
              <a:lnSpc>
                <a:spcPct val="100000"/>
              </a:lnSpc>
              <a:buClr>
                <a:srgbClr val="3B4A41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1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Metrics:</a:t>
            </a:r>
            <a:endParaRPr lang="en-Z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B4A41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300" b="1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BAKS</a:t>
            </a:r>
            <a:r>
              <a:rPr lang="en-US" sz="13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: balanced accuracy on known animals. </a:t>
            </a:r>
            <a:endParaRPr lang="en-Z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B4A41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300" b="1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BAUS</a:t>
            </a:r>
            <a:r>
              <a:rPr lang="en-US" sz="13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: unknown animals correctly called “new”. </a:t>
            </a:r>
            <a:endParaRPr lang="en-Z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B4A41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300" b="1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Open score</a:t>
            </a:r>
            <a:r>
              <a:rPr lang="en-US" sz="13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 = (BAKS + BAUS) / 2.</a:t>
            </a:r>
            <a:endParaRPr lang="en-Z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4"/>
          <p:cNvSpPr/>
          <p:nvPr/>
        </p:nvSpPr>
        <p:spPr>
          <a:xfrm>
            <a:off x="7863840" y="1463040"/>
            <a:ext cx="3748680" cy="21027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8FA698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Z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5"/>
          <p:cNvSpPr/>
          <p:nvPr/>
        </p:nvSpPr>
        <p:spPr>
          <a:xfrm>
            <a:off x="8046720" y="2103120"/>
            <a:ext cx="3382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4231C"/>
                </a:solidFill>
                <a:effectLst/>
                <a:uFillTx/>
                <a:latin typeface="Calibri"/>
              </a:rPr>
              <a:t>Plot: BAKS and BAUS vs τ</a:t>
            </a:r>
            <a:endParaRPr lang="en-Z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7"/>
          <p:cNvSpPr/>
          <p:nvPr/>
        </p:nvSpPr>
        <p:spPr>
          <a:xfrm>
            <a:off x="7863840" y="3749040"/>
            <a:ext cx="3748680" cy="21027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8FA698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Z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8"/>
          <p:cNvSpPr/>
          <p:nvPr/>
        </p:nvSpPr>
        <p:spPr>
          <a:xfrm>
            <a:off x="8046720" y="4389120"/>
            <a:ext cx="3382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4231C"/>
                </a:solidFill>
                <a:effectLst/>
                <a:uFillTx/>
                <a:latin typeface="Calibri"/>
              </a:rPr>
              <a:t>Plot: PCA dimension sweep</a:t>
            </a:r>
            <a:endParaRPr lang="en-Z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9"/>
          <p:cNvSpPr/>
          <p:nvPr/>
        </p:nvSpPr>
        <p:spPr>
          <a:xfrm>
            <a:off x="8046720" y="484632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32 to 512 dimensions vs uncompressed</a:t>
            </a:r>
            <a:endParaRPr lang="en-Z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itle"/>
          <p:cNvSpPr/>
          <p:nvPr/>
        </p:nvSpPr>
        <p:spPr>
          <a:xfrm>
            <a:off x="548640" y="36576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Conclusion and ablation</a:t>
            </a:r>
            <a:endParaRPr lang="en-ZA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ageNo"/>
          <p:cNvSpPr/>
          <p:nvPr/>
        </p:nvSpPr>
        <p:spPr>
          <a:xfrm>
            <a:off x="1069848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5B7F6B"/>
                </a:solidFill>
                <a:effectLst/>
                <a:uFillTx/>
                <a:latin typeface="Calibri"/>
              </a:rPr>
              <a:t>5 / 5</a:t>
            </a:r>
            <a:endParaRPr lang="en-ZA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3"/>
          <p:cNvSpPr/>
          <p:nvPr/>
        </p:nvSpPr>
        <p:spPr>
          <a:xfrm>
            <a:off x="548640" y="1463040"/>
            <a:ext cx="44802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2C5F2D"/>
                </a:solidFill>
                <a:effectLst/>
                <a:uFillTx/>
                <a:latin typeface="Cambria"/>
                <a:ea typeface="Cambria"/>
              </a:rPr>
              <a:t>Different evidence fails in different ways, so we fuse it.</a:t>
            </a:r>
            <a:endParaRPr lang="en-ZA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4"/>
          <p:cNvSpPr/>
          <p:nvPr/>
        </p:nvSpPr>
        <p:spPr>
          <a:xfrm>
            <a:off x="548640" y="3017520"/>
            <a:ext cx="448020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3B4A41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Calibration makes unlike scores comparable</a:t>
            </a:r>
            <a:endParaRPr lang="en-Z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3B4A41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Local matching runs only on a shortlist, so it stays affordable</a:t>
            </a:r>
            <a:endParaRPr lang="en-Z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3B4A41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3B4A41"/>
                </a:solidFill>
                <a:effectLst/>
                <a:uFillTx/>
                <a:latin typeface="Calibri"/>
              </a:rPr>
              <a:t>One threshold τ separates known from new animals</a:t>
            </a:r>
            <a:endParaRPr lang="en-Z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3" name="Table 0"/>
          <p:cNvGraphicFramePr/>
          <p:nvPr/>
        </p:nvGraphicFramePr>
        <p:xfrm>
          <a:off x="5486400" y="1463040"/>
          <a:ext cx="6126120" cy="3968280"/>
        </p:xfrm>
        <a:graphic>
          <a:graphicData uri="http://schemas.openxmlformats.org/drawingml/2006/table">
            <a:tbl>
              <a:tblPr/>
              <a:tblGrid>
                <a:gridCol w="2194560"/>
                <a:gridCol w="3931920"/>
              </a:tblGrid>
              <a:tr h="566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Configuration</a:t>
                      </a:r>
                      <a:endParaRPr lang="en-ZA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What it tells us</a:t>
                      </a:r>
                      <a:endParaRPr lang="en-ZA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2C5F2D"/>
                    </a:solidFill>
                  </a:tcPr>
                </a:tc>
              </a:tr>
              <a:tr h="566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Global alone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Strength of the main embedding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EVA02 alone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2F5F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Value of generic features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2F5F1"/>
                    </a:solidFill>
                  </a:tcPr>
                </a:tc>
              </a:tr>
              <a:tr h="566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ALIKED alone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Value of local patterns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Global + EVA02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2F5F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Gain from a second embedding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2F5F1"/>
                    </a:solidFill>
                  </a:tcPr>
                </a:tc>
              </a:tr>
              <a:tr h="566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Global + ALIKED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Gain from local matching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All three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BF1D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14231C"/>
                          </a:solidFill>
                          <a:effectLst/>
                          <a:uFillTx/>
                          <a:latin typeface="Calibri"/>
                        </a:rPr>
                        <a:t>Does full fusion win?</a:t>
                      </a:r>
                      <a:endParaRPr lang="en-Z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DDE6DF"/>
                      </a:solidFill>
                      <a:prstDash val="solid"/>
                    </a:lnL>
                    <a:lnR w="12240">
                      <a:solidFill>
                        <a:srgbClr val="DDE6DF"/>
                      </a:solidFill>
                      <a:prstDash val="solid"/>
                    </a:lnR>
                    <a:lnT w="12240">
                      <a:solidFill>
                        <a:srgbClr val="DDE6DF"/>
                      </a:solidFill>
                      <a:prstDash val="solid"/>
                    </a:lnT>
                    <a:lnB w="12240">
                      <a:solidFill>
                        <a:srgbClr val="DDE6DF"/>
                      </a:solidFill>
                      <a:prstDash val="solid"/>
                    </a:lnB>
                    <a:solidFill>
                      <a:srgbClr val="FBF1DC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WildlifeReID">
  <a:themeElements>
    <a:clrScheme name="WildlifeReID">
      <a:dk1>
        <a:srgbClr val="14231C"/>
      </a:dk1>
      <a:lt1>
        <a:srgbClr val="FFFFFF"/>
      </a:lt1>
      <a:dk2>
        <a:srgbClr val="2C5F2D"/>
      </a:dk2>
      <a:lt2>
        <a:srgbClr val="F2F5F1"/>
      </a:lt2>
      <a:accent1>
        <a:srgbClr val="2C5F2D"/>
      </a:accent1>
      <a:accent2>
        <a:srgbClr val="C98A1B"/>
      </a:accent2>
      <a:accent3>
        <a:srgbClr val="5B7F6B"/>
      </a:accent3>
      <a:accent4>
        <a:srgbClr val="8FA698"/>
      </a:accent4>
      <a:accent5>
        <a:srgbClr val="E8EFE9"/>
      </a:accent5>
      <a:accent6>
        <a:srgbClr val="FBF1DC"/>
      </a:accent6>
      <a:hlink>
        <a:srgbClr val="2C5F2D"/>
      </a:hlink>
      <a:folHlink>
        <a:srgbClr val="5B7F6B"/>
      </a:folHlink>
    </a:clrScheme>
    <a:fontScheme name="WildlifeReID">
      <a:majorFont>
        <a:latin typeface="Cambria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</TotalTime>
  <Application>LibreOffice/26.2.6.1$Linux_X86_64 LibreOffice_project/620$Build-1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2026-10-18T16:19:03Z</dcterms:created>
  <dc:creator>PptxGenJS</dc:creator>
  <dc:description/>
  <dc:language>en-ZA</dc:language>
  <cp:lastModifiedBy/>
  <dcterms:modified xsi:type="dcterms:W3CDTF">2026-10-18T19:11:44Z</dcterms:modified>
  <cp:revision>2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5</vt:i4>
  </property>
  <property fmtid="{D5CDD505-2E9C-101B-9397-08002B2CF9AE}" pid="3" name="PresentationFormat">
    <vt:lpwstr>On-screen Show (16:9)</vt:lpwstr>
  </property>
  <property fmtid="{D5CDD505-2E9C-101B-9397-08002B2CF9AE}" pid="4" name="Slides">
    <vt:i4>5</vt:i4>
  </property>
</Properties>
</file>