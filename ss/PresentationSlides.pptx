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ZA"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ZA"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ZA"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ZA" sz="1400" b="0" u="none" strike="noStrike">
                <a:solidFill>
                  <a:srgbClr val="000000"/>
                </a:solidFill>
                <a:effectLst/>
                <a:uFillTx/>
                <a:latin typeface="Times New Roman"/>
              </a:defRPr>
            </a:lvl1pPr>
          </a:lstStyle>
          <a:p>
            <a:pPr indent="0" algn="r">
              <a:buNone/>
            </a:pPr>
            <a:r>
              <a:rPr lang="en-ZA"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ZA" sz="1400" b="0" u="none" strike="noStrike">
                <a:solidFill>
                  <a:srgbClr val="000000"/>
                </a:solidFill>
                <a:effectLst/>
                <a:uFillTx/>
                <a:latin typeface="Times New Roman"/>
              </a:defRPr>
            </a:lvl1pPr>
          </a:lstStyle>
          <a:p>
            <a:pPr indent="0" algn="l">
              <a:buNone/>
            </a:pPr>
            <a:r>
              <a:rPr lang="en-ZA"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ZA" sz="1400" b="0" u="none" strike="noStrike">
                <a:solidFill>
                  <a:srgbClr val="000000"/>
                </a:solidFill>
                <a:effectLst/>
                <a:uFillTx/>
                <a:latin typeface="Times New Roman"/>
              </a:defRPr>
            </a:lvl1pPr>
          </a:lstStyle>
          <a:p>
            <a:pPr indent="0" algn="r">
              <a:buNone/>
            </a:pPr>
            <a:fld id="{78D37412-30A2-4F82-962D-DDAF5DCD321D}" type="slidenum">
              <a:rPr lang="en-ZA" sz="1400" b="0" u="none" strike="noStrike">
                <a:solidFill>
                  <a:srgbClr val="000000"/>
                </a:solidFill>
                <a:effectLst/>
                <a:uFillTx/>
                <a:latin typeface="Times New Roman"/>
              </a:rPr>
              <a:t>‹#›</a:t>
            </a:fld>
            <a:endParaRPr lang="en-ZA"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noRot="1" noChangeAspect="1"/>
          </p:cNvSpPr>
          <p:nvPr>
            <p:ph type="sldImg"/>
          </p:nvPr>
        </p:nvSpPr>
        <p:spPr>
          <a:xfrm>
            <a:off x="685800" y="1143000"/>
            <a:ext cx="5485680" cy="3085560"/>
          </a:xfrm>
          <a:prstGeom prst="rect">
            <a:avLst/>
          </a:prstGeom>
          <a:ln w="0">
            <a:noFill/>
          </a:ln>
        </p:spPr>
      </p:sp>
      <p:sp>
        <p:nvSpPr>
          <p:cNvPr id="1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~1.5 min. Re-ID is not species classification: we ask which individual animal this is, among animals we have already seen. Closed set: the animal is guaranteed to be in the gallery, so the best match is the answer. Open set: it may be new, so we add a threshold tau; if the best score is below tau we answer 'new individual'. Our question: does fusing global, complementary and local evidence beat any single representation on WildlifeReID-10k? (Photos on this slide are from the example figure in your notes; swap in your own dataset images if you prefer.)</a:t>
            </a:r>
            <a:endParaRPr lang="en-ZA" sz="2000" b="0" u="none" strike="noStrike">
              <a:solidFill>
                <a:srgbClr val="000000"/>
              </a:solidFill>
              <a:effectLst/>
              <a:uFillTx/>
              <a:latin typeface="Arial"/>
            </a:endParaRPr>
          </a:p>
        </p:txBody>
      </p:sp>
      <p:sp>
        <p:nvSpPr>
          <p:cNvPr id="109"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FE3DE98-D1D3-42C5-8BC7-5F6BF0265F92}" type="slidenum">
              <a:rPr lang="en-US" sz="1200" b="0" u="none" strike="noStrike">
                <a:solidFill>
                  <a:schemeClr val="dk1"/>
                </a:solidFill>
                <a:effectLst/>
                <a:uFillTx/>
                <a:latin typeface="+mn-lt"/>
                <a:ea typeface="+mn-ea"/>
              </a:rPr>
              <a:t>1</a:t>
            </a:fld>
            <a:endParaRPr lang="en-ZA"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noRot="1" noChangeAspect="1"/>
          </p:cNvSpPr>
          <p:nvPr>
            <p:ph type="sldImg"/>
          </p:nvPr>
        </p:nvSpPr>
        <p:spPr>
          <a:xfrm>
            <a:off x="685800" y="1143000"/>
            <a:ext cx="5485680" cy="3085560"/>
          </a:xfrm>
          <a:prstGeom prst="rect">
            <a:avLst/>
          </a:prstGeom>
          <a:ln w="0">
            <a:noFill/>
          </a:ln>
        </p:spPr>
      </p:sp>
      <p:sp>
        <p:nvSpPr>
          <p:cNvPr id="1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~2 min. The benchmark has 140k images of about 10.8k individuals across 37 datasets. There is no validation split, so we carve one out of train: whole identities are held out to mimic new animals, and whole clusters of near-identical photos are held out together, otherwise validation is too easy (leakage). Test is run once at the end. Augmentation is mild because identity cues must survive; no horizontal flips because mirrored patterns create fake identities. Compression: PCA fitted on training data only, then sweep dimensions and watch BAKS and BAUS. (Dataset counts come from your earlier draft decks; please verify.)</a:t>
            </a:r>
            <a:endParaRPr lang="en-ZA" sz="2000" b="0" u="none" strike="noStrike">
              <a:solidFill>
                <a:srgbClr val="000000"/>
              </a:solidFill>
              <a:effectLst/>
              <a:uFillTx/>
              <a:latin typeface="Arial"/>
            </a:endParaRPr>
          </a:p>
        </p:txBody>
      </p:sp>
      <p:sp>
        <p:nvSpPr>
          <p:cNvPr id="112"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1C814D-E0FF-4BD5-BA05-E5C650948D1B}" type="slidenum">
              <a:rPr lang="en-US" sz="1200" b="0" u="none" strike="noStrike">
                <a:solidFill>
                  <a:schemeClr val="dk1"/>
                </a:solidFill>
                <a:effectLst/>
                <a:uFillTx/>
                <a:latin typeface="+mn-lt"/>
                <a:ea typeface="+mn-ea"/>
              </a:rPr>
              <a:t>2</a:t>
            </a:fld>
            <a:endParaRPr lang="en-ZA"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noRot="1" noChangeAspect="1"/>
          </p:cNvSpPr>
          <p:nvPr>
            <p:ph type="sldImg"/>
          </p:nvPr>
        </p:nvSpPr>
        <p:spPr>
          <a:xfrm>
            <a:off x="685800" y="1143000"/>
            <a:ext cx="5485680" cy="3085560"/>
          </a:xfrm>
          <a:prstGeom prst="rect">
            <a:avLst/>
          </a:prstGeom>
          <a:ln w="0">
            <a:noFill/>
          </a:ln>
        </p:spPr>
      </p:sp>
      <p:sp>
        <p:nvSpPr>
          <p:cNvPr id="1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~3 min. Walk left to right. Every image becomes an embedding from the global model and from EVA02. Cosine similarity over the whole gallery gives a shortlist of K candidates. ALIKED with LightGlue works on pairs, not vectors, so it cannot be indexed: it only runs on the best 20. Why it matters: global captures overall look, EVA02 is a general second opinion, local matching catches tiny patterns. Raw scores are on different scales (cosines roughly 0.2-0.9, EVA02 squeezed near 0.8-0.95, ALIKED an inlier count up to 1000), so we calibrate each with isotonic regression into a probability of same animal, combine with a weighted sum (start 0.4/0.3/0.3, tuned on validation), re-rank, then apply tau. Images on steps 1-3 are from the example figure in your notes (a bear face re-ID illustration); replace with your own dataset crops if you want.</a:t>
            </a:r>
            <a:endParaRPr lang="en-ZA" sz="2000" b="0" u="none" strike="noStrike">
              <a:solidFill>
                <a:srgbClr val="000000"/>
              </a:solidFill>
              <a:effectLst/>
              <a:uFillTx/>
              <a:latin typeface="Arial"/>
            </a:endParaRPr>
          </a:p>
        </p:txBody>
      </p:sp>
      <p:sp>
        <p:nvSpPr>
          <p:cNvPr id="115"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BDDBCB-496C-45AB-A8ED-DB2B6C14F7E4}" type="slidenum">
              <a:rPr lang="en-US" sz="1200" b="0" u="none" strike="noStrike">
                <a:solidFill>
                  <a:schemeClr val="dk1"/>
                </a:solidFill>
                <a:effectLst/>
                <a:uFillTx/>
                <a:latin typeface="+mn-lt"/>
                <a:ea typeface="+mn-ea"/>
              </a:rPr>
              <a:t>3</a:t>
            </a:fld>
            <a:endParaRPr lang="en-ZA"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noRot="1" noChangeAspect="1"/>
          </p:cNvSpPr>
          <p:nvPr>
            <p:ph type="sldImg"/>
          </p:nvPr>
        </p:nvSpPr>
        <p:spPr>
          <a:xfrm>
            <a:off x="685800" y="1143000"/>
            <a:ext cx="5486400" cy="3086100"/>
          </a:xfrm>
          <a:prstGeom prst="rect">
            <a:avLst/>
          </a:prstGeom>
          <a:ln w="0">
            <a:noFill/>
          </a:ln>
        </p:spPr>
      </p:sp>
      <p:sp>
        <p:nvSpPr>
          <p:cNvPr id="1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pPr>
            <a:r>
              <a:rPr lang="en-ZA" sz="2000" b="0" u="none" strike="noStrike">
                <a:solidFill>
                  <a:srgbClr val="000000"/>
                </a:solidFill>
                <a:effectLst/>
                <a:uFillTx/>
                <a:latin typeface="Arial"/>
              </a:rPr>
              <a:t>~2.5 min. Tables: first four rows are the full test split; rows marked * use a 200-query validation subset (the only run that includes the local branch), so treat them as preliminary. Talking points: Fine-tuned MegaDescriptor carries the system (closed BAKS 81.1, open score 73.3). EVA02 and DINOv2 alone are near the 50% of rejecting every query. Adding EVA02 changes test scores by under 0.1 points. On the subset, adding ALIKED raised open score 79.0 to 81.3 (BAUS 91.1 to 94.3) with closed BAKS unchanged; 113 known queries so one query is 0.9 pt. PCA: 256-d costs 0.7 BAKS, 512-d matches, 128/64/32 lose 3.1/6.6/10.2. Paste the tau plot, PCA plot and your extra result into the dashed boxes. Tau is chosen on validation and frozen for test.</a:t>
            </a:r>
          </a:p>
        </p:txBody>
      </p:sp>
      <p:sp>
        <p:nvSpPr>
          <p:cNvPr id="118"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DED1740-A7F8-4B53-B863-82056A7192B2}" type="slidenum">
              <a:rPr lang="en-US" sz="1200" b="0" u="none" strike="noStrike">
                <a:solidFill>
                  <a:schemeClr val="dk1"/>
                </a:solidFill>
                <a:effectLst/>
                <a:uFillTx/>
                <a:latin typeface="+mn-lt"/>
                <a:ea typeface="+mn-ea"/>
              </a:rPr>
              <a:t>4</a:t>
            </a:fld>
            <a:endParaRPr lang="en-ZA"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noRot="1" noChangeAspect="1"/>
          </p:cNvSpPr>
          <p:nvPr>
            <p:ph type="sldImg"/>
          </p:nvPr>
        </p:nvSpPr>
        <p:spPr>
          <a:xfrm>
            <a:off x="685800" y="1143000"/>
            <a:ext cx="5486400" cy="3086100"/>
          </a:xfrm>
          <a:prstGeom prst="rect">
            <a:avLst/>
          </a:prstGeom>
          <a:ln w="0">
            <a:noFill/>
          </a:ln>
        </p:spPr>
      </p:sp>
      <p:sp>
        <p:nvSpPr>
          <p:cNvPr id="1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~2 min, then ~2.5 min live demo (streamlit run src/ui/app.py). Ablation = switch branches off to see what each adds: each alone, each pair, then all three. If full fusion beats every single branch and pair, the evidence is complementary: that is why we fuse. State your finding in one sentence once numbers are in. Limitation: fusion cannot recover an animal the cosine shortlist missed, so shortlist recall bounds it. Demo: pick a test image, show the top identities, move tau and show an image flip to NEW.</a:t>
            </a:r>
            <a:endParaRPr lang="en-ZA" sz="2000" b="0" u="none" strike="noStrike">
              <a:solidFill>
                <a:srgbClr val="000000"/>
              </a:solidFill>
              <a:effectLst/>
              <a:uFillTx/>
              <a:latin typeface="Arial"/>
            </a:endParaRPr>
          </a:p>
        </p:txBody>
      </p:sp>
      <p:sp>
        <p:nvSpPr>
          <p:cNvPr id="121"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87F3F72-0BE8-4908-BF18-89734465DEC9}" type="slidenum">
              <a:rPr lang="en-US" sz="1200" b="0" u="none" strike="noStrike">
                <a:solidFill>
                  <a:schemeClr val="dk1"/>
                </a:solidFill>
                <a:effectLst/>
                <a:uFillTx/>
                <a:latin typeface="+mn-lt"/>
                <a:ea typeface="+mn-ea"/>
              </a:rPr>
              <a:t>5</a:t>
            </a:fld>
            <a:endParaRPr lang="en-ZA"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ZA" sz="1800" b="0" u="none" strike="noStrike">
                <a:solidFill>
                  <a:schemeClr val="dk1"/>
                </a:solidFill>
                <a:effectLst/>
                <a:uFillTx/>
                <a:latin typeface="Calibri"/>
              </a:defRPr>
            </a:lvl1pPr>
          </a:lstStyle>
          <a:p>
            <a:pPr indent="0" algn="l">
              <a:buNone/>
              <a:tabLst>
                <a:tab pos="0" algn="l"/>
              </a:tabLst>
            </a:pPr>
            <a:r>
              <a:rPr lang="en-ZA"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ZA"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ZA"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ZA"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ZA"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ZA"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ZA"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ZA"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ZA"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ZA"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ZA"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 0"/>
          <p:cNvSpPr/>
          <p:nvPr/>
        </p:nvSpPr>
        <p:spPr>
          <a:xfrm>
            <a:off x="548640" y="640080"/>
            <a:ext cx="6400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300">
                <a:solidFill>
                  <a:srgbClr val="C98A1B"/>
                </a:solidFill>
                <a:effectLst/>
                <a:uFillTx/>
                <a:latin typeface="Calibri"/>
              </a:rPr>
              <a:t>GROUP MLM  ·  WILDLIFEREID-10K</a:t>
            </a:r>
            <a:endParaRPr lang="en-ZA" sz="1400" b="0" u="none" strike="noStrike">
              <a:solidFill>
                <a:srgbClr val="000000"/>
              </a:solidFill>
              <a:effectLst/>
              <a:uFillTx/>
              <a:latin typeface="Arial"/>
            </a:endParaRPr>
          </a:p>
        </p:txBody>
      </p:sp>
      <p:sp>
        <p:nvSpPr>
          <p:cNvPr id="11" name="Title"/>
          <p:cNvSpPr/>
          <p:nvPr/>
        </p:nvSpPr>
        <p:spPr>
          <a:xfrm>
            <a:off x="548640" y="1097280"/>
            <a:ext cx="6308640" cy="210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4000" b="1" u="none" strike="noStrike">
                <a:solidFill>
                  <a:schemeClr val="dk1"/>
                </a:solidFill>
                <a:effectLst/>
                <a:uFillTx/>
                <a:latin typeface="Cambria"/>
                <a:ea typeface="Cambria"/>
              </a:rPr>
              <a:t>Calibrated Multi-Scale Similarity Fusion for Wildlife Re-ID</a:t>
            </a:r>
            <a:endParaRPr lang="en-ZA" sz="4000" b="0" u="none" strike="noStrike">
              <a:solidFill>
                <a:srgbClr val="000000"/>
              </a:solidFill>
              <a:effectLst/>
              <a:uFillTx/>
              <a:latin typeface="Arial"/>
            </a:endParaRPr>
          </a:p>
        </p:txBody>
      </p:sp>
      <p:sp>
        <p:nvSpPr>
          <p:cNvPr id="12" name="Text 2"/>
          <p:cNvSpPr/>
          <p:nvPr/>
        </p:nvSpPr>
        <p:spPr>
          <a:xfrm>
            <a:off x="548640" y="3337560"/>
            <a:ext cx="603432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800" b="0" u="none" strike="noStrike">
                <a:solidFill>
                  <a:srgbClr val="3B4A41"/>
                </a:solidFill>
                <a:effectLst/>
                <a:uFillTx/>
                <a:latin typeface="Calibri"/>
              </a:rPr>
              <a:t>Can combining a global, a general and a local view of an animal identify individuals more reliably than any single one?</a:t>
            </a:r>
            <a:endParaRPr lang="en-ZA" sz="1800" b="0" u="none" strike="noStrike">
              <a:solidFill>
                <a:srgbClr val="000000"/>
              </a:solidFill>
              <a:effectLst/>
              <a:uFillTx/>
              <a:latin typeface="Arial"/>
            </a:endParaRPr>
          </a:p>
        </p:txBody>
      </p:sp>
      <p:sp>
        <p:nvSpPr>
          <p:cNvPr id="13" name="Shape 3"/>
          <p:cNvSpPr/>
          <p:nvPr/>
        </p:nvSpPr>
        <p:spPr>
          <a:xfrm>
            <a:off x="548640" y="4663440"/>
            <a:ext cx="2010960" cy="1233720"/>
          </a:xfrm>
          <a:prstGeom prst="roundRect">
            <a:avLst>
              <a:gd name="adj" fmla="val 8889"/>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14" name="Text 4"/>
          <p:cNvSpPr/>
          <p:nvPr/>
        </p:nvSpPr>
        <p:spPr>
          <a:xfrm>
            <a:off x="685800" y="4754880"/>
            <a:ext cx="17823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2C5F2D"/>
                </a:solidFill>
                <a:effectLst/>
                <a:uFillTx/>
                <a:latin typeface="Calibri"/>
              </a:rPr>
              <a:t>CLASSIFICATION</a:t>
            </a:r>
            <a:endParaRPr lang="en-ZA" sz="1100" b="0" u="none" strike="noStrike">
              <a:solidFill>
                <a:srgbClr val="000000"/>
              </a:solidFill>
              <a:effectLst/>
              <a:uFillTx/>
              <a:latin typeface="Arial"/>
            </a:endParaRPr>
          </a:p>
        </p:txBody>
      </p:sp>
      <p:sp>
        <p:nvSpPr>
          <p:cNvPr id="15" name="Text 5"/>
          <p:cNvSpPr/>
          <p:nvPr/>
        </p:nvSpPr>
        <p:spPr>
          <a:xfrm>
            <a:off x="685800" y="5074920"/>
            <a:ext cx="178236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chemeClr val="dk1"/>
                </a:solidFill>
                <a:effectLst/>
                <a:uFillTx/>
                <a:latin typeface="Calibri"/>
              </a:rPr>
              <a:t>What species is this?</a:t>
            </a:r>
            <a:endParaRPr lang="en-ZA" sz="1500" b="0" u="none" strike="noStrike">
              <a:solidFill>
                <a:srgbClr val="000000"/>
              </a:solidFill>
              <a:effectLst/>
              <a:uFillTx/>
              <a:latin typeface="Arial"/>
            </a:endParaRPr>
          </a:p>
        </p:txBody>
      </p:sp>
      <p:sp>
        <p:nvSpPr>
          <p:cNvPr id="16" name="Shape 6"/>
          <p:cNvSpPr/>
          <p:nvPr/>
        </p:nvSpPr>
        <p:spPr>
          <a:xfrm>
            <a:off x="2697480" y="4663440"/>
            <a:ext cx="2010960" cy="1233720"/>
          </a:xfrm>
          <a:prstGeom prst="roundRect">
            <a:avLst>
              <a:gd name="adj" fmla="val 8889"/>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17" name="Text 7"/>
          <p:cNvSpPr/>
          <p:nvPr/>
        </p:nvSpPr>
        <p:spPr>
          <a:xfrm>
            <a:off x="2834640" y="4754880"/>
            <a:ext cx="17823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2C5F2D"/>
                </a:solidFill>
                <a:effectLst/>
                <a:uFillTx/>
                <a:latin typeface="Calibri"/>
              </a:rPr>
              <a:t>RE-ID, CLOSED SET</a:t>
            </a:r>
            <a:endParaRPr lang="en-ZA" sz="1100" b="0" u="none" strike="noStrike">
              <a:solidFill>
                <a:srgbClr val="000000"/>
              </a:solidFill>
              <a:effectLst/>
              <a:uFillTx/>
              <a:latin typeface="Arial"/>
            </a:endParaRPr>
          </a:p>
        </p:txBody>
      </p:sp>
      <p:sp>
        <p:nvSpPr>
          <p:cNvPr id="18" name="Text 8"/>
          <p:cNvSpPr/>
          <p:nvPr/>
        </p:nvSpPr>
        <p:spPr>
          <a:xfrm>
            <a:off x="2834640" y="5074920"/>
            <a:ext cx="178236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chemeClr val="dk1"/>
                </a:solidFill>
                <a:effectLst/>
                <a:uFillTx/>
                <a:latin typeface="Calibri"/>
              </a:rPr>
              <a:t>Which known individual is this?</a:t>
            </a:r>
            <a:endParaRPr lang="en-ZA" sz="1500" b="0" u="none" strike="noStrike">
              <a:solidFill>
                <a:srgbClr val="000000"/>
              </a:solidFill>
              <a:effectLst/>
              <a:uFillTx/>
              <a:latin typeface="Arial"/>
            </a:endParaRPr>
          </a:p>
        </p:txBody>
      </p:sp>
      <p:sp>
        <p:nvSpPr>
          <p:cNvPr id="19" name="Shape 9"/>
          <p:cNvSpPr/>
          <p:nvPr/>
        </p:nvSpPr>
        <p:spPr>
          <a:xfrm>
            <a:off x="4846320" y="4663440"/>
            <a:ext cx="2010960" cy="1233720"/>
          </a:xfrm>
          <a:prstGeom prst="roundRect">
            <a:avLst>
              <a:gd name="adj" fmla="val 8889"/>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20" name="Text 10"/>
          <p:cNvSpPr/>
          <p:nvPr/>
        </p:nvSpPr>
        <p:spPr>
          <a:xfrm>
            <a:off x="4983480" y="4754880"/>
            <a:ext cx="17823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2C5F2D"/>
                </a:solidFill>
                <a:effectLst/>
                <a:uFillTx/>
                <a:latin typeface="Calibri"/>
              </a:rPr>
              <a:t>RE-ID, OPEN SET</a:t>
            </a:r>
            <a:endParaRPr lang="en-ZA" sz="1100" b="0" u="none" strike="noStrike">
              <a:solidFill>
                <a:srgbClr val="000000"/>
              </a:solidFill>
              <a:effectLst/>
              <a:uFillTx/>
              <a:latin typeface="Arial"/>
            </a:endParaRPr>
          </a:p>
        </p:txBody>
      </p:sp>
      <p:sp>
        <p:nvSpPr>
          <p:cNvPr id="21" name="Text 11"/>
          <p:cNvSpPr/>
          <p:nvPr/>
        </p:nvSpPr>
        <p:spPr>
          <a:xfrm>
            <a:off x="4983480" y="5074920"/>
            <a:ext cx="178236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chemeClr val="dk1"/>
                </a:solidFill>
                <a:effectLst/>
                <a:uFillTx/>
                <a:latin typeface="Calibri"/>
              </a:rPr>
              <a:t>Or is it a new animal?</a:t>
            </a:r>
            <a:endParaRPr lang="en-ZA" sz="1500" b="0" u="none" strike="noStrike">
              <a:solidFill>
                <a:srgbClr val="000000"/>
              </a:solidFill>
              <a:effectLst/>
              <a:uFillTx/>
              <a:latin typeface="Arial"/>
            </a:endParaRPr>
          </a:p>
        </p:txBody>
      </p:sp>
      <p:pic>
        <p:nvPicPr>
          <p:cNvPr id="22" name="Query photo" descr="/tmp/claude-0/-home-claude/69af264c-e446-5a84-b6a0-945426285a6b/scratchpad/pp/query.png"/>
          <p:cNvPicPr/>
          <p:nvPr/>
        </p:nvPicPr>
        <p:blipFill>
          <a:blip r:embed="rId3"/>
          <a:stretch/>
        </p:blipFill>
        <p:spPr>
          <a:xfrm>
            <a:off x="7223760" y="731520"/>
            <a:ext cx="4388400" cy="3299400"/>
          </a:xfrm>
          <a:prstGeom prst="rect">
            <a:avLst/>
          </a:prstGeom>
          <a:noFill/>
          <a:ln w="0">
            <a:noFill/>
          </a:ln>
        </p:spPr>
      </p:pic>
      <p:pic>
        <p:nvPicPr>
          <p:cNvPr id="23" name="Gallery" descr="/tmp/claude-0/-home-claude/69af264c-e446-5a84-b6a0-945426285a6b/scratchpad/pp/nearest.png"/>
          <p:cNvPicPr/>
          <p:nvPr/>
        </p:nvPicPr>
        <p:blipFill>
          <a:blip r:embed="rId4"/>
          <a:stretch/>
        </p:blipFill>
        <p:spPr>
          <a:xfrm>
            <a:off x="7223760" y="4160520"/>
            <a:ext cx="1416600" cy="1830240"/>
          </a:xfrm>
          <a:prstGeom prst="rect">
            <a:avLst/>
          </a:prstGeom>
          <a:noFill/>
          <a:ln w="0">
            <a:noFill/>
          </a:ln>
        </p:spPr>
      </p:pic>
      <p:sp>
        <p:nvSpPr>
          <p:cNvPr id="24" name="Text 12"/>
          <p:cNvSpPr/>
          <p:nvPr/>
        </p:nvSpPr>
        <p:spPr>
          <a:xfrm>
            <a:off x="8823960" y="4480560"/>
            <a:ext cx="28339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0" i="1" u="none" strike="noStrike">
                <a:solidFill>
                  <a:srgbClr val="2C5F2D"/>
                </a:solidFill>
                <a:effectLst/>
                <a:uFillTx/>
                <a:latin typeface="Cambria"/>
                <a:ea typeface="Cambria"/>
              </a:rPr>
              <a:t>Which of these individuals is it, by ID?</a:t>
            </a:r>
            <a:endParaRPr lang="en-ZA" sz="2000" b="0" u="none" strike="noStrike">
              <a:solidFill>
                <a:srgbClr val="000000"/>
              </a:solidFill>
              <a:effectLst/>
              <a:uFillTx/>
              <a:latin typeface="Arial"/>
            </a:endParaRPr>
          </a:p>
        </p:txBody>
      </p:sp>
      <p:sp>
        <p:nvSpPr>
          <p:cNvPr id="25" name="Text 13"/>
          <p:cNvSpPr/>
          <p:nvPr/>
        </p:nvSpPr>
        <p:spPr>
          <a:xfrm>
            <a:off x="548640" y="6400800"/>
            <a:ext cx="91432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000000"/>
                </a:solidFill>
                <a:effectLst/>
                <a:uFillTx/>
                <a:latin typeface="Calibri"/>
              </a:rPr>
              <a:t>Tshephang Matlala   ·  Kamohelo Lebjane  ·  Denzel Zimba</a:t>
            </a:r>
            <a:endParaRPr lang="en-ZA" sz="1600" b="0" u="none" strike="noStrike">
              <a:solidFill>
                <a:srgbClr val="000000"/>
              </a:solidFill>
              <a:effectLst/>
              <a:uFillTx/>
              <a:latin typeface="Arial"/>
            </a:endParaRPr>
          </a:p>
        </p:txBody>
      </p:sp>
      <p:sp>
        <p:nvSpPr>
          <p:cNvPr id="26" name="Text 14"/>
          <p:cNvSpPr/>
          <p:nvPr/>
        </p:nvSpPr>
        <p:spPr>
          <a:xfrm>
            <a:off x="10698480" y="6400800"/>
            <a:ext cx="913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5B7F6B"/>
                </a:solidFill>
                <a:effectLst/>
                <a:uFillTx/>
                <a:latin typeface="Calibri"/>
              </a:rPr>
              <a:t>1 / 5</a:t>
            </a:r>
            <a:endParaRPr lang="en-ZA" sz="11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itle"/>
          <p:cNvSpPr/>
          <p:nvPr/>
        </p:nvSpPr>
        <p:spPr>
          <a:xfrm>
            <a:off x="548640" y="365760"/>
            <a:ext cx="1106352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u="none" strike="noStrike">
                <a:solidFill>
                  <a:schemeClr val="dk1"/>
                </a:solidFill>
                <a:effectLst/>
                <a:uFillTx/>
                <a:latin typeface="Cambria"/>
                <a:ea typeface="Cambria"/>
              </a:rPr>
              <a:t>Data and processing</a:t>
            </a:r>
            <a:endParaRPr lang="en-ZA" sz="3800" b="0" u="none" strike="noStrike">
              <a:solidFill>
                <a:srgbClr val="000000"/>
              </a:solidFill>
              <a:effectLst/>
              <a:uFillTx/>
              <a:latin typeface="Arial"/>
            </a:endParaRPr>
          </a:p>
        </p:txBody>
      </p:sp>
      <p:sp>
        <p:nvSpPr>
          <p:cNvPr id="28" name="Source"/>
          <p:cNvSpPr/>
          <p:nvPr/>
        </p:nvSpPr>
        <p:spPr>
          <a:xfrm>
            <a:off x="548640" y="6400800"/>
            <a:ext cx="82288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5B7F6B"/>
                </a:solidFill>
                <a:effectLst/>
                <a:uFillTx/>
                <a:latin typeface="Calibri"/>
              </a:rPr>
              <a:t>Source: WildlifeReID-10k benchmark</a:t>
            </a:r>
            <a:endParaRPr lang="en-ZA" sz="1100" b="0" u="none" strike="noStrike">
              <a:solidFill>
                <a:srgbClr val="000000"/>
              </a:solidFill>
              <a:effectLst/>
              <a:uFillTx/>
              <a:latin typeface="Arial"/>
            </a:endParaRPr>
          </a:p>
        </p:txBody>
      </p:sp>
      <p:sp>
        <p:nvSpPr>
          <p:cNvPr id="29" name="PageNo"/>
          <p:cNvSpPr/>
          <p:nvPr/>
        </p:nvSpPr>
        <p:spPr>
          <a:xfrm>
            <a:off x="10698480" y="6400800"/>
            <a:ext cx="913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5B7F6B"/>
                </a:solidFill>
                <a:effectLst/>
                <a:uFillTx/>
                <a:latin typeface="Calibri"/>
              </a:rPr>
              <a:t>2 / 5</a:t>
            </a:r>
            <a:endParaRPr lang="en-ZA" sz="1100" b="0" u="none" strike="noStrike">
              <a:solidFill>
                <a:srgbClr val="000000"/>
              </a:solidFill>
              <a:effectLst/>
              <a:uFillTx/>
              <a:latin typeface="Arial"/>
            </a:endParaRPr>
          </a:p>
        </p:txBody>
      </p:sp>
      <p:sp>
        <p:nvSpPr>
          <p:cNvPr id="30" name="Shape 3"/>
          <p:cNvSpPr/>
          <p:nvPr/>
        </p:nvSpPr>
        <p:spPr>
          <a:xfrm>
            <a:off x="548640" y="1463040"/>
            <a:ext cx="2605320" cy="1325160"/>
          </a:xfrm>
          <a:prstGeom prst="roundRect">
            <a:avLst>
              <a:gd name="adj" fmla="val 8276"/>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31" name="Text 4"/>
          <p:cNvSpPr/>
          <p:nvPr/>
        </p:nvSpPr>
        <p:spPr>
          <a:xfrm>
            <a:off x="548640" y="1554480"/>
            <a:ext cx="26053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2C5F2D"/>
                </a:solidFill>
                <a:effectLst/>
                <a:uFillTx/>
                <a:latin typeface="Cambria"/>
                <a:ea typeface="Cambria"/>
              </a:rPr>
              <a:t>140,488</a:t>
            </a:r>
            <a:endParaRPr lang="en-ZA" sz="4000" b="0" u="none" strike="noStrike">
              <a:solidFill>
                <a:srgbClr val="000000"/>
              </a:solidFill>
              <a:effectLst/>
              <a:uFillTx/>
              <a:latin typeface="Arial"/>
            </a:endParaRPr>
          </a:p>
        </p:txBody>
      </p:sp>
      <p:sp>
        <p:nvSpPr>
          <p:cNvPr id="32" name="Text 5"/>
          <p:cNvSpPr/>
          <p:nvPr/>
        </p:nvSpPr>
        <p:spPr>
          <a:xfrm>
            <a:off x="548640" y="2286000"/>
            <a:ext cx="26053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3B4A41"/>
                </a:solidFill>
                <a:effectLst/>
                <a:uFillTx/>
                <a:latin typeface="Calibri"/>
              </a:rPr>
              <a:t>images</a:t>
            </a:r>
            <a:endParaRPr lang="en-ZA" sz="1600" b="0" u="none" strike="noStrike">
              <a:solidFill>
                <a:srgbClr val="000000"/>
              </a:solidFill>
              <a:effectLst/>
              <a:uFillTx/>
              <a:latin typeface="Arial"/>
            </a:endParaRPr>
          </a:p>
        </p:txBody>
      </p:sp>
      <p:sp>
        <p:nvSpPr>
          <p:cNvPr id="33" name="Shape 6"/>
          <p:cNvSpPr/>
          <p:nvPr/>
        </p:nvSpPr>
        <p:spPr>
          <a:xfrm>
            <a:off x="3337560" y="1463040"/>
            <a:ext cx="2605320" cy="1325160"/>
          </a:xfrm>
          <a:prstGeom prst="roundRect">
            <a:avLst>
              <a:gd name="adj" fmla="val 8276"/>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34" name="Text 7"/>
          <p:cNvSpPr/>
          <p:nvPr/>
        </p:nvSpPr>
        <p:spPr>
          <a:xfrm>
            <a:off x="3337560" y="1554480"/>
            <a:ext cx="26053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2C5F2D"/>
                </a:solidFill>
                <a:effectLst/>
                <a:uFillTx/>
                <a:latin typeface="Cambria"/>
                <a:ea typeface="Cambria"/>
              </a:rPr>
              <a:t>10,772</a:t>
            </a:r>
            <a:endParaRPr lang="en-ZA" sz="4000" b="0" u="none" strike="noStrike">
              <a:solidFill>
                <a:srgbClr val="000000"/>
              </a:solidFill>
              <a:effectLst/>
              <a:uFillTx/>
              <a:latin typeface="Arial"/>
            </a:endParaRPr>
          </a:p>
        </p:txBody>
      </p:sp>
      <p:sp>
        <p:nvSpPr>
          <p:cNvPr id="35" name="Text 8"/>
          <p:cNvSpPr/>
          <p:nvPr/>
        </p:nvSpPr>
        <p:spPr>
          <a:xfrm>
            <a:off x="3337560" y="2286000"/>
            <a:ext cx="26053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3B4A41"/>
                </a:solidFill>
                <a:effectLst/>
                <a:uFillTx/>
                <a:latin typeface="Calibri"/>
              </a:rPr>
              <a:t>individuals</a:t>
            </a:r>
            <a:endParaRPr lang="en-ZA" sz="1600" b="0" u="none" strike="noStrike">
              <a:solidFill>
                <a:srgbClr val="000000"/>
              </a:solidFill>
              <a:effectLst/>
              <a:uFillTx/>
              <a:latin typeface="Arial"/>
            </a:endParaRPr>
          </a:p>
        </p:txBody>
      </p:sp>
      <p:sp>
        <p:nvSpPr>
          <p:cNvPr id="36" name="Shape 9"/>
          <p:cNvSpPr/>
          <p:nvPr/>
        </p:nvSpPr>
        <p:spPr>
          <a:xfrm>
            <a:off x="6126480" y="1463040"/>
            <a:ext cx="2605320" cy="1325160"/>
          </a:xfrm>
          <a:prstGeom prst="roundRect">
            <a:avLst>
              <a:gd name="adj" fmla="val 8276"/>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37" name="Text 10"/>
          <p:cNvSpPr/>
          <p:nvPr/>
        </p:nvSpPr>
        <p:spPr>
          <a:xfrm>
            <a:off x="6126480" y="1554480"/>
            <a:ext cx="26053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2C5F2D"/>
                </a:solidFill>
                <a:effectLst/>
                <a:uFillTx/>
                <a:latin typeface="Cambria"/>
                <a:ea typeface="Cambria"/>
              </a:rPr>
              <a:t>37</a:t>
            </a:r>
            <a:endParaRPr lang="en-ZA" sz="4000" b="0" u="none" strike="noStrike">
              <a:solidFill>
                <a:srgbClr val="000000"/>
              </a:solidFill>
              <a:effectLst/>
              <a:uFillTx/>
              <a:latin typeface="Arial"/>
            </a:endParaRPr>
          </a:p>
        </p:txBody>
      </p:sp>
      <p:sp>
        <p:nvSpPr>
          <p:cNvPr id="38" name="Text 11"/>
          <p:cNvSpPr/>
          <p:nvPr/>
        </p:nvSpPr>
        <p:spPr>
          <a:xfrm>
            <a:off x="6126480" y="2286000"/>
            <a:ext cx="26053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3B4A41"/>
                </a:solidFill>
                <a:effectLst/>
                <a:uFillTx/>
                <a:latin typeface="Calibri"/>
              </a:rPr>
              <a:t>datasets</a:t>
            </a:r>
            <a:endParaRPr lang="en-ZA" sz="1600" b="0" u="none" strike="noStrike">
              <a:solidFill>
                <a:srgbClr val="000000"/>
              </a:solidFill>
              <a:effectLst/>
              <a:uFillTx/>
              <a:latin typeface="Arial"/>
            </a:endParaRPr>
          </a:p>
        </p:txBody>
      </p:sp>
      <p:sp>
        <p:nvSpPr>
          <p:cNvPr id="39" name="Shape 12"/>
          <p:cNvSpPr/>
          <p:nvPr/>
        </p:nvSpPr>
        <p:spPr>
          <a:xfrm>
            <a:off x="8915400" y="1463040"/>
            <a:ext cx="2605320" cy="1325160"/>
          </a:xfrm>
          <a:prstGeom prst="roundRect">
            <a:avLst>
              <a:gd name="adj" fmla="val 8276"/>
            </a:avLst>
          </a:prstGeom>
          <a:solidFill>
            <a:srgbClr val="F2F5F1"/>
          </a:solidFill>
          <a:ln w="9525">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40" name="Text 13"/>
          <p:cNvSpPr/>
          <p:nvPr/>
        </p:nvSpPr>
        <p:spPr>
          <a:xfrm>
            <a:off x="8915400" y="1554480"/>
            <a:ext cx="26053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000" b="1" u="none" strike="noStrike">
                <a:solidFill>
                  <a:srgbClr val="2C5F2D"/>
                </a:solidFill>
                <a:effectLst/>
                <a:uFillTx/>
                <a:latin typeface="Cambria"/>
                <a:ea typeface="Cambria"/>
              </a:rPr>
              <a:t>~33</a:t>
            </a:r>
            <a:endParaRPr lang="en-ZA" sz="4000" b="0" u="none" strike="noStrike">
              <a:solidFill>
                <a:srgbClr val="000000"/>
              </a:solidFill>
              <a:effectLst/>
              <a:uFillTx/>
              <a:latin typeface="Arial"/>
            </a:endParaRPr>
          </a:p>
        </p:txBody>
      </p:sp>
      <p:sp>
        <p:nvSpPr>
          <p:cNvPr id="41" name="Text 14"/>
          <p:cNvSpPr/>
          <p:nvPr/>
        </p:nvSpPr>
        <p:spPr>
          <a:xfrm>
            <a:off x="8915400" y="2286000"/>
            <a:ext cx="260532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3B4A41"/>
                </a:solidFill>
                <a:effectLst/>
                <a:uFillTx/>
                <a:latin typeface="Calibri"/>
              </a:rPr>
              <a:t>species</a:t>
            </a:r>
            <a:endParaRPr lang="en-ZA" sz="1600" b="0" u="none" strike="noStrike">
              <a:solidFill>
                <a:srgbClr val="000000"/>
              </a:solidFill>
              <a:effectLst/>
              <a:uFillTx/>
              <a:latin typeface="Arial"/>
            </a:endParaRPr>
          </a:p>
        </p:txBody>
      </p:sp>
      <p:sp>
        <p:nvSpPr>
          <p:cNvPr id="42" name="Shape 15"/>
          <p:cNvSpPr/>
          <p:nvPr/>
        </p:nvSpPr>
        <p:spPr>
          <a:xfrm>
            <a:off x="548640" y="3154680"/>
            <a:ext cx="3565440" cy="2925360"/>
          </a:xfrm>
          <a:prstGeom prst="roundRect">
            <a:avLst>
              <a:gd name="adj" fmla="val 3750"/>
            </a:avLst>
          </a:prstGeom>
          <a:solidFill>
            <a:srgbClr val="FFFFFF"/>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43" name="Text 16"/>
          <p:cNvSpPr/>
          <p:nvPr/>
        </p:nvSpPr>
        <p:spPr>
          <a:xfrm>
            <a:off x="777240" y="3291840"/>
            <a:ext cx="31082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4231C"/>
                </a:solidFill>
                <a:effectLst/>
                <a:uFillTx/>
                <a:latin typeface="Cambria"/>
                <a:ea typeface="Cambria"/>
              </a:rPr>
              <a:t>Splits without leakage</a:t>
            </a:r>
            <a:endParaRPr lang="en-ZA" sz="2000" b="0" u="none" strike="noStrike">
              <a:solidFill>
                <a:srgbClr val="000000"/>
              </a:solidFill>
              <a:effectLst/>
              <a:uFillTx/>
              <a:latin typeface="Arial"/>
            </a:endParaRPr>
          </a:p>
        </p:txBody>
      </p:sp>
      <p:sp>
        <p:nvSpPr>
          <p:cNvPr id="44" name="Text 17"/>
          <p:cNvSpPr/>
          <p:nvPr/>
        </p:nvSpPr>
        <p:spPr>
          <a:xfrm>
            <a:off x="777240" y="3840480"/>
            <a:ext cx="3108240" cy="210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Validation is carved out of train</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10% of identities held out as “new” animals</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Near-duplicate photo clusters move together</a:t>
            </a:r>
            <a:endParaRPr lang="en-ZA" sz="1500" b="0" u="none" strike="noStrike">
              <a:solidFill>
                <a:srgbClr val="000000"/>
              </a:solidFill>
              <a:effectLst/>
              <a:uFillTx/>
              <a:latin typeface="Arial"/>
            </a:endParaRPr>
          </a:p>
        </p:txBody>
      </p:sp>
      <p:sp>
        <p:nvSpPr>
          <p:cNvPr id="45" name="Shape 18"/>
          <p:cNvSpPr/>
          <p:nvPr/>
        </p:nvSpPr>
        <p:spPr>
          <a:xfrm>
            <a:off x="4297680" y="3154680"/>
            <a:ext cx="3565440" cy="2925360"/>
          </a:xfrm>
          <a:prstGeom prst="roundRect">
            <a:avLst>
              <a:gd name="adj" fmla="val 3750"/>
            </a:avLst>
          </a:prstGeom>
          <a:solidFill>
            <a:srgbClr val="FFFFFF"/>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46" name="Text 19"/>
          <p:cNvSpPr/>
          <p:nvPr/>
        </p:nvSpPr>
        <p:spPr>
          <a:xfrm>
            <a:off x="4526280" y="3291840"/>
            <a:ext cx="31082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14231C"/>
                </a:solidFill>
                <a:effectLst/>
                <a:uFillTx/>
                <a:latin typeface="Cambria"/>
                <a:ea typeface="Cambria"/>
              </a:rPr>
              <a:t>Augmentation</a:t>
            </a:r>
            <a:endParaRPr lang="en-ZA" sz="2000" b="0" u="none" strike="noStrike">
              <a:solidFill>
                <a:srgbClr val="000000"/>
              </a:solidFill>
              <a:effectLst/>
              <a:uFillTx/>
              <a:latin typeface="Arial"/>
            </a:endParaRPr>
          </a:p>
        </p:txBody>
      </p:sp>
      <p:sp>
        <p:nvSpPr>
          <p:cNvPr id="47" name="Text 20"/>
          <p:cNvSpPr/>
          <p:nvPr/>
        </p:nvSpPr>
        <p:spPr>
          <a:xfrm>
            <a:off x="4526280" y="3840480"/>
            <a:ext cx="3108240" cy="210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Mild crops, ±10° rotation, small hue jitter</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Blur and random erasing for wild conditions</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3B4A41"/>
              </a:buClr>
              <a:buFont typeface="Symbol" charset="2"/>
              <a:buChar char=""/>
            </a:pPr>
            <a:r>
              <a:rPr lang="en-US" sz="1500" b="0" u="none" strike="noStrike">
                <a:solidFill>
                  <a:srgbClr val="3B4A41"/>
                </a:solidFill>
                <a:effectLst/>
                <a:uFillTx/>
                <a:latin typeface="Calibri"/>
              </a:rPr>
              <a:t>No horizontal flips: mirroring invents fake identities</a:t>
            </a:r>
            <a:endParaRPr lang="en-ZA" sz="1500" b="0" u="none" strike="noStrike">
              <a:solidFill>
                <a:srgbClr val="000000"/>
              </a:solidFill>
              <a:effectLst/>
              <a:uFillTx/>
              <a:latin typeface="Arial"/>
            </a:endParaRPr>
          </a:p>
        </p:txBody>
      </p:sp>
      <p:sp>
        <p:nvSpPr>
          <p:cNvPr id="48" name="Shape 21"/>
          <p:cNvSpPr/>
          <p:nvPr/>
        </p:nvSpPr>
        <p:spPr>
          <a:xfrm>
            <a:off x="8046720" y="3154680"/>
            <a:ext cx="3565440" cy="2925360"/>
          </a:xfrm>
          <a:prstGeom prst="roundRect">
            <a:avLst>
              <a:gd name="adj" fmla="val 3750"/>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49" name="Text 22"/>
          <p:cNvSpPr/>
          <p:nvPr/>
        </p:nvSpPr>
        <p:spPr>
          <a:xfrm>
            <a:off x="8275320" y="3291840"/>
            <a:ext cx="310824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mbria"/>
                <a:ea typeface="Cambria"/>
              </a:rPr>
              <a:t>Compression</a:t>
            </a:r>
            <a:endParaRPr lang="en-ZA" sz="2000" b="0" u="none" strike="noStrike">
              <a:solidFill>
                <a:srgbClr val="000000"/>
              </a:solidFill>
              <a:effectLst/>
              <a:uFillTx/>
              <a:latin typeface="Arial"/>
            </a:endParaRPr>
          </a:p>
        </p:txBody>
      </p:sp>
      <p:sp>
        <p:nvSpPr>
          <p:cNvPr id="50" name="Text 23"/>
          <p:cNvSpPr/>
          <p:nvPr/>
        </p:nvSpPr>
        <p:spPr>
          <a:xfrm>
            <a:off x="8275320" y="3840480"/>
            <a:ext cx="3108240" cy="210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799"/>
              </a:spcAft>
              <a:buClr>
                <a:srgbClr val="FFFFFF"/>
              </a:buClr>
              <a:buFont typeface="Symbol" charset="2"/>
              <a:buChar char=""/>
            </a:pPr>
            <a:r>
              <a:rPr lang="en-US" sz="1500" b="0" u="none" strike="noStrike">
                <a:solidFill>
                  <a:srgbClr val="FFFFFF"/>
                </a:solidFill>
                <a:effectLst/>
                <a:uFillTx/>
                <a:latin typeface="Calibri"/>
              </a:rPr>
              <a:t>PCA with whitening, fitted on train only</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FFFFFF"/>
              </a:buClr>
              <a:buFont typeface="Symbol" charset="2"/>
              <a:buChar char=""/>
            </a:pPr>
            <a:r>
              <a:rPr lang="en-US" sz="1500" b="0" u="none" strike="noStrike">
                <a:solidFill>
                  <a:srgbClr val="FFFFFF"/>
                </a:solidFill>
                <a:effectLst/>
                <a:uFillTx/>
                <a:latin typeface="Calibri"/>
              </a:rPr>
              <a:t>Sweep 32, 64, 128, 256 and 512 dimensions</a:t>
            </a:r>
            <a:endParaRPr lang="en-ZA" sz="1500" b="0" u="none" strike="noStrike">
              <a:solidFill>
                <a:srgbClr val="000000"/>
              </a:solidFill>
              <a:effectLst/>
              <a:uFillTx/>
              <a:latin typeface="Arial"/>
            </a:endParaRPr>
          </a:p>
          <a:p>
            <a:pPr marL="343080" indent="-343080" defTabSz="914400">
              <a:lnSpc>
                <a:spcPct val="100000"/>
              </a:lnSpc>
              <a:spcAft>
                <a:spcPts val="799"/>
              </a:spcAft>
              <a:buClr>
                <a:srgbClr val="FFFFFF"/>
              </a:buClr>
              <a:buFont typeface="Symbol" charset="2"/>
              <a:buChar char=""/>
            </a:pPr>
            <a:r>
              <a:rPr lang="en-US" sz="1500" b="0" u="none" strike="noStrike">
                <a:solidFill>
                  <a:srgbClr val="FFFFFF"/>
                </a:solidFill>
                <a:effectLst/>
                <a:uFillTx/>
                <a:latin typeface="Calibri"/>
              </a:rPr>
              <a:t>Find where retrieval starts to degrade</a:t>
            </a:r>
            <a:endParaRPr lang="en-ZA" sz="15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Title"/>
          <p:cNvSpPr/>
          <p:nvPr/>
        </p:nvSpPr>
        <p:spPr>
          <a:xfrm>
            <a:off x="548640" y="365760"/>
            <a:ext cx="1106352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u="none" strike="noStrike">
                <a:solidFill>
                  <a:schemeClr val="dk1"/>
                </a:solidFill>
                <a:effectLst/>
                <a:uFillTx/>
                <a:latin typeface="Cambria"/>
                <a:ea typeface="Cambria"/>
              </a:rPr>
              <a:t>Pipeline: three views, one score</a:t>
            </a:r>
            <a:endParaRPr lang="en-ZA" sz="3800" b="0" u="none" strike="noStrike">
              <a:solidFill>
                <a:srgbClr val="000000"/>
              </a:solidFill>
              <a:effectLst/>
              <a:uFillTx/>
              <a:latin typeface="Arial"/>
            </a:endParaRPr>
          </a:p>
        </p:txBody>
      </p:sp>
      <p:sp>
        <p:nvSpPr>
          <p:cNvPr id="52" name="PageNo"/>
          <p:cNvSpPr/>
          <p:nvPr/>
        </p:nvSpPr>
        <p:spPr>
          <a:xfrm>
            <a:off x="10698480" y="6400800"/>
            <a:ext cx="913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5B7F6B"/>
                </a:solidFill>
                <a:effectLst/>
                <a:uFillTx/>
                <a:latin typeface="Calibri"/>
              </a:rPr>
              <a:t>3 / 5</a:t>
            </a:r>
            <a:endParaRPr lang="en-ZA" sz="1100" b="0" u="none" strike="noStrike">
              <a:solidFill>
                <a:srgbClr val="000000"/>
              </a:solidFill>
              <a:effectLst/>
              <a:uFillTx/>
              <a:latin typeface="Arial"/>
            </a:endParaRPr>
          </a:p>
        </p:txBody>
      </p:sp>
      <p:sp>
        <p:nvSpPr>
          <p:cNvPr id="53" name="Shape 3"/>
          <p:cNvSpPr/>
          <p:nvPr/>
        </p:nvSpPr>
        <p:spPr>
          <a:xfrm>
            <a:off x="548640" y="1417320"/>
            <a:ext cx="2056680" cy="3245400"/>
          </a:xfrm>
          <a:prstGeom prst="roundRect">
            <a:avLst>
              <a:gd name="adj" fmla="val 5333"/>
            </a:avLst>
          </a:prstGeom>
          <a:solidFill>
            <a:srgbClr val="F2F5F1"/>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54" name="Shape 4"/>
          <p:cNvSpPr/>
          <p:nvPr/>
        </p:nvSpPr>
        <p:spPr>
          <a:xfrm>
            <a:off x="685800" y="1554480"/>
            <a:ext cx="365040" cy="365040"/>
          </a:xfrm>
          <a:prstGeom prst="ellipse">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55" name="Text 5"/>
          <p:cNvSpPr/>
          <p:nvPr/>
        </p:nvSpPr>
        <p:spPr>
          <a:xfrm>
            <a:off x="685800" y="15544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rPr>
              <a:t>1</a:t>
            </a:r>
            <a:endParaRPr lang="en-ZA" sz="1400" b="0" u="none" strike="noStrike">
              <a:solidFill>
                <a:srgbClr val="000000"/>
              </a:solidFill>
              <a:effectLst/>
              <a:uFillTx/>
              <a:latin typeface="Arial"/>
            </a:endParaRPr>
          </a:p>
        </p:txBody>
      </p:sp>
      <p:pic>
        <p:nvPicPr>
          <p:cNvPr id="56" name="Step image 1" descr="/tmp/claude-0/-home-claude/69af264c-e446-5a84-b6a0-945426285a6b/scratchpad/pp/query.png"/>
          <p:cNvPicPr/>
          <p:nvPr/>
        </p:nvPicPr>
        <p:blipFill>
          <a:blip r:embed="rId3"/>
          <a:stretch/>
        </p:blipFill>
        <p:spPr>
          <a:xfrm>
            <a:off x="640080" y="2267280"/>
            <a:ext cx="1873800" cy="1408680"/>
          </a:xfrm>
          <a:prstGeom prst="rect">
            <a:avLst/>
          </a:prstGeom>
          <a:noFill/>
          <a:ln w="0">
            <a:noFill/>
          </a:ln>
        </p:spPr>
      </p:pic>
      <p:sp>
        <p:nvSpPr>
          <p:cNvPr id="57" name="Text 6"/>
          <p:cNvSpPr/>
          <p:nvPr/>
        </p:nvSpPr>
        <p:spPr>
          <a:xfrm>
            <a:off x="685800" y="3977640"/>
            <a:ext cx="178236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14231C"/>
                </a:solidFill>
                <a:effectLst/>
                <a:uFillTx/>
                <a:latin typeface="Calibri"/>
              </a:rPr>
              <a:t>Query image</a:t>
            </a:r>
            <a:endParaRPr lang="en-ZA" sz="1400" b="0" u="none" strike="noStrike">
              <a:solidFill>
                <a:srgbClr val="000000"/>
              </a:solidFill>
              <a:effectLst/>
              <a:uFillTx/>
              <a:latin typeface="Arial"/>
            </a:endParaRPr>
          </a:p>
        </p:txBody>
      </p:sp>
      <p:sp>
        <p:nvSpPr>
          <p:cNvPr id="58" name="Shape 7"/>
          <p:cNvSpPr/>
          <p:nvPr/>
        </p:nvSpPr>
        <p:spPr>
          <a:xfrm>
            <a:off x="0" y="0"/>
            <a:ext cx="360" cy="360"/>
          </a:xfrm>
          <a:prstGeom prst="rtTriangle">
            <a:avLst/>
          </a:prstGeom>
          <a:solidFill>
            <a:srgbClr val="FFFFFF"/>
          </a:solidFill>
          <a:ln w="0">
            <a:noFill/>
          </a:ln>
        </p:spPr>
        <p:style>
          <a:lnRef idx="0">
            <a:scrgbClr r="0" g="0" b="0"/>
          </a:lnRef>
          <a:fillRef idx="0">
            <a:scrgbClr r="0" g="0" b="0"/>
          </a:fillRef>
          <a:effectRef idx="0">
            <a:scrgbClr r="0" g="0" b="0"/>
          </a:effectRef>
          <a:fontRef idx="minor"/>
        </p:style>
        <p:txBody>
          <a:bodyPr lIns="0" tIns="-44640" rIns="0" bIns="-44640" anchor="t">
            <a:noAutofit/>
          </a:bodyPr>
          <a:lstStyle/>
          <a:p>
            <a:endParaRPr lang="en-ZA" sz="1800" b="0" u="none" strike="noStrike">
              <a:solidFill>
                <a:srgbClr val="000000"/>
              </a:solidFill>
              <a:effectLst/>
              <a:uFillTx/>
              <a:latin typeface="Arial"/>
            </a:endParaRPr>
          </a:p>
        </p:txBody>
      </p:sp>
      <p:sp>
        <p:nvSpPr>
          <p:cNvPr id="59" name="Shape 8"/>
          <p:cNvSpPr/>
          <p:nvPr/>
        </p:nvSpPr>
        <p:spPr>
          <a:xfrm>
            <a:off x="2788920" y="1417320"/>
            <a:ext cx="2056680" cy="3245400"/>
          </a:xfrm>
          <a:prstGeom prst="roundRect">
            <a:avLst>
              <a:gd name="adj" fmla="val 5333"/>
            </a:avLst>
          </a:prstGeom>
          <a:solidFill>
            <a:srgbClr val="F2F5F1"/>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60" name="Shape 9"/>
          <p:cNvSpPr/>
          <p:nvPr/>
        </p:nvSpPr>
        <p:spPr>
          <a:xfrm>
            <a:off x="2926080" y="1554480"/>
            <a:ext cx="365040" cy="365040"/>
          </a:xfrm>
          <a:prstGeom prst="ellipse">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61" name="Text 10"/>
          <p:cNvSpPr/>
          <p:nvPr/>
        </p:nvSpPr>
        <p:spPr>
          <a:xfrm>
            <a:off x="2926080" y="15544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rPr>
              <a:t>2</a:t>
            </a:r>
            <a:endParaRPr lang="en-ZA" sz="1400" b="0" u="none" strike="noStrike">
              <a:solidFill>
                <a:srgbClr val="000000"/>
              </a:solidFill>
              <a:effectLst/>
              <a:uFillTx/>
              <a:latin typeface="Arial"/>
            </a:endParaRPr>
          </a:p>
        </p:txBody>
      </p:sp>
      <p:pic>
        <p:nvPicPr>
          <p:cNvPr id="62" name="Step image 2" descr="/tmp/claude-0/-home-claude/69af264c-e446-5a84-b6a0-945426285a6b/scratchpad/pp/embed.png"/>
          <p:cNvPicPr/>
          <p:nvPr/>
        </p:nvPicPr>
        <p:blipFill>
          <a:blip r:embed="rId4"/>
          <a:stretch/>
        </p:blipFill>
        <p:spPr>
          <a:xfrm>
            <a:off x="2880360" y="2301840"/>
            <a:ext cx="1873800" cy="1338840"/>
          </a:xfrm>
          <a:prstGeom prst="rect">
            <a:avLst/>
          </a:prstGeom>
          <a:noFill/>
          <a:ln w="0">
            <a:noFill/>
          </a:ln>
        </p:spPr>
      </p:pic>
      <p:sp>
        <p:nvSpPr>
          <p:cNvPr id="63" name="Text 11"/>
          <p:cNvSpPr/>
          <p:nvPr/>
        </p:nvSpPr>
        <p:spPr>
          <a:xfrm>
            <a:off x="2926080" y="3977640"/>
            <a:ext cx="178236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14231C"/>
                </a:solidFill>
                <a:effectLst/>
                <a:uFillTx/>
                <a:latin typeface="Calibri"/>
              </a:rPr>
              <a:t>Embed: global + EVA02</a:t>
            </a:r>
            <a:endParaRPr lang="en-ZA" sz="1400" b="0" u="none" strike="noStrike">
              <a:solidFill>
                <a:srgbClr val="000000"/>
              </a:solidFill>
              <a:effectLst/>
              <a:uFillTx/>
              <a:latin typeface="Arial"/>
            </a:endParaRPr>
          </a:p>
        </p:txBody>
      </p:sp>
      <p:sp>
        <p:nvSpPr>
          <p:cNvPr id="64" name="Shape 12"/>
          <p:cNvSpPr/>
          <p:nvPr/>
        </p:nvSpPr>
        <p:spPr>
          <a:xfrm>
            <a:off x="0" y="0"/>
            <a:ext cx="360" cy="360"/>
          </a:xfrm>
          <a:prstGeom prst="rtTriangle">
            <a:avLst/>
          </a:prstGeom>
          <a:solidFill>
            <a:srgbClr val="FFFFFF"/>
          </a:solidFill>
          <a:ln w="0">
            <a:noFill/>
          </a:ln>
        </p:spPr>
        <p:style>
          <a:lnRef idx="0">
            <a:scrgbClr r="0" g="0" b="0"/>
          </a:lnRef>
          <a:fillRef idx="0">
            <a:scrgbClr r="0" g="0" b="0"/>
          </a:fillRef>
          <a:effectRef idx="0">
            <a:scrgbClr r="0" g="0" b="0"/>
          </a:effectRef>
          <a:fontRef idx="minor"/>
        </p:style>
        <p:txBody>
          <a:bodyPr lIns="0" tIns="-44640" rIns="0" bIns="-44640" anchor="t">
            <a:noAutofit/>
          </a:bodyPr>
          <a:lstStyle/>
          <a:p>
            <a:endParaRPr lang="en-ZA" sz="1800" b="0" u="none" strike="noStrike">
              <a:solidFill>
                <a:srgbClr val="000000"/>
              </a:solidFill>
              <a:effectLst/>
              <a:uFillTx/>
              <a:latin typeface="Arial"/>
            </a:endParaRPr>
          </a:p>
        </p:txBody>
      </p:sp>
      <p:sp>
        <p:nvSpPr>
          <p:cNvPr id="65" name="Shape 13"/>
          <p:cNvSpPr/>
          <p:nvPr/>
        </p:nvSpPr>
        <p:spPr>
          <a:xfrm>
            <a:off x="5029200" y="1417320"/>
            <a:ext cx="2056680" cy="3245400"/>
          </a:xfrm>
          <a:prstGeom prst="roundRect">
            <a:avLst>
              <a:gd name="adj" fmla="val 5333"/>
            </a:avLst>
          </a:prstGeom>
          <a:solidFill>
            <a:srgbClr val="F2F5F1"/>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66" name="Shape 14"/>
          <p:cNvSpPr/>
          <p:nvPr/>
        </p:nvSpPr>
        <p:spPr>
          <a:xfrm>
            <a:off x="5166360" y="1554480"/>
            <a:ext cx="365040" cy="365040"/>
          </a:xfrm>
          <a:prstGeom prst="ellipse">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67" name="Text 15"/>
          <p:cNvSpPr/>
          <p:nvPr/>
        </p:nvSpPr>
        <p:spPr>
          <a:xfrm>
            <a:off x="5166360" y="15544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rPr>
              <a:t>3</a:t>
            </a:r>
            <a:endParaRPr lang="en-ZA" sz="1400" b="0" u="none" strike="noStrike">
              <a:solidFill>
                <a:srgbClr val="000000"/>
              </a:solidFill>
              <a:effectLst/>
              <a:uFillTx/>
              <a:latin typeface="Arial"/>
            </a:endParaRPr>
          </a:p>
        </p:txBody>
      </p:sp>
      <p:pic>
        <p:nvPicPr>
          <p:cNvPr id="68" name="Step image 3" descr="/tmp/claude-0/-home-claude/69af264c-e446-5a84-b6a0-945426285a6b/scratchpad/pp/nearest.png"/>
          <p:cNvPicPr/>
          <p:nvPr/>
        </p:nvPicPr>
        <p:blipFill>
          <a:blip r:embed="rId5"/>
          <a:stretch/>
        </p:blipFill>
        <p:spPr>
          <a:xfrm>
            <a:off x="5372280" y="2085840"/>
            <a:ext cx="1370880" cy="1771200"/>
          </a:xfrm>
          <a:prstGeom prst="rect">
            <a:avLst/>
          </a:prstGeom>
          <a:noFill/>
          <a:ln w="0">
            <a:noFill/>
          </a:ln>
        </p:spPr>
      </p:pic>
      <p:sp>
        <p:nvSpPr>
          <p:cNvPr id="69" name="Text 16"/>
          <p:cNvSpPr/>
          <p:nvPr/>
        </p:nvSpPr>
        <p:spPr>
          <a:xfrm>
            <a:off x="5166360" y="3977640"/>
            <a:ext cx="178236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14231C"/>
                </a:solidFill>
                <a:effectLst/>
                <a:uFillTx/>
                <a:latin typeface="Calibri"/>
              </a:rPr>
              <a:t>Shortlist top-K by cosine</a:t>
            </a:r>
            <a:endParaRPr lang="en-ZA" sz="1400" b="0" u="none" strike="noStrike">
              <a:solidFill>
                <a:srgbClr val="000000"/>
              </a:solidFill>
              <a:effectLst/>
              <a:uFillTx/>
              <a:latin typeface="Arial"/>
            </a:endParaRPr>
          </a:p>
        </p:txBody>
      </p:sp>
      <p:sp>
        <p:nvSpPr>
          <p:cNvPr id="70" name="Shape 17"/>
          <p:cNvSpPr/>
          <p:nvPr/>
        </p:nvSpPr>
        <p:spPr>
          <a:xfrm>
            <a:off x="0" y="0"/>
            <a:ext cx="360" cy="360"/>
          </a:xfrm>
          <a:prstGeom prst="rtTriangle">
            <a:avLst/>
          </a:prstGeom>
          <a:solidFill>
            <a:srgbClr val="FFFFFF"/>
          </a:solidFill>
          <a:ln w="0">
            <a:noFill/>
          </a:ln>
        </p:spPr>
        <p:style>
          <a:lnRef idx="0">
            <a:scrgbClr r="0" g="0" b="0"/>
          </a:lnRef>
          <a:fillRef idx="0">
            <a:scrgbClr r="0" g="0" b="0"/>
          </a:fillRef>
          <a:effectRef idx="0">
            <a:scrgbClr r="0" g="0" b="0"/>
          </a:effectRef>
          <a:fontRef idx="minor"/>
        </p:style>
        <p:txBody>
          <a:bodyPr lIns="0" tIns="-44640" rIns="0" bIns="-44640" anchor="t">
            <a:noAutofit/>
          </a:bodyPr>
          <a:lstStyle/>
          <a:p>
            <a:endParaRPr lang="en-ZA" sz="1800" b="0" u="none" strike="noStrike">
              <a:solidFill>
                <a:srgbClr val="000000"/>
              </a:solidFill>
              <a:effectLst/>
              <a:uFillTx/>
              <a:latin typeface="Arial"/>
            </a:endParaRPr>
          </a:p>
        </p:txBody>
      </p:sp>
      <p:sp>
        <p:nvSpPr>
          <p:cNvPr id="71" name="Shape 18"/>
          <p:cNvSpPr/>
          <p:nvPr/>
        </p:nvSpPr>
        <p:spPr>
          <a:xfrm>
            <a:off x="7269480" y="1417320"/>
            <a:ext cx="2056680" cy="3245400"/>
          </a:xfrm>
          <a:prstGeom prst="roundRect">
            <a:avLst>
              <a:gd name="adj" fmla="val 5333"/>
            </a:avLst>
          </a:prstGeom>
          <a:solidFill>
            <a:srgbClr val="F2F5F1"/>
          </a:solidFill>
          <a:ln w="12700">
            <a:solidFill>
              <a:srgbClr val="DDE6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72" name="Shape 19"/>
          <p:cNvSpPr/>
          <p:nvPr/>
        </p:nvSpPr>
        <p:spPr>
          <a:xfrm>
            <a:off x="7406640" y="1554480"/>
            <a:ext cx="365040" cy="365040"/>
          </a:xfrm>
          <a:prstGeom prst="ellipse">
            <a:avLst/>
          </a:prstGeom>
          <a:solidFill>
            <a:srgbClr val="2C5F2D"/>
          </a:solidFill>
          <a:ln w="12700">
            <a:solidFill>
              <a:srgbClr val="2C5F2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73" name="Text 20"/>
          <p:cNvSpPr/>
          <p:nvPr/>
        </p:nvSpPr>
        <p:spPr>
          <a:xfrm>
            <a:off x="7406640" y="15544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rPr>
              <a:t>4</a:t>
            </a:r>
            <a:endParaRPr lang="en-ZA" sz="1400" b="0" u="none" strike="noStrike">
              <a:solidFill>
                <a:srgbClr val="000000"/>
              </a:solidFill>
              <a:effectLst/>
              <a:uFillTx/>
              <a:latin typeface="Arial"/>
            </a:endParaRPr>
          </a:p>
        </p:txBody>
      </p:sp>
      <p:sp>
        <p:nvSpPr>
          <p:cNvPr id="74" name="Text 21"/>
          <p:cNvSpPr/>
          <p:nvPr/>
        </p:nvSpPr>
        <p:spPr>
          <a:xfrm>
            <a:off x="7406640" y="2148840"/>
            <a:ext cx="1782360" cy="164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u="none" strike="noStrike">
                <a:solidFill>
                  <a:srgbClr val="3B4A41"/>
                </a:solidFill>
                <a:effectLst/>
                <a:uFillTx/>
                <a:latin typeface="Calibri"/>
              </a:rPr>
              <a:t>Spots, stripes and scars matched keypoint by keypoint</a:t>
            </a:r>
            <a:endParaRPr lang="en-ZA" sz="1600" b="0" u="none" strike="noStrike">
              <a:solidFill>
                <a:srgbClr val="000000"/>
              </a:solidFill>
              <a:effectLst/>
              <a:uFillTx/>
              <a:latin typeface="Arial"/>
            </a:endParaRPr>
          </a:p>
        </p:txBody>
      </p:sp>
      <p:sp>
        <p:nvSpPr>
          <p:cNvPr id="75" name="Text 22"/>
          <p:cNvSpPr/>
          <p:nvPr/>
        </p:nvSpPr>
        <p:spPr>
          <a:xfrm>
            <a:off x="7406640" y="3977640"/>
            <a:ext cx="178236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14231C"/>
                </a:solidFill>
                <a:effectLst/>
                <a:uFillTx/>
                <a:latin typeface="Calibri"/>
              </a:rPr>
              <a:t>ALIKED + LightGlue on best 20</a:t>
            </a:r>
            <a:endParaRPr lang="en-ZA" sz="1400" b="0" u="none" strike="noStrike">
              <a:solidFill>
                <a:srgbClr val="000000"/>
              </a:solidFill>
              <a:effectLst/>
              <a:uFillTx/>
              <a:latin typeface="Arial"/>
            </a:endParaRPr>
          </a:p>
        </p:txBody>
      </p:sp>
      <p:sp>
        <p:nvSpPr>
          <p:cNvPr id="76" name="Shape 23"/>
          <p:cNvSpPr/>
          <p:nvPr/>
        </p:nvSpPr>
        <p:spPr>
          <a:xfrm>
            <a:off x="0" y="0"/>
            <a:ext cx="360" cy="360"/>
          </a:xfrm>
          <a:prstGeom prst="rtTriangle">
            <a:avLst/>
          </a:prstGeom>
          <a:solidFill>
            <a:srgbClr val="FFFFFF"/>
          </a:solidFill>
          <a:ln w="0">
            <a:noFill/>
          </a:ln>
        </p:spPr>
        <p:style>
          <a:lnRef idx="0">
            <a:scrgbClr r="0" g="0" b="0"/>
          </a:lnRef>
          <a:fillRef idx="0">
            <a:scrgbClr r="0" g="0" b="0"/>
          </a:fillRef>
          <a:effectRef idx="0">
            <a:scrgbClr r="0" g="0" b="0"/>
          </a:effectRef>
          <a:fontRef idx="minor"/>
        </p:style>
        <p:txBody>
          <a:bodyPr lIns="0" tIns="-44640" rIns="0" bIns="-44640" anchor="t">
            <a:noAutofit/>
          </a:bodyPr>
          <a:lstStyle/>
          <a:p>
            <a:endParaRPr lang="en-ZA" sz="1800" b="0" u="none" strike="noStrike">
              <a:solidFill>
                <a:srgbClr val="000000"/>
              </a:solidFill>
              <a:effectLst/>
              <a:uFillTx/>
              <a:latin typeface="Arial"/>
            </a:endParaRPr>
          </a:p>
        </p:txBody>
      </p:sp>
      <p:sp>
        <p:nvSpPr>
          <p:cNvPr id="77" name="Shape 24"/>
          <p:cNvSpPr/>
          <p:nvPr/>
        </p:nvSpPr>
        <p:spPr>
          <a:xfrm>
            <a:off x="9509760" y="1417320"/>
            <a:ext cx="2370240" cy="3245400"/>
          </a:xfrm>
          <a:prstGeom prst="roundRect">
            <a:avLst>
              <a:gd name="adj" fmla="val 5333"/>
            </a:avLst>
          </a:prstGeom>
          <a:solidFill>
            <a:srgbClr val="FBF1DC"/>
          </a:solidFill>
          <a:ln w="12700">
            <a:solidFill>
              <a:srgbClr val="C98A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78" name="Shape 25"/>
          <p:cNvSpPr/>
          <p:nvPr/>
        </p:nvSpPr>
        <p:spPr>
          <a:xfrm>
            <a:off x="9646920" y="1554480"/>
            <a:ext cx="365040" cy="365040"/>
          </a:xfrm>
          <a:prstGeom prst="ellipse">
            <a:avLst/>
          </a:prstGeom>
          <a:solidFill>
            <a:srgbClr val="C98A1B"/>
          </a:solidFill>
          <a:ln w="12700">
            <a:solidFill>
              <a:srgbClr val="C98A1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FFFFFF"/>
              </a:solidFill>
              <a:effectLst/>
              <a:uFillTx/>
              <a:latin typeface="Arial"/>
            </a:endParaRPr>
          </a:p>
        </p:txBody>
      </p:sp>
      <p:sp>
        <p:nvSpPr>
          <p:cNvPr id="79" name="Text 26"/>
          <p:cNvSpPr/>
          <p:nvPr/>
        </p:nvSpPr>
        <p:spPr>
          <a:xfrm>
            <a:off x="9646920" y="1554480"/>
            <a:ext cx="365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Calibri"/>
              </a:rPr>
              <a:t>5</a:t>
            </a:r>
            <a:endParaRPr lang="en-ZA" sz="1400" b="0" u="none" strike="noStrike">
              <a:solidFill>
                <a:srgbClr val="000000"/>
              </a:solidFill>
              <a:effectLst/>
              <a:uFillTx/>
              <a:latin typeface="Arial"/>
            </a:endParaRPr>
          </a:p>
        </p:txBody>
      </p:sp>
      <p:sp>
        <p:nvSpPr>
          <p:cNvPr id="80" name="Text 27"/>
          <p:cNvSpPr/>
          <p:nvPr/>
        </p:nvSpPr>
        <p:spPr>
          <a:xfrm>
            <a:off x="9646920" y="2148840"/>
            <a:ext cx="2233080" cy="164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u="none" strike="noStrike">
                <a:solidFill>
                  <a:srgbClr val="3B4A41"/>
                </a:solidFill>
                <a:effectLst/>
                <a:uFillTx/>
                <a:latin typeface="Calibri"/>
              </a:rPr>
              <a:t>S = 0.4·Sg + 0.3·Sc +0.3·Sl</a:t>
            </a:r>
            <a:endParaRPr lang="en-ZA" sz="1600" b="0" u="none" strike="noStrike">
              <a:solidFill>
                <a:srgbClr val="000000"/>
              </a:solidFill>
              <a:effectLst/>
              <a:uFillTx/>
              <a:latin typeface="Arial"/>
            </a:endParaRPr>
          </a:p>
        </p:txBody>
      </p:sp>
      <p:sp>
        <p:nvSpPr>
          <p:cNvPr id="81" name="Text 28"/>
          <p:cNvSpPr/>
          <p:nvPr/>
        </p:nvSpPr>
        <p:spPr>
          <a:xfrm>
            <a:off x="9646920" y="3977640"/>
            <a:ext cx="178236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14231C"/>
                </a:solidFill>
                <a:effectLst/>
                <a:uFillTx/>
                <a:latin typeface="Calibri"/>
              </a:rPr>
              <a:t>Calibrate, fuse, re-rank</a:t>
            </a:r>
            <a:endParaRPr lang="en-ZA" sz="1400" b="0" u="none" strike="noStrike">
              <a:solidFill>
                <a:srgbClr val="000000"/>
              </a:solidFill>
              <a:effectLst/>
              <a:uFillTx/>
              <a:latin typeface="Arial"/>
            </a:endParaRPr>
          </a:p>
        </p:txBody>
      </p:sp>
      <p:sp>
        <p:nvSpPr>
          <p:cNvPr id="82" name="Text 29"/>
          <p:cNvSpPr/>
          <p:nvPr/>
        </p:nvSpPr>
        <p:spPr>
          <a:xfrm>
            <a:off x="2606040" y="2743200"/>
            <a:ext cx="1821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a:solidFill>
                  <a:srgbClr val="C98A1B"/>
                </a:solidFill>
                <a:effectLst/>
                <a:uFillTx/>
                <a:latin typeface="Calibri"/>
              </a:rPr>
              <a:t>▶</a:t>
            </a:r>
            <a:endParaRPr lang="en-ZA" sz="1200" b="0" u="none" strike="noStrike">
              <a:solidFill>
                <a:srgbClr val="000000"/>
              </a:solidFill>
              <a:effectLst/>
              <a:uFillTx/>
              <a:latin typeface="Arial"/>
            </a:endParaRPr>
          </a:p>
        </p:txBody>
      </p:sp>
      <p:sp>
        <p:nvSpPr>
          <p:cNvPr id="83" name="Text 30"/>
          <p:cNvSpPr/>
          <p:nvPr/>
        </p:nvSpPr>
        <p:spPr>
          <a:xfrm>
            <a:off x="4846320" y="2743200"/>
            <a:ext cx="1821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a:solidFill>
                  <a:srgbClr val="C98A1B"/>
                </a:solidFill>
                <a:effectLst/>
                <a:uFillTx/>
                <a:latin typeface="Calibri"/>
              </a:rPr>
              <a:t>▶</a:t>
            </a:r>
            <a:endParaRPr lang="en-ZA" sz="1200" b="0" u="none" strike="noStrike">
              <a:solidFill>
                <a:srgbClr val="000000"/>
              </a:solidFill>
              <a:effectLst/>
              <a:uFillTx/>
              <a:latin typeface="Arial"/>
            </a:endParaRPr>
          </a:p>
        </p:txBody>
      </p:sp>
      <p:sp>
        <p:nvSpPr>
          <p:cNvPr id="84" name="Text 31"/>
          <p:cNvSpPr/>
          <p:nvPr/>
        </p:nvSpPr>
        <p:spPr>
          <a:xfrm>
            <a:off x="7086600" y="2743200"/>
            <a:ext cx="1821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a:solidFill>
                  <a:srgbClr val="C98A1B"/>
                </a:solidFill>
                <a:effectLst/>
                <a:uFillTx/>
                <a:latin typeface="Calibri"/>
              </a:rPr>
              <a:t>▶</a:t>
            </a:r>
            <a:endParaRPr lang="en-ZA" sz="1200" b="0" u="none" strike="noStrike">
              <a:solidFill>
                <a:srgbClr val="000000"/>
              </a:solidFill>
              <a:effectLst/>
              <a:uFillTx/>
              <a:latin typeface="Arial"/>
            </a:endParaRPr>
          </a:p>
        </p:txBody>
      </p:sp>
      <p:sp>
        <p:nvSpPr>
          <p:cNvPr id="85" name="Text 32"/>
          <p:cNvSpPr/>
          <p:nvPr/>
        </p:nvSpPr>
        <p:spPr>
          <a:xfrm>
            <a:off x="9326880" y="2743200"/>
            <a:ext cx="18216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a:solidFill>
                  <a:srgbClr val="C98A1B"/>
                </a:solidFill>
                <a:effectLst/>
                <a:uFillTx/>
                <a:latin typeface="Calibri"/>
              </a:rPr>
              <a:t>▶</a:t>
            </a:r>
            <a:endParaRPr lang="en-ZA" sz="1200" b="0" u="none" strike="noStrike">
              <a:solidFill>
                <a:srgbClr val="000000"/>
              </a:solidFill>
              <a:effectLst/>
              <a:uFillTx/>
              <a:latin typeface="Arial"/>
            </a:endParaRPr>
          </a:p>
        </p:txBody>
      </p:sp>
      <p:sp>
        <p:nvSpPr>
          <p:cNvPr id="86" name="Text 33"/>
          <p:cNvSpPr/>
          <p:nvPr/>
        </p:nvSpPr>
        <p:spPr>
          <a:xfrm>
            <a:off x="548640" y="4892040"/>
            <a:ext cx="3565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2C5F2D"/>
                </a:solidFill>
                <a:effectLst/>
                <a:uFillTx/>
                <a:latin typeface="Calibri"/>
              </a:rPr>
              <a:t>Global  </a:t>
            </a:r>
            <a:r>
              <a:rPr lang="en-US" sz="1400" b="0" u="none" strike="noStrike">
                <a:solidFill>
                  <a:srgbClr val="3B4A41"/>
                </a:solidFill>
                <a:effectLst/>
                <a:uFillTx/>
                <a:latin typeface="Calibri"/>
              </a:rPr>
              <a:t>MegaDescriptor or MiewID: the overall look</a:t>
            </a:r>
            <a:endParaRPr lang="en-ZA" sz="1400" b="0" u="none" strike="noStrike">
              <a:solidFill>
                <a:srgbClr val="000000"/>
              </a:solidFill>
              <a:effectLst/>
              <a:uFillTx/>
              <a:latin typeface="Arial"/>
            </a:endParaRPr>
          </a:p>
        </p:txBody>
      </p:sp>
      <p:sp>
        <p:nvSpPr>
          <p:cNvPr id="87" name="Text 34"/>
          <p:cNvSpPr/>
          <p:nvPr/>
        </p:nvSpPr>
        <p:spPr>
          <a:xfrm>
            <a:off x="4297680" y="4892040"/>
            <a:ext cx="3565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2C5F2D"/>
                </a:solidFill>
                <a:effectLst/>
                <a:uFillTx/>
                <a:latin typeface="Calibri"/>
              </a:rPr>
              <a:t>Complementary  </a:t>
            </a:r>
            <a:r>
              <a:rPr lang="en-US" sz="1400" b="0" u="none" strike="noStrike">
                <a:solidFill>
                  <a:srgbClr val="3B4A41"/>
                </a:solidFill>
                <a:effectLst/>
                <a:uFillTx/>
                <a:latin typeface="Calibri"/>
              </a:rPr>
              <a:t>EVA02: generic features, a second opinion</a:t>
            </a:r>
            <a:endParaRPr lang="en-ZA" sz="1400" b="0" u="none" strike="noStrike">
              <a:solidFill>
                <a:srgbClr val="000000"/>
              </a:solidFill>
              <a:effectLst/>
              <a:uFillTx/>
              <a:latin typeface="Arial"/>
            </a:endParaRPr>
          </a:p>
        </p:txBody>
      </p:sp>
      <p:sp>
        <p:nvSpPr>
          <p:cNvPr id="88" name="Text 35"/>
          <p:cNvSpPr/>
          <p:nvPr/>
        </p:nvSpPr>
        <p:spPr>
          <a:xfrm>
            <a:off x="8046720" y="4892040"/>
            <a:ext cx="356544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rgbClr val="2C5F2D"/>
                </a:solidFill>
                <a:effectLst/>
                <a:uFillTx/>
                <a:latin typeface="Calibri"/>
              </a:rPr>
              <a:t>Local  </a:t>
            </a:r>
            <a:r>
              <a:rPr lang="en-US" sz="1400" b="0" u="none" strike="noStrike">
                <a:solidFill>
                  <a:srgbClr val="3B4A41"/>
                </a:solidFill>
                <a:effectLst/>
                <a:uFillTx/>
                <a:latin typeface="Calibri"/>
              </a:rPr>
              <a:t>ALIKED: tiny patterns the others miss</a:t>
            </a:r>
            <a:endParaRPr lang="en-ZA" sz="1400" b="0" u="none" strike="noStrike">
              <a:solidFill>
                <a:srgbClr val="000000"/>
              </a:solidFill>
              <a:effectLst/>
              <a:uFillTx/>
              <a:latin typeface="Arial"/>
            </a:endParaRPr>
          </a:p>
        </p:txBody>
      </p:sp>
      <p:sp>
        <p:nvSpPr>
          <p:cNvPr id="89" name="Text 36"/>
          <p:cNvSpPr/>
          <p:nvPr/>
        </p:nvSpPr>
        <p:spPr>
          <a:xfrm>
            <a:off x="548640" y="5757840"/>
            <a:ext cx="11063520" cy="639360"/>
          </a:xfrm>
          <a:prstGeom prst="rect">
            <a:avLst/>
          </a:prstGeom>
          <a:solidFill>
            <a:srgbClr val="FBF1DC"/>
          </a:solidFill>
          <a:ln w="0">
            <a:noFill/>
          </a:ln>
        </p:spPr>
        <p:style>
          <a:lnRef idx="0">
            <a:scrgbClr r="0" g="0" b="0"/>
          </a:lnRef>
          <a:fillRef idx="0">
            <a:scrgbClr r="0" g="0" b="0"/>
          </a:fillRef>
          <a:effectRef idx="0">
            <a:scrgbClr r="0" g="0" b="0"/>
          </a:effectRef>
          <a:fontRef idx="minor"/>
        </p:style>
        <p:txBody>
          <a:bodyPr lIns="1440" tIns="1440" rIns="1440" bIns="1440" anchor="ctr">
            <a:noAutofit/>
          </a:bodyPr>
          <a:lstStyle/>
          <a:p>
            <a:pPr defTabSz="914400">
              <a:lnSpc>
                <a:spcPct val="100000"/>
              </a:lnSpc>
              <a:spcBef>
                <a:spcPts val="1191"/>
              </a:spcBef>
              <a:spcAft>
                <a:spcPts val="992"/>
              </a:spcAft>
              <a:tabLst>
                <a:tab pos="0" algn="l"/>
              </a:tabLst>
            </a:pPr>
            <a:r>
              <a:rPr lang="en-US" sz="1600" b="0" u="none" strike="noStrike">
                <a:solidFill>
                  <a:srgbClr val="14231C"/>
                </a:solidFill>
                <a:effectLst/>
                <a:uFillTx/>
                <a:latin typeface="Calibri"/>
              </a:rPr>
              <a:t>Scores live on different scales, so each is </a:t>
            </a:r>
            <a:r>
              <a:rPr lang="en-US" sz="1600" b="1" u="none" strike="noStrike">
                <a:solidFill>
                  <a:srgbClr val="14231C"/>
                </a:solidFill>
                <a:effectLst/>
                <a:uFillTx/>
                <a:latin typeface="Calibri"/>
              </a:rPr>
              <a:t>calibrated</a:t>
            </a:r>
            <a:r>
              <a:rPr lang="en-US" sz="1600" b="0" u="none" strike="noStrike">
                <a:solidFill>
                  <a:srgbClr val="14231C"/>
                </a:solidFill>
                <a:effectLst/>
                <a:uFillTx/>
                <a:latin typeface="Calibri"/>
              </a:rPr>
              <a:t> to P(same animal) and then fused. If the best fused score ≥ τ, we return that identity; otherwise, NEW.</a:t>
            </a:r>
            <a:endParaRPr lang="en-ZA" sz="16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Title"/>
          <p:cNvSpPr/>
          <p:nvPr/>
        </p:nvSpPr>
        <p:spPr>
          <a:xfrm>
            <a:off x="548640" y="365760"/>
            <a:ext cx="1106352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u="none" strike="noStrike">
                <a:solidFill>
                  <a:schemeClr val="dk1"/>
                </a:solidFill>
                <a:effectLst/>
                <a:uFillTx/>
                <a:latin typeface="Cambria"/>
                <a:ea typeface="Cambria"/>
              </a:rPr>
              <a:t>Results</a:t>
            </a:r>
            <a:endParaRPr lang="en-ZA" sz="3800" b="0" u="none" strike="noStrike">
              <a:solidFill>
                <a:srgbClr val="000000"/>
              </a:solidFill>
              <a:effectLst/>
              <a:uFillTx/>
              <a:latin typeface="Arial"/>
            </a:endParaRPr>
          </a:p>
        </p:txBody>
      </p:sp>
      <p:sp>
        <p:nvSpPr>
          <p:cNvPr id="91" name="PageNo"/>
          <p:cNvSpPr/>
          <p:nvPr/>
        </p:nvSpPr>
        <p:spPr>
          <a:xfrm>
            <a:off x="10698480" y="6400800"/>
            <a:ext cx="913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5B7F6B"/>
                </a:solidFill>
                <a:effectLst/>
                <a:uFillTx/>
                <a:latin typeface="Calibri"/>
              </a:rPr>
              <a:t>4 / 5</a:t>
            </a:r>
            <a:endParaRPr lang="en-ZA" sz="1100" b="0" u="none" strike="noStrike">
              <a:solidFill>
                <a:srgbClr val="000000"/>
              </a:solidFill>
              <a:effectLst/>
              <a:uFillTx/>
              <a:latin typeface="Arial"/>
            </a:endParaRPr>
          </a:p>
        </p:txBody>
      </p:sp>
      <p:graphicFrame>
        <p:nvGraphicFramePr>
          <p:cNvPr id="92" name="Table 0"/>
          <p:cNvGraphicFramePr/>
          <p:nvPr>
            <p:extLst>
              <p:ext uri="{D42A27DB-BD31-4B8C-83A1-F6EECF244321}">
                <p14:modId xmlns:p14="http://schemas.microsoft.com/office/powerpoint/2010/main" val="806429931"/>
              </p:ext>
            </p:extLst>
          </p:nvPr>
        </p:nvGraphicFramePr>
        <p:xfrm>
          <a:off x="548640" y="1463040"/>
          <a:ext cx="6949440" cy="346224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566640">
                <a:tc>
                  <a:txBody>
                    <a:bodyPr/>
                    <a:lstStyle/>
                    <a:p>
                      <a:pPr defTabSz="914400">
                        <a:lnSpc>
                          <a:spcPct val="100000"/>
                        </a:lnSpc>
                        <a:tabLst>
                          <a:tab pos="0" algn="l"/>
                        </a:tabLst>
                      </a:pPr>
                      <a:r>
                        <a:rPr lang="en-US" sz="1600" b="1" u="none" strike="noStrike">
                          <a:solidFill>
                            <a:srgbClr val="FFFFFF"/>
                          </a:solidFill>
                          <a:effectLst/>
                          <a:uFillTx/>
                          <a:latin typeface="Calibri"/>
                        </a:rPr>
                        <a:t>Method</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cap="flat" cmpd="sng" algn="ctr">
                      <a:solidFill>
                        <a:srgbClr val="DDE6DF"/>
                      </a:solidFill>
                      <a:prstDash val="solid"/>
                      <a:round/>
                      <a:headEnd type="none" w="med" len="med"/>
                      <a:tailEnd type="none" w="med" len="med"/>
                    </a:lnB>
                    <a:solidFill>
                      <a:srgbClr val="2C5F2D"/>
                    </a:solidFill>
                  </a:tcPr>
                </a:tc>
                <a:tc>
                  <a:txBody>
                    <a:bodyPr/>
                    <a:lstStyle/>
                    <a:p>
                      <a:pPr algn="r" defTabSz="914400">
                        <a:lnSpc>
                          <a:spcPct val="100000"/>
                        </a:lnSpc>
                        <a:tabLst>
                          <a:tab pos="0" algn="l"/>
                        </a:tabLst>
                      </a:pPr>
                      <a:r>
                        <a:rPr lang="en-US" sz="1600" b="1" u="none" strike="noStrike">
                          <a:solidFill>
                            <a:srgbClr val="FFFFFF"/>
                          </a:solidFill>
                          <a:effectLst/>
                          <a:uFillTx/>
                          <a:latin typeface="Calibri"/>
                        </a:rPr>
                        <a:t>Closed BAKS</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cap="flat" cmpd="sng" algn="ctr">
                      <a:solidFill>
                        <a:srgbClr val="DDE6DF"/>
                      </a:solidFill>
                      <a:prstDash val="solid"/>
                      <a:round/>
                      <a:headEnd type="none" w="med" len="med"/>
                      <a:tailEnd type="none" w="med" len="med"/>
                    </a:lnB>
                    <a:solidFill>
                      <a:srgbClr val="2C5F2D"/>
                    </a:solidFill>
                  </a:tcPr>
                </a:tc>
                <a:tc>
                  <a:txBody>
                    <a:bodyPr/>
                    <a:lstStyle/>
                    <a:p>
                      <a:pPr algn="r" defTabSz="914400">
                        <a:lnSpc>
                          <a:spcPct val="100000"/>
                        </a:lnSpc>
                        <a:tabLst>
                          <a:tab pos="0" algn="l"/>
                        </a:tabLst>
                      </a:pPr>
                      <a:r>
                        <a:rPr lang="en-US" sz="1600" b="1" u="none" strike="noStrike">
                          <a:solidFill>
                            <a:srgbClr val="FFFFFF"/>
                          </a:solidFill>
                          <a:effectLst/>
                          <a:uFillTx/>
                          <a:latin typeface="Calibri"/>
                        </a:rPr>
                        <a:t>Open score</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cap="flat" cmpd="sng" algn="ctr">
                      <a:solidFill>
                        <a:srgbClr val="DDE6DF"/>
                      </a:solidFill>
                      <a:prstDash val="solid"/>
                      <a:round/>
                      <a:headEnd type="none" w="med" len="med"/>
                      <a:tailEnd type="none" w="med" len="med"/>
                    </a:lnB>
                    <a:solidFill>
                      <a:srgbClr val="2C5F2D"/>
                    </a:solidFill>
                  </a:tcPr>
                </a:tc>
                <a:tc>
                  <a:txBody>
                    <a:bodyPr/>
                    <a:lstStyle/>
                    <a:p>
                      <a:pPr algn="r" defTabSz="914400">
                        <a:lnSpc>
                          <a:spcPct val="100000"/>
                        </a:lnSpc>
                        <a:tabLst>
                          <a:tab pos="0" algn="l"/>
                        </a:tabLst>
                      </a:pPr>
                      <a:r>
                        <a:rPr lang="en-US" sz="1600" b="1" u="none" strike="noStrike">
                          <a:solidFill>
                            <a:srgbClr val="FFFFFF"/>
                          </a:solidFill>
                          <a:effectLst/>
                          <a:uFillTx/>
                          <a:latin typeface="Calibri"/>
                        </a:rPr>
                        <a:t>BAUS</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cap="flat" cmpd="sng" algn="ctr">
                      <a:solidFill>
                        <a:srgbClr val="DDE6DF"/>
                      </a:solidFill>
                      <a:prstDash val="solid"/>
                      <a:round/>
                      <a:headEnd type="none" w="med" len="med"/>
                      <a:tailEnd type="none" w="med" len="med"/>
                    </a:lnB>
                    <a:solidFill>
                      <a:srgbClr val="2C5F2D"/>
                    </a:solidFill>
                  </a:tcPr>
                </a:tc>
                <a:tc>
                  <a:txBody>
                    <a:bodyPr/>
                    <a:lstStyle/>
                    <a:p>
                      <a:pPr algn="r" defTabSz="914400">
                        <a:lnSpc>
                          <a:spcPct val="100000"/>
                        </a:lnSpc>
                        <a:tabLst>
                          <a:tab pos="0" algn="l"/>
                        </a:tabLst>
                      </a:pPr>
                      <a:r>
                        <a:rPr lang="en-US" sz="1600" b="1" u="none" strike="noStrike">
                          <a:solidFill>
                            <a:srgbClr val="FFFFFF"/>
                          </a:solidFill>
                          <a:effectLst/>
                          <a:uFillTx/>
                          <a:latin typeface="Calibri"/>
                        </a:rPr>
                        <a:t>mAP@K</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cap="flat" cmpd="sng" algn="ctr">
                      <a:solidFill>
                        <a:srgbClr val="DDE6D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66640">
                <a:tc>
                  <a:txBody>
                    <a:bodyPr/>
                    <a:lstStyle/>
                    <a:p>
                      <a:pPr algn="l">
                        <a:buNone/>
                      </a:pPr>
                      <a:r>
                        <a:rPr lang="en-US" sz="1600" b="0" dirty="0">
                          <a:effectLst/>
                        </a:rPr>
                        <a:t>DINOv2 baseline</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0.5651</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0.5186 </a:t>
                      </a:r>
                      <a:r>
                        <a:rPr lang="en-US" sz="1600" b="0" i="1">
                          <a:effectLst/>
                        </a:rPr>
                        <a:t>(0.1897)</a:t>
                      </a:r>
                      <a:endParaRPr lang="en-US" sz="1600" b="0">
                        <a:effectLst/>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0.8474</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0.2555</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extLst>
                  <a:ext uri="{0D108BD9-81ED-4DB2-BD59-A6C34878D82A}">
                    <a16:rowId xmlns:a16="http://schemas.microsoft.com/office/drawing/2014/main" val="10001"/>
                  </a:ext>
                </a:extLst>
              </a:tr>
              <a:tr h="566640">
                <a:tc>
                  <a:txBody>
                    <a:bodyPr/>
                    <a:lstStyle/>
                    <a:p>
                      <a:pPr algn="l">
                        <a:buNone/>
                      </a:pPr>
                      <a:r>
                        <a:rPr lang="en-US" sz="1600" b="0" dirty="0">
                          <a:effectLst/>
                        </a:rPr>
                        <a:t>Global</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0.8143</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0.7874 </a:t>
                      </a:r>
                      <a:r>
                        <a:rPr lang="en-US" sz="1600" b="0" i="1">
                          <a:effectLst/>
                        </a:rPr>
                        <a:t>(0.6636)</a:t>
                      </a:r>
                      <a:endParaRPr lang="en-US" sz="1600" b="0">
                        <a:effectLst/>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0.9112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0.7583</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extLst>
                  <a:ext uri="{0D108BD9-81ED-4DB2-BD59-A6C34878D82A}">
                    <a16:rowId xmlns:a16="http://schemas.microsoft.com/office/drawing/2014/main" val="10002"/>
                  </a:ext>
                </a:extLst>
              </a:tr>
              <a:tr h="566640">
                <a:tc>
                  <a:txBody>
                    <a:bodyPr/>
                    <a:lstStyle/>
                    <a:p>
                      <a:pPr algn="l">
                        <a:buNone/>
                      </a:pPr>
                      <a:r>
                        <a:rPr lang="en-US" sz="1600" b="0">
                          <a:effectLst/>
                        </a:rPr>
                        <a:t>Global + EVA02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0.8176</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dirty="0">
                          <a:effectLst/>
                        </a:rPr>
                        <a:t>0.7898 </a:t>
                      </a:r>
                      <a:r>
                        <a:rPr lang="en-US" sz="1600" b="0" i="1" dirty="0">
                          <a:effectLst/>
                        </a:rPr>
                        <a:t>(0.6683)</a:t>
                      </a:r>
                      <a:endParaRPr lang="en-US" sz="1600" b="0" dirty="0">
                        <a:effectLst/>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0.9112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algn="ctr">
                        <a:buNone/>
                      </a:pPr>
                      <a:r>
                        <a:rPr lang="en-US" sz="1600" b="0">
                          <a:effectLst/>
                        </a:rPr>
                        <a:t>0.7582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extLst>
                  <a:ext uri="{0D108BD9-81ED-4DB2-BD59-A6C34878D82A}">
                    <a16:rowId xmlns:a16="http://schemas.microsoft.com/office/drawing/2014/main" val="10003"/>
                  </a:ext>
                </a:extLst>
              </a:tr>
              <a:tr h="566640">
                <a:tc>
                  <a:txBody>
                    <a:bodyPr/>
                    <a:lstStyle/>
                    <a:p>
                      <a:pPr algn="l">
                        <a:buNone/>
                      </a:pPr>
                      <a:r>
                        <a:rPr lang="en-US" sz="1600" b="0">
                          <a:effectLst/>
                        </a:rPr>
                        <a:t>Global + ALIKED</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0.7994</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a:effectLst/>
                        </a:rPr>
                        <a:t>0.7978 </a:t>
                      </a:r>
                      <a:r>
                        <a:rPr lang="en-US" sz="1600" b="0" i="1">
                          <a:effectLst/>
                        </a:rPr>
                        <a:t>(0.6524)</a:t>
                      </a:r>
                      <a:endParaRPr lang="en-US" sz="1600" b="0">
                        <a:effectLst/>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dirty="0">
                          <a:effectLst/>
                        </a:rPr>
                        <a:t>0.9432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algn="ctr">
                        <a:buNone/>
                      </a:pPr>
                      <a:r>
                        <a:rPr lang="en-US" sz="1600" b="0" dirty="0">
                          <a:effectLst/>
                        </a:rPr>
                        <a:t>0.7846</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extLst>
                  <a:ext uri="{0D108BD9-81ED-4DB2-BD59-A6C34878D82A}">
                    <a16:rowId xmlns:a16="http://schemas.microsoft.com/office/drawing/2014/main" val="10004"/>
                  </a:ext>
                </a:extLst>
              </a:tr>
              <a:tr h="566640">
                <a:tc>
                  <a:txBody>
                    <a:bodyPr/>
                    <a:lstStyle/>
                    <a:p>
                      <a:pPr algn="l">
                        <a:buNone/>
                      </a:pPr>
                      <a:r>
                        <a:rPr lang="en-US" sz="1600" b="0">
                          <a:effectLst/>
                        </a:rPr>
                        <a:t>All three, fused</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tc>
                  <a:txBody>
                    <a:bodyPr/>
                    <a:lstStyle/>
                    <a:p>
                      <a:pPr algn="ctr">
                        <a:buNone/>
                      </a:pPr>
                      <a:r>
                        <a:rPr lang="en-US" sz="1600" b="0">
                          <a:effectLst/>
                        </a:rPr>
                        <a:t>0.8169</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tc>
                  <a:txBody>
                    <a:bodyPr/>
                    <a:lstStyle/>
                    <a:p>
                      <a:pPr algn="ctr">
                        <a:buNone/>
                      </a:pPr>
                      <a:r>
                        <a:rPr lang="en-US" sz="1600" b="0">
                          <a:effectLst/>
                        </a:rPr>
                        <a:t>0.8131 </a:t>
                      </a:r>
                      <a:r>
                        <a:rPr lang="en-US" sz="1600" b="0" i="1">
                          <a:effectLst/>
                        </a:rPr>
                        <a:t>(0.6830)</a:t>
                      </a:r>
                      <a:endParaRPr lang="en-US" sz="1600" b="0">
                        <a:effectLst/>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tc>
                  <a:txBody>
                    <a:bodyPr/>
                    <a:lstStyle/>
                    <a:p>
                      <a:pPr algn="ctr">
                        <a:buNone/>
                      </a:pPr>
                      <a:r>
                        <a:rPr lang="en-US" sz="1600" b="0">
                          <a:effectLst/>
                        </a:rPr>
                        <a:t>0.9432</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tc>
                  <a:txBody>
                    <a:bodyPr/>
                    <a:lstStyle/>
                    <a:p>
                      <a:pPr algn="ctr">
                        <a:buNone/>
                      </a:pPr>
                      <a:r>
                        <a:rPr lang="en-US" sz="1600" b="0" dirty="0">
                          <a:effectLst/>
                        </a:rPr>
                        <a:t>0.7857</a:t>
                      </a: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extLst>
                  <a:ext uri="{0D108BD9-81ED-4DB2-BD59-A6C34878D82A}">
                    <a16:rowId xmlns:a16="http://schemas.microsoft.com/office/drawing/2014/main" val="10005"/>
                  </a:ext>
                </a:extLst>
              </a:tr>
            </a:tbl>
          </a:graphicData>
        </a:graphic>
      </p:graphicFrame>
      <p:sp>
        <p:nvSpPr>
          <p:cNvPr id="93" name="Text 3"/>
          <p:cNvSpPr/>
          <p:nvPr/>
        </p:nvSpPr>
        <p:spPr>
          <a:xfrm>
            <a:off x="548640" y="5200320"/>
            <a:ext cx="6948720" cy="73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16000" indent="-216000" defTabSz="914400">
              <a:lnSpc>
                <a:spcPct val="100000"/>
              </a:lnSpc>
              <a:buClr>
                <a:srgbClr val="3B4A41"/>
              </a:buClr>
              <a:buSzPct val="45000"/>
              <a:buFont typeface="Wingdings" charset="2"/>
              <a:buChar char=""/>
              <a:tabLst>
                <a:tab pos="0" algn="l"/>
              </a:tabLst>
            </a:pPr>
            <a:r>
              <a:rPr lang="en-US" sz="1600" b="1" u="none" strike="noStrike" dirty="0">
                <a:solidFill>
                  <a:srgbClr val="3B4A41"/>
                </a:solidFill>
                <a:effectLst/>
                <a:uFillTx/>
                <a:latin typeface="Calibri"/>
              </a:rPr>
              <a:t>Metrics:</a:t>
            </a:r>
            <a:endParaRPr lang="en-ZA" sz="1600" b="0" u="none" strike="noStrike" dirty="0">
              <a:solidFill>
                <a:srgbClr val="000000"/>
              </a:solidFill>
              <a:effectLst/>
              <a:uFillTx/>
              <a:latin typeface="Arial"/>
            </a:endParaRPr>
          </a:p>
          <a:p>
            <a:pPr marL="216000" indent="-216000" defTabSz="914400">
              <a:lnSpc>
                <a:spcPct val="100000"/>
              </a:lnSpc>
              <a:buClr>
                <a:srgbClr val="3B4A41"/>
              </a:buClr>
              <a:buSzPct val="45000"/>
              <a:buFont typeface="Wingdings" charset="2"/>
              <a:buChar char=""/>
              <a:tabLst>
                <a:tab pos="0" algn="l"/>
              </a:tabLst>
            </a:pPr>
            <a:r>
              <a:rPr lang="en-US" sz="1300" b="1" u="none" strike="noStrike" dirty="0">
                <a:solidFill>
                  <a:srgbClr val="3B4A41"/>
                </a:solidFill>
                <a:effectLst/>
                <a:uFillTx/>
                <a:latin typeface="Calibri"/>
              </a:rPr>
              <a:t>BAKS</a:t>
            </a:r>
            <a:r>
              <a:rPr lang="en-US" sz="1300" b="0" u="none" strike="noStrike" dirty="0">
                <a:solidFill>
                  <a:srgbClr val="3B4A41"/>
                </a:solidFill>
                <a:effectLst/>
                <a:uFillTx/>
                <a:latin typeface="Calibri"/>
              </a:rPr>
              <a:t>: balanced accuracy on known animals. </a:t>
            </a:r>
            <a:endParaRPr lang="en-ZA" sz="1300" b="0" u="none" strike="noStrike" dirty="0">
              <a:solidFill>
                <a:srgbClr val="000000"/>
              </a:solidFill>
              <a:effectLst/>
              <a:uFillTx/>
              <a:latin typeface="Arial"/>
            </a:endParaRPr>
          </a:p>
          <a:p>
            <a:pPr marL="216000" indent="-216000" defTabSz="914400">
              <a:lnSpc>
                <a:spcPct val="100000"/>
              </a:lnSpc>
              <a:buClr>
                <a:srgbClr val="3B4A41"/>
              </a:buClr>
              <a:buSzPct val="45000"/>
              <a:buFont typeface="Wingdings" charset="2"/>
              <a:buChar char=""/>
              <a:tabLst>
                <a:tab pos="0" algn="l"/>
              </a:tabLst>
            </a:pPr>
            <a:r>
              <a:rPr lang="en-US" sz="1300" b="1" u="none" strike="noStrike" dirty="0">
                <a:solidFill>
                  <a:srgbClr val="3B4A41"/>
                </a:solidFill>
                <a:effectLst/>
                <a:uFillTx/>
                <a:latin typeface="Calibri"/>
              </a:rPr>
              <a:t>BAUS</a:t>
            </a:r>
            <a:r>
              <a:rPr lang="en-US" sz="1300" b="0" u="none" strike="noStrike" dirty="0">
                <a:solidFill>
                  <a:srgbClr val="3B4A41"/>
                </a:solidFill>
                <a:effectLst/>
                <a:uFillTx/>
                <a:latin typeface="Calibri"/>
              </a:rPr>
              <a:t>: unknown animals correctly called “new”. </a:t>
            </a:r>
            <a:endParaRPr lang="en-ZA" sz="1300" b="0" u="none" strike="noStrike" dirty="0">
              <a:solidFill>
                <a:srgbClr val="000000"/>
              </a:solidFill>
              <a:effectLst/>
              <a:uFillTx/>
              <a:latin typeface="Arial"/>
            </a:endParaRPr>
          </a:p>
          <a:p>
            <a:pPr marL="216000" indent="-216000" defTabSz="914400">
              <a:lnSpc>
                <a:spcPct val="100000"/>
              </a:lnSpc>
              <a:buClr>
                <a:srgbClr val="3B4A41"/>
              </a:buClr>
              <a:buSzPct val="45000"/>
              <a:buFont typeface="Wingdings" charset="2"/>
              <a:buChar char=""/>
              <a:tabLst>
                <a:tab pos="0" algn="l"/>
              </a:tabLst>
            </a:pPr>
            <a:r>
              <a:rPr lang="en-US" sz="1300" b="1" u="none" strike="noStrike" dirty="0">
                <a:solidFill>
                  <a:srgbClr val="3B4A41"/>
                </a:solidFill>
                <a:effectLst/>
                <a:uFillTx/>
                <a:latin typeface="Calibri"/>
              </a:rPr>
              <a:t>Open score</a:t>
            </a:r>
            <a:r>
              <a:rPr lang="en-US" sz="1300" b="0" u="none" strike="noStrike" dirty="0">
                <a:solidFill>
                  <a:srgbClr val="3B4A41"/>
                </a:solidFill>
                <a:effectLst/>
                <a:uFillTx/>
                <a:latin typeface="Calibri"/>
              </a:rPr>
              <a:t> = (BAKS + BAUS) / 2.</a:t>
            </a:r>
            <a:endParaRPr lang="en-ZA" sz="1300" b="0" u="none" strike="noStrike" dirty="0">
              <a:solidFill>
                <a:srgbClr val="000000"/>
              </a:solidFill>
              <a:effectLst/>
              <a:uFillTx/>
              <a:latin typeface="Arial"/>
            </a:endParaRPr>
          </a:p>
          <a:p>
            <a:pPr marL="216000" indent="-216000" defTabSz="914400">
              <a:lnSpc>
                <a:spcPct val="100000"/>
              </a:lnSpc>
              <a:buClr>
                <a:srgbClr val="3B4A41"/>
              </a:buClr>
              <a:buSzPct val="45000"/>
              <a:buFont typeface="Wingdings" charset="2"/>
              <a:buChar char=""/>
              <a:tabLst>
                <a:tab pos="0" algn="l"/>
              </a:tabLst>
            </a:pPr>
            <a:r>
              <a:rPr lang="en-US" sz="1300" b="1" u="none" strike="noStrike" dirty="0">
                <a:solidFill>
                  <a:srgbClr val="3B4A41"/>
                </a:solidFill>
                <a:effectLst/>
                <a:uFillTx/>
                <a:latin typeface="Calibri"/>
              </a:rPr>
              <a:t>* Reduced validation subset (200 queries); other rows are the full test split. Local branch is preliminary.</a:t>
            </a:r>
            <a:endParaRPr lang="en-ZA" sz="1300" b="0" u="none" strike="noStrike" dirty="0">
              <a:solidFill>
                <a:srgbClr val="000000"/>
              </a:solidFill>
              <a:effectLst/>
              <a:uFillTx/>
              <a:latin typeface="Arial"/>
            </a:endParaRPr>
          </a:p>
        </p:txBody>
      </p:sp>
      <p:sp>
        <p:nvSpPr>
          <p:cNvPr id="3" name="Shape 4">
            <a:extLst>
              <a:ext uri="{FF2B5EF4-FFF2-40B4-BE49-F238E27FC236}">
                <a16:creationId xmlns:a16="http://schemas.microsoft.com/office/drawing/2014/main" id="{381556B4-6FD5-8283-86D1-46A7DF450DF8}"/>
              </a:ext>
            </a:extLst>
          </p:cNvPr>
          <p:cNvSpPr/>
          <p:nvPr/>
        </p:nvSpPr>
        <p:spPr>
          <a:xfrm>
            <a:off x="7863840" y="1463040"/>
            <a:ext cx="3748680" cy="2102760"/>
          </a:xfrm>
          <a:prstGeom prst="roundRect">
            <a:avLst>
              <a:gd name="adj" fmla="val 5217"/>
            </a:avLst>
          </a:prstGeom>
          <a:solidFill>
            <a:srgbClr val="FFFFFF"/>
          </a:solidFill>
          <a:ln w="19050">
            <a:solidFill>
              <a:srgbClr val="8FA698"/>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5" name="Text 5">
            <a:extLst>
              <a:ext uri="{FF2B5EF4-FFF2-40B4-BE49-F238E27FC236}">
                <a16:creationId xmlns:a16="http://schemas.microsoft.com/office/drawing/2014/main" id="{FCCCE9FA-8F0E-2FD2-CD25-0CC6D434FFA2}"/>
              </a:ext>
            </a:extLst>
          </p:cNvPr>
          <p:cNvSpPr/>
          <p:nvPr/>
        </p:nvSpPr>
        <p:spPr>
          <a:xfrm>
            <a:off x="8046720" y="2103120"/>
            <a:ext cx="3382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dirty="0">
                <a:solidFill>
                  <a:srgbClr val="14231C"/>
                </a:solidFill>
                <a:effectLst/>
                <a:uFillTx/>
                <a:latin typeface="Calibri"/>
              </a:rPr>
              <a:t>Plot: BAKS and BAUS vs τ</a:t>
            </a:r>
            <a:endParaRPr lang="en-ZA" sz="1800" b="0" u="none" strike="noStrike" dirty="0">
              <a:solidFill>
                <a:srgbClr val="000000"/>
              </a:solidFill>
              <a:effectLst/>
              <a:uFillTx/>
              <a:latin typeface="Arial"/>
            </a:endParaRPr>
          </a:p>
        </p:txBody>
      </p:sp>
      <p:sp>
        <p:nvSpPr>
          <p:cNvPr id="7" name="Shape 7">
            <a:extLst>
              <a:ext uri="{FF2B5EF4-FFF2-40B4-BE49-F238E27FC236}">
                <a16:creationId xmlns:a16="http://schemas.microsoft.com/office/drawing/2014/main" id="{F22E0AA9-A6DD-DADD-7847-1F13BA5D244D}"/>
              </a:ext>
            </a:extLst>
          </p:cNvPr>
          <p:cNvSpPr/>
          <p:nvPr/>
        </p:nvSpPr>
        <p:spPr>
          <a:xfrm>
            <a:off x="7863840" y="3749040"/>
            <a:ext cx="3748680" cy="2102760"/>
          </a:xfrm>
          <a:prstGeom prst="roundRect">
            <a:avLst>
              <a:gd name="adj" fmla="val 5217"/>
            </a:avLst>
          </a:prstGeom>
          <a:solidFill>
            <a:srgbClr val="FFFFFF"/>
          </a:solidFill>
          <a:ln w="19050">
            <a:solidFill>
              <a:srgbClr val="8FA698"/>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ZA" sz="1800" b="0" u="none" strike="noStrike">
              <a:solidFill>
                <a:srgbClr val="000000"/>
              </a:solidFill>
              <a:effectLst/>
              <a:uFillTx/>
              <a:latin typeface="Arial"/>
            </a:endParaRPr>
          </a:p>
        </p:txBody>
      </p:sp>
      <p:sp>
        <p:nvSpPr>
          <p:cNvPr id="9" name="Text 8">
            <a:extLst>
              <a:ext uri="{FF2B5EF4-FFF2-40B4-BE49-F238E27FC236}">
                <a16:creationId xmlns:a16="http://schemas.microsoft.com/office/drawing/2014/main" id="{6B3343C2-C198-B315-0732-837CA5E86D07}"/>
              </a:ext>
            </a:extLst>
          </p:cNvPr>
          <p:cNvSpPr/>
          <p:nvPr/>
        </p:nvSpPr>
        <p:spPr>
          <a:xfrm>
            <a:off x="8046720" y="4389120"/>
            <a:ext cx="33829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dirty="0">
                <a:solidFill>
                  <a:srgbClr val="14231C"/>
                </a:solidFill>
                <a:effectLst/>
                <a:uFillTx/>
                <a:latin typeface="Calibri"/>
              </a:rPr>
              <a:t>Plot: PCA dimension sweep</a:t>
            </a:r>
            <a:endParaRPr lang="en-ZA" sz="1800" b="0" u="none" strike="noStrike" dirty="0">
              <a:solidFill>
                <a:srgbClr val="000000"/>
              </a:solidFill>
              <a:effectLst/>
              <a:uFillTx/>
              <a:latin typeface="Arial"/>
            </a:endParaRPr>
          </a:p>
        </p:txBody>
      </p:sp>
      <p:sp>
        <p:nvSpPr>
          <p:cNvPr id="11" name="Text 9">
            <a:extLst>
              <a:ext uri="{FF2B5EF4-FFF2-40B4-BE49-F238E27FC236}">
                <a16:creationId xmlns:a16="http://schemas.microsoft.com/office/drawing/2014/main" id="{B6B238D0-2198-11D4-ACCD-01CA2738B19B}"/>
              </a:ext>
            </a:extLst>
          </p:cNvPr>
          <p:cNvSpPr/>
          <p:nvPr/>
        </p:nvSpPr>
        <p:spPr>
          <a:xfrm>
            <a:off x="8046720" y="4846320"/>
            <a:ext cx="33829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u="none" strike="noStrike" dirty="0">
                <a:solidFill>
                  <a:srgbClr val="3B4A41"/>
                </a:solidFill>
                <a:effectLst/>
                <a:uFillTx/>
                <a:latin typeface="Calibri"/>
              </a:rPr>
              <a:t>32 to 512 dimensions vs uncompressed</a:t>
            </a:r>
            <a:endParaRPr lang="en-ZA" sz="1300" b="0" u="none" strike="noStrike" dirty="0">
              <a:solidFill>
                <a:srgbClr val="000000"/>
              </a:solidFill>
              <a:effectLst/>
              <a:uFillTx/>
              <a:latin typeface="Arial"/>
            </a:endParaRPr>
          </a:p>
        </p:txBody>
      </p:sp>
      <p:pic>
        <p:nvPicPr>
          <p:cNvPr id="13" name="Picture 12">
            <a:extLst>
              <a:ext uri="{FF2B5EF4-FFF2-40B4-BE49-F238E27FC236}">
                <a16:creationId xmlns:a16="http://schemas.microsoft.com/office/drawing/2014/main" id="{54895556-4163-89B1-ED2C-51CB454C24DC}"/>
              </a:ext>
            </a:extLst>
          </p:cNvPr>
          <p:cNvPicPr>
            <a:picLocks noChangeAspect="1"/>
          </p:cNvPicPr>
          <p:nvPr/>
        </p:nvPicPr>
        <p:blipFill>
          <a:blip r:embed="rId3"/>
          <a:stretch>
            <a:fillRect/>
          </a:stretch>
        </p:blipFill>
        <p:spPr>
          <a:xfrm>
            <a:off x="7863840" y="1303867"/>
            <a:ext cx="3815172" cy="2333987"/>
          </a:xfrm>
          <a:prstGeom prst="rect">
            <a:avLst/>
          </a:prstGeom>
        </p:spPr>
      </p:pic>
      <p:pic>
        <p:nvPicPr>
          <p:cNvPr id="15" name="Picture 14">
            <a:extLst>
              <a:ext uri="{FF2B5EF4-FFF2-40B4-BE49-F238E27FC236}">
                <a16:creationId xmlns:a16="http://schemas.microsoft.com/office/drawing/2014/main" id="{EEDAC48F-23F8-4E79-25FB-0305FBAEFAFA}"/>
              </a:ext>
            </a:extLst>
          </p:cNvPr>
          <p:cNvPicPr>
            <a:picLocks noChangeAspect="1"/>
          </p:cNvPicPr>
          <p:nvPr/>
        </p:nvPicPr>
        <p:blipFill>
          <a:blip r:embed="rId4"/>
          <a:stretch>
            <a:fillRect/>
          </a:stretch>
        </p:blipFill>
        <p:spPr>
          <a:xfrm>
            <a:off x="7863479" y="3732323"/>
            <a:ext cx="3748679" cy="22492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Title"/>
          <p:cNvSpPr/>
          <p:nvPr/>
        </p:nvSpPr>
        <p:spPr>
          <a:xfrm>
            <a:off x="548640" y="365760"/>
            <a:ext cx="1106352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u="none" strike="noStrike">
                <a:solidFill>
                  <a:schemeClr val="dk1"/>
                </a:solidFill>
                <a:effectLst/>
                <a:uFillTx/>
                <a:latin typeface="Cambria"/>
                <a:ea typeface="Cambria"/>
              </a:rPr>
              <a:t>Conclusion and ablation</a:t>
            </a:r>
            <a:endParaRPr lang="en-ZA" sz="3800" b="0" u="none" strike="noStrike">
              <a:solidFill>
                <a:srgbClr val="000000"/>
              </a:solidFill>
              <a:effectLst/>
              <a:uFillTx/>
              <a:latin typeface="Arial"/>
            </a:endParaRPr>
          </a:p>
        </p:txBody>
      </p:sp>
      <p:sp>
        <p:nvSpPr>
          <p:cNvPr id="103" name="PageNo"/>
          <p:cNvSpPr/>
          <p:nvPr/>
        </p:nvSpPr>
        <p:spPr>
          <a:xfrm>
            <a:off x="10698480" y="6400800"/>
            <a:ext cx="9136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a:solidFill>
                  <a:srgbClr val="5B7F6B"/>
                </a:solidFill>
                <a:effectLst/>
                <a:uFillTx/>
                <a:latin typeface="Calibri"/>
              </a:rPr>
              <a:t>5 / 5</a:t>
            </a:r>
            <a:endParaRPr lang="en-ZA" sz="1100" b="0" u="none" strike="noStrike">
              <a:solidFill>
                <a:srgbClr val="000000"/>
              </a:solidFill>
              <a:effectLst/>
              <a:uFillTx/>
              <a:latin typeface="Arial"/>
            </a:endParaRPr>
          </a:p>
        </p:txBody>
      </p:sp>
      <p:sp>
        <p:nvSpPr>
          <p:cNvPr id="104" name="Text 3"/>
          <p:cNvSpPr/>
          <p:nvPr/>
        </p:nvSpPr>
        <p:spPr>
          <a:xfrm>
            <a:off x="548640" y="1463040"/>
            <a:ext cx="4479840" cy="137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600" b="1" u="none" strike="noStrike">
                <a:solidFill>
                  <a:srgbClr val="2C5F2D"/>
                </a:solidFill>
                <a:effectLst/>
                <a:uFillTx/>
                <a:latin typeface="Cambria"/>
                <a:ea typeface="Cambria"/>
              </a:rPr>
              <a:t>Different evidence fails in different ways, so we fuse it.</a:t>
            </a:r>
            <a:endParaRPr lang="en-ZA" sz="2600" b="0" u="none" strike="noStrike">
              <a:solidFill>
                <a:srgbClr val="000000"/>
              </a:solidFill>
              <a:effectLst/>
              <a:uFillTx/>
              <a:latin typeface="Arial"/>
            </a:endParaRPr>
          </a:p>
        </p:txBody>
      </p:sp>
      <p:sp>
        <p:nvSpPr>
          <p:cNvPr id="105" name="Text 4"/>
          <p:cNvSpPr/>
          <p:nvPr/>
        </p:nvSpPr>
        <p:spPr>
          <a:xfrm>
            <a:off x="548640" y="3017520"/>
            <a:ext cx="4479840" cy="2376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00000"/>
              </a:lnSpc>
              <a:spcAft>
                <a:spcPts val="1001"/>
              </a:spcAft>
              <a:buClr>
                <a:srgbClr val="3B4A41"/>
              </a:buClr>
              <a:buFont typeface="Symbol" charset="2"/>
              <a:buChar char=""/>
            </a:pPr>
            <a:r>
              <a:rPr lang="en-US" sz="1600" b="0" u="none" strike="noStrike">
                <a:solidFill>
                  <a:srgbClr val="3B4A41"/>
                </a:solidFill>
                <a:effectLst/>
                <a:uFillTx/>
                <a:latin typeface="Calibri"/>
              </a:rPr>
              <a:t>Calibration makes unlike scores comparable</a:t>
            </a:r>
            <a:endParaRPr lang="en-ZA" sz="1600" b="0" u="none" strike="noStrike">
              <a:solidFill>
                <a:srgbClr val="000000"/>
              </a:solidFill>
              <a:effectLst/>
              <a:uFillTx/>
              <a:latin typeface="Arial"/>
            </a:endParaRPr>
          </a:p>
          <a:p>
            <a:pPr marL="343080" indent="-343080" defTabSz="914400">
              <a:lnSpc>
                <a:spcPct val="100000"/>
              </a:lnSpc>
              <a:spcAft>
                <a:spcPts val="1001"/>
              </a:spcAft>
              <a:buClr>
                <a:srgbClr val="3B4A41"/>
              </a:buClr>
              <a:buFont typeface="Symbol" charset="2"/>
              <a:buChar char=""/>
            </a:pPr>
            <a:r>
              <a:rPr lang="en-US" sz="1600" b="0" u="none" strike="noStrike">
                <a:solidFill>
                  <a:srgbClr val="3B4A41"/>
                </a:solidFill>
                <a:effectLst/>
                <a:uFillTx/>
                <a:latin typeface="Calibri"/>
              </a:rPr>
              <a:t>Local matching runs only on a shortlist, so it stays affordable</a:t>
            </a:r>
            <a:endParaRPr lang="en-ZA" sz="1600" b="0" u="none" strike="noStrike">
              <a:solidFill>
                <a:srgbClr val="000000"/>
              </a:solidFill>
              <a:effectLst/>
              <a:uFillTx/>
              <a:latin typeface="Arial"/>
            </a:endParaRPr>
          </a:p>
          <a:p>
            <a:pPr marL="343080" indent="-343080" defTabSz="914400">
              <a:lnSpc>
                <a:spcPct val="100000"/>
              </a:lnSpc>
              <a:spcAft>
                <a:spcPts val="1001"/>
              </a:spcAft>
              <a:buClr>
                <a:srgbClr val="3B4A41"/>
              </a:buClr>
              <a:buFont typeface="Symbol" charset="2"/>
              <a:buChar char=""/>
            </a:pPr>
            <a:r>
              <a:rPr lang="en-US" sz="1600" b="0" u="none" strike="noStrike">
                <a:solidFill>
                  <a:srgbClr val="3B4A41"/>
                </a:solidFill>
                <a:effectLst/>
                <a:uFillTx/>
                <a:latin typeface="Calibri"/>
              </a:rPr>
              <a:t>One threshold τ separates known from new animals</a:t>
            </a:r>
            <a:endParaRPr lang="en-ZA" sz="1600" b="0" u="none" strike="noStrike">
              <a:solidFill>
                <a:srgbClr val="000000"/>
              </a:solidFill>
              <a:effectLst/>
              <a:uFillTx/>
              <a:latin typeface="Arial"/>
            </a:endParaRPr>
          </a:p>
        </p:txBody>
      </p:sp>
      <p:graphicFrame>
        <p:nvGraphicFramePr>
          <p:cNvPr id="106" name="Table 0"/>
          <p:cNvGraphicFramePr/>
          <p:nvPr/>
        </p:nvGraphicFramePr>
        <p:xfrm>
          <a:off x="5486400" y="1463040"/>
          <a:ext cx="6126480" cy="4003920"/>
        </p:xfrm>
        <a:graphic>
          <a:graphicData uri="http://schemas.openxmlformats.org/drawingml/2006/table">
            <a:tbl>
              <a:tblPr/>
              <a:tblGrid>
                <a:gridCol w="21945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66640">
                <a:tc>
                  <a:txBody>
                    <a:bodyPr/>
                    <a:lstStyle/>
                    <a:p>
                      <a:pPr defTabSz="914400">
                        <a:lnSpc>
                          <a:spcPct val="100000"/>
                        </a:lnSpc>
                        <a:tabLst>
                          <a:tab pos="0" algn="l"/>
                        </a:tabLst>
                      </a:pPr>
                      <a:r>
                        <a:rPr lang="en-US" sz="1600" b="1" u="none" strike="noStrike">
                          <a:solidFill>
                            <a:srgbClr val="FFFFFF"/>
                          </a:solidFill>
                          <a:effectLst/>
                          <a:uFillTx/>
                          <a:latin typeface="Calibri"/>
                        </a:rPr>
                        <a:t>Configuration</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2C5F2D"/>
                    </a:solidFill>
                  </a:tcPr>
                </a:tc>
                <a:tc>
                  <a:txBody>
                    <a:bodyPr/>
                    <a:lstStyle/>
                    <a:p>
                      <a:pPr defTabSz="914400">
                        <a:lnSpc>
                          <a:spcPct val="100000"/>
                        </a:lnSpc>
                        <a:tabLst>
                          <a:tab pos="0" algn="l"/>
                        </a:tabLst>
                      </a:pPr>
                      <a:r>
                        <a:rPr lang="en-US" sz="1600" b="1" u="none" strike="noStrike">
                          <a:solidFill>
                            <a:srgbClr val="FFFFFF"/>
                          </a:solidFill>
                          <a:effectLst/>
                          <a:uFillTx/>
                          <a:latin typeface="Calibri"/>
                        </a:rPr>
                        <a:t>What it tells us</a:t>
                      </a:r>
                      <a:endParaRPr lang="en-ZA" sz="1600" b="0" u="none" strike="noStrike">
                        <a:solidFill>
                          <a:srgbClr val="FFFFFF"/>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2C5F2D"/>
                    </a:solidFill>
                  </a:tcPr>
                </a:tc>
                <a:extLst>
                  <a:ext uri="{0D108BD9-81ED-4DB2-BD59-A6C34878D82A}">
                    <a16:rowId xmlns:a16="http://schemas.microsoft.com/office/drawing/2014/main" val="10000"/>
                  </a:ext>
                </a:extLst>
              </a:tr>
              <a:tr h="566640">
                <a:tc>
                  <a:txBody>
                    <a:bodyPr/>
                    <a:lstStyle/>
                    <a:p>
                      <a:pPr defTabSz="914400">
                        <a:lnSpc>
                          <a:spcPct val="100000"/>
                        </a:lnSpc>
                        <a:tabLst>
                          <a:tab pos="0" algn="l"/>
                        </a:tabLst>
                      </a:pPr>
                      <a:r>
                        <a:rPr lang="en-US" sz="1600" b="0" u="none" strike="noStrike">
                          <a:solidFill>
                            <a:srgbClr val="14231C"/>
                          </a:solidFill>
                          <a:effectLst/>
                          <a:uFillTx/>
                          <a:latin typeface="Calibri"/>
                        </a:rPr>
                        <a:t>Global alone</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defTabSz="914400">
                        <a:lnSpc>
                          <a:spcPct val="100000"/>
                        </a:lnSpc>
                        <a:tabLst>
                          <a:tab pos="0" algn="l"/>
                        </a:tabLst>
                      </a:pPr>
                      <a:r>
                        <a:rPr lang="en-US" sz="1600" b="0" u="none" strike="noStrike">
                          <a:solidFill>
                            <a:srgbClr val="14231C"/>
                          </a:solidFill>
                          <a:effectLst/>
                          <a:uFillTx/>
                          <a:latin typeface="Calibri"/>
                        </a:rPr>
                        <a:t>Fine-tuned model carries the system: 81.1 BAKS, 73.3 open</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extLst>
                  <a:ext uri="{0D108BD9-81ED-4DB2-BD59-A6C34878D82A}">
                    <a16:rowId xmlns:a16="http://schemas.microsoft.com/office/drawing/2014/main" val="10001"/>
                  </a:ext>
                </a:extLst>
              </a:tr>
              <a:tr h="566640">
                <a:tc>
                  <a:txBody>
                    <a:bodyPr/>
                    <a:lstStyle/>
                    <a:p>
                      <a:pPr defTabSz="914400">
                        <a:lnSpc>
                          <a:spcPct val="100000"/>
                        </a:lnSpc>
                        <a:tabLst>
                          <a:tab pos="0" algn="l"/>
                        </a:tabLst>
                      </a:pPr>
                      <a:r>
                        <a:rPr lang="en-US" sz="1600" b="0" u="none" strike="noStrike">
                          <a:solidFill>
                            <a:srgbClr val="14231C"/>
                          </a:solidFill>
                          <a:effectLst/>
                          <a:uFillTx/>
                          <a:latin typeface="Calibri"/>
                        </a:rPr>
                        <a:t>EVA02 alone</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defTabSz="914400">
                        <a:lnSpc>
                          <a:spcPct val="100000"/>
                        </a:lnSpc>
                        <a:tabLst>
                          <a:tab pos="0" algn="l"/>
                        </a:tabLst>
                      </a:pPr>
                      <a:r>
                        <a:rPr lang="en-US" sz="1600" b="0" u="none" strike="noStrike">
                          <a:solidFill>
                            <a:srgbClr val="14231C"/>
                          </a:solidFill>
                          <a:effectLst/>
                          <a:uFillTx/>
                          <a:latin typeface="Calibri"/>
                        </a:rPr>
                        <a:t>Weak alone: 42.7 BAKS, 50.4 open (about reject-all)</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extLst>
                  <a:ext uri="{0D108BD9-81ED-4DB2-BD59-A6C34878D82A}">
                    <a16:rowId xmlns:a16="http://schemas.microsoft.com/office/drawing/2014/main" val="10002"/>
                  </a:ext>
                </a:extLst>
              </a:tr>
              <a:tr h="566640">
                <a:tc>
                  <a:txBody>
                    <a:bodyPr/>
                    <a:lstStyle/>
                    <a:p>
                      <a:pPr defTabSz="914400">
                        <a:lnSpc>
                          <a:spcPct val="100000"/>
                        </a:lnSpc>
                        <a:tabLst>
                          <a:tab pos="0" algn="l"/>
                        </a:tabLst>
                      </a:pPr>
                      <a:r>
                        <a:rPr lang="en-US" sz="1600" b="0" u="none" strike="noStrike">
                          <a:solidFill>
                            <a:srgbClr val="14231C"/>
                          </a:solidFill>
                          <a:effectLst/>
                          <a:uFillTx/>
                          <a:latin typeface="Calibri"/>
                        </a:rPr>
                        <a:t>ALIKED alone</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defTabSz="914400">
                        <a:lnSpc>
                          <a:spcPct val="100000"/>
                        </a:lnSpc>
                        <a:tabLst>
                          <a:tab pos="0" algn="l"/>
                        </a:tabLst>
                      </a:pPr>
                      <a:r>
                        <a:rPr lang="en-US" sz="1600" b="0" u="none" strike="noStrike">
                          <a:solidFill>
                            <a:srgbClr val="14231C"/>
                          </a:solidFill>
                          <a:effectLst/>
                          <a:uFillTx/>
                          <a:latin typeface="Calibri"/>
                        </a:rPr>
                        <a:t>Local branch alone: not run separately</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extLst>
                  <a:ext uri="{0D108BD9-81ED-4DB2-BD59-A6C34878D82A}">
                    <a16:rowId xmlns:a16="http://schemas.microsoft.com/office/drawing/2014/main" val="10003"/>
                  </a:ext>
                </a:extLst>
              </a:tr>
              <a:tr h="566640">
                <a:tc>
                  <a:txBody>
                    <a:bodyPr/>
                    <a:lstStyle/>
                    <a:p>
                      <a:pPr defTabSz="914400">
                        <a:lnSpc>
                          <a:spcPct val="100000"/>
                        </a:lnSpc>
                        <a:tabLst>
                          <a:tab pos="0" algn="l"/>
                        </a:tabLst>
                      </a:pPr>
                      <a:r>
                        <a:rPr lang="en-US" sz="1600" b="0" u="none" strike="noStrike">
                          <a:solidFill>
                            <a:srgbClr val="14231C"/>
                          </a:solidFill>
                          <a:effectLst/>
                          <a:uFillTx/>
                          <a:latin typeface="Calibri"/>
                        </a:rPr>
                        <a:t>Global + EVA02</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tc>
                  <a:txBody>
                    <a:bodyPr/>
                    <a:lstStyle/>
                    <a:p>
                      <a:pPr defTabSz="914400">
                        <a:lnSpc>
                          <a:spcPct val="100000"/>
                        </a:lnSpc>
                        <a:tabLst>
                          <a:tab pos="0" algn="l"/>
                        </a:tabLst>
                      </a:pPr>
                      <a:r>
                        <a:rPr lang="en-US" sz="1600" b="0" u="none" strike="noStrike">
                          <a:solidFill>
                            <a:srgbClr val="14231C"/>
                          </a:solidFill>
                          <a:effectLst/>
                          <a:uFillTx/>
                          <a:latin typeface="Calibri"/>
                        </a:rPr>
                        <a:t>Under 0.1 point change on test</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2F5F1"/>
                    </a:solidFill>
                  </a:tcPr>
                </a:tc>
                <a:extLst>
                  <a:ext uri="{0D108BD9-81ED-4DB2-BD59-A6C34878D82A}">
                    <a16:rowId xmlns:a16="http://schemas.microsoft.com/office/drawing/2014/main" val="10004"/>
                  </a:ext>
                </a:extLst>
              </a:tr>
              <a:tr h="566640">
                <a:tc>
                  <a:txBody>
                    <a:bodyPr/>
                    <a:lstStyle/>
                    <a:p>
                      <a:pPr defTabSz="914400">
                        <a:lnSpc>
                          <a:spcPct val="100000"/>
                        </a:lnSpc>
                        <a:tabLst>
                          <a:tab pos="0" algn="l"/>
                        </a:tabLst>
                      </a:pPr>
                      <a:r>
                        <a:rPr lang="en-US" sz="1600" b="0" u="none" strike="noStrike">
                          <a:solidFill>
                            <a:srgbClr val="14231C"/>
                          </a:solidFill>
                          <a:effectLst/>
                          <a:uFillTx/>
                          <a:latin typeface="Calibri"/>
                        </a:rPr>
                        <a:t>Global + ALIKED</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tc>
                  <a:txBody>
                    <a:bodyPr/>
                    <a:lstStyle/>
                    <a:p>
                      <a:pPr defTabSz="914400">
                        <a:lnSpc>
                          <a:spcPct val="100000"/>
                        </a:lnSpc>
                        <a:tabLst>
                          <a:tab pos="0" algn="l"/>
                        </a:tabLst>
                      </a:pPr>
                      <a:r>
                        <a:rPr lang="en-US" sz="1600" b="0" u="none" strike="noStrike">
                          <a:solidFill>
                            <a:srgbClr val="14231C"/>
                          </a:solidFill>
                          <a:effectLst/>
                          <a:uFillTx/>
                          <a:latin typeface="Calibri"/>
                        </a:rPr>
                        <a:t>Not run alone; added to G+EVA02: 79.0 to 81.3 open (subset)</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FFFFF"/>
                    </a:solidFill>
                  </a:tcPr>
                </a:tc>
                <a:extLst>
                  <a:ext uri="{0D108BD9-81ED-4DB2-BD59-A6C34878D82A}">
                    <a16:rowId xmlns:a16="http://schemas.microsoft.com/office/drawing/2014/main" val="10005"/>
                  </a:ext>
                </a:extLst>
              </a:tr>
              <a:tr h="566640">
                <a:tc>
                  <a:txBody>
                    <a:bodyPr/>
                    <a:lstStyle/>
                    <a:p>
                      <a:pPr defTabSz="914400">
                        <a:lnSpc>
                          <a:spcPct val="100000"/>
                        </a:lnSpc>
                        <a:tabLst>
                          <a:tab pos="0" algn="l"/>
                        </a:tabLst>
                      </a:pPr>
                      <a:r>
                        <a:rPr lang="en-US" sz="1600" b="1" u="none" strike="noStrike">
                          <a:solidFill>
                            <a:srgbClr val="14231C"/>
                          </a:solidFill>
                          <a:effectLst/>
                          <a:uFillTx/>
                          <a:latin typeface="Calibri"/>
                        </a:rPr>
                        <a:t>All three</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tc>
                  <a:txBody>
                    <a:bodyPr/>
                    <a:lstStyle/>
                    <a:p>
                      <a:pPr defTabSz="914400">
                        <a:lnSpc>
                          <a:spcPct val="100000"/>
                        </a:lnSpc>
                        <a:tabLst>
                          <a:tab pos="0" algn="l"/>
                        </a:tabLst>
                      </a:pPr>
                      <a:r>
                        <a:rPr lang="en-US" sz="1600" b="1" u="none" strike="noStrike">
                          <a:solidFill>
                            <a:srgbClr val="14231C"/>
                          </a:solidFill>
                          <a:effectLst/>
                          <a:uFillTx/>
                          <a:latin typeface="Calibri"/>
                        </a:rPr>
                        <a:t>Preliminary: 81.3 open, 94.3 BAUS (subset)</a:t>
                      </a:r>
                      <a:endParaRPr lang="en-ZA" sz="1600" b="0" u="none" strike="noStrike">
                        <a:solidFill>
                          <a:srgbClr val="000000"/>
                        </a:solidFill>
                        <a:effectLst/>
                        <a:uFillTx/>
                        <a:latin typeface="Arial"/>
                      </a:endParaRPr>
                    </a:p>
                  </a:txBody>
                  <a:tcPr anchor="ctr">
                    <a:lnL w="12240">
                      <a:solidFill>
                        <a:srgbClr val="DDE6DF"/>
                      </a:solidFill>
                      <a:prstDash val="solid"/>
                    </a:lnL>
                    <a:lnR w="12240">
                      <a:solidFill>
                        <a:srgbClr val="DDE6DF"/>
                      </a:solidFill>
                      <a:prstDash val="solid"/>
                    </a:lnR>
                    <a:lnT w="12240">
                      <a:solidFill>
                        <a:srgbClr val="DDE6DF"/>
                      </a:solidFill>
                      <a:prstDash val="solid"/>
                    </a:lnT>
                    <a:lnB w="12240">
                      <a:solidFill>
                        <a:srgbClr val="DDE6DF"/>
                      </a:solidFill>
                      <a:prstDash val="solid"/>
                    </a:lnB>
                    <a:solidFill>
                      <a:srgbClr val="FBF1DC"/>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WildlifeReID">
  <a:themeElements>
    <a:clrScheme name="WildlifeReID">
      <a:dk1>
        <a:srgbClr val="14231C"/>
      </a:dk1>
      <a:lt1>
        <a:srgbClr val="FFFFFF"/>
      </a:lt1>
      <a:dk2>
        <a:srgbClr val="2C5F2D"/>
      </a:dk2>
      <a:lt2>
        <a:srgbClr val="F2F5F1"/>
      </a:lt2>
      <a:accent1>
        <a:srgbClr val="2C5F2D"/>
      </a:accent1>
      <a:accent2>
        <a:srgbClr val="C98A1B"/>
      </a:accent2>
      <a:accent3>
        <a:srgbClr val="5B7F6B"/>
      </a:accent3>
      <a:accent4>
        <a:srgbClr val="8FA698"/>
      </a:accent4>
      <a:accent5>
        <a:srgbClr val="E8EFE9"/>
      </a:accent5>
      <a:accent6>
        <a:srgbClr val="FBF1DC"/>
      </a:accent6>
      <a:hlink>
        <a:srgbClr val="2C5F2D"/>
      </a:hlink>
      <a:folHlink>
        <a:srgbClr val="5B7F6B"/>
      </a:folHlink>
    </a:clrScheme>
    <a:fontScheme name="WildlifeReID">
      <a:majorFont>
        <a:latin typeface="Cambria"/>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TotalTime>
  <Words>1231</Words>
  <Application>Microsoft Office PowerPoint</Application>
  <PresentationFormat>Widescreen</PresentationFormat>
  <Paragraphs>127</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Cambria</vt:lpstr>
      <vt:lpstr>Symbol</vt:lpstr>
      <vt:lpstr>Times New Roman</vt:lpstr>
      <vt:lpstr>Wingdings</vt:lpstr>
      <vt:lpstr>WildlifeReID</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Zimba.D (Denzel) (Straighthrough)</cp:lastModifiedBy>
  <cp:revision>4</cp:revision>
  <dcterms:created xsi:type="dcterms:W3CDTF">2026-10-18T16:19:03Z</dcterms:created>
  <dcterms:modified xsi:type="dcterms:W3CDTF">2026-10-18T21:53:01Z</dcterms:modified>
  <dc:language>en-ZA</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