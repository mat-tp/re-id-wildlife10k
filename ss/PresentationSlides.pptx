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r>
              <a:rPr lang="en-ZA" sz="1800" b="0" u="none" strike="noStrike">
                <a:solidFill>
                  <a:schemeClr val="dk1"/>
                </a:solidFill>
                <a:effectLst/>
                <a:uFillTx/>
                <a:latin typeface="Calibri"/>
              </a:rPr>
              <a:t>Click to move the slide</a:t>
            </a:r>
            <a:endParaRPr lang="en-ZA" sz="1800" b="0" u="none" strike="noStrike">
              <a:solidFill>
                <a:schemeClr val="dk1"/>
              </a:solidFill>
              <a:effectLst/>
              <a:uFillTx/>
              <a:latin typeface="Calibri"/>
            </a:endParaRP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ZA" sz="2000" b="0" u="none" strike="noStrike">
                <a:solidFill>
                  <a:srgbClr val="000000"/>
                </a:solidFill>
                <a:effectLst/>
                <a:uFillTx/>
                <a:latin typeface="Arial"/>
              </a:rPr>
              <a:t>Click to edit the notes format</a:t>
            </a:r>
            <a:endParaRPr lang="en-ZA" sz="2000" b="0" u="none" strike="noStrike">
              <a:solidFill>
                <a:srgbClr val="000000"/>
              </a:solidFill>
              <a:effectLst/>
              <a:uFillTx/>
              <a:latin typeface="Arial"/>
            </a:endParaRPr>
          </a:p>
        </p:txBody>
      </p:sp>
      <p:sp>
        <p:nvSpPr>
          <p:cNvPr id="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ZA" sz="1400" b="0" u="none" strike="noStrike">
                <a:solidFill>
                  <a:srgbClr val="000000"/>
                </a:solidFill>
                <a:effectLst/>
                <a:uFillTx/>
                <a:latin typeface="Times New Roman"/>
              </a:rPr>
              <a:t> </a:t>
            </a:r>
            <a:endParaRPr lang="en-ZA"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ZA" sz="1400" b="0" u="none" strike="noStrike">
                <a:solidFill>
                  <a:srgbClr val="000000"/>
                </a:solidFill>
                <a:effectLst/>
                <a:uFillTx/>
                <a:latin typeface="Times New Roman"/>
              </a:defRPr>
            </a:lvl1pPr>
          </a:lstStyle>
          <a:p>
            <a:pPr indent="0" algn="r">
              <a:buNone/>
            </a:pPr>
            <a:r>
              <a:rPr lang="en-ZA" sz="1400" b="0" u="none" strike="noStrike">
                <a:solidFill>
                  <a:srgbClr val="000000"/>
                </a:solidFill>
                <a:effectLst/>
                <a:uFillTx/>
                <a:latin typeface="Times New Roman"/>
              </a:rPr>
              <a:t> </a:t>
            </a:r>
            <a:endParaRPr lang="en-ZA"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en-ZA" sz="1400" b="0" u="none" strike="noStrike">
                <a:solidFill>
                  <a:srgbClr val="000000"/>
                </a:solidFill>
                <a:effectLst/>
                <a:uFillTx/>
                <a:latin typeface="Times New Roman"/>
              </a:defRPr>
            </a:lvl1pPr>
          </a:lstStyle>
          <a:p>
            <a:pPr indent="0" algn="l">
              <a:buNone/>
            </a:pPr>
            <a:r>
              <a:rPr lang="en-ZA" sz="1400" b="0" u="none" strike="noStrike">
                <a:solidFill>
                  <a:srgbClr val="000000"/>
                </a:solidFill>
                <a:effectLst/>
                <a:uFillTx/>
                <a:latin typeface="Times New Roman"/>
              </a:rPr>
              <a:t> </a:t>
            </a:r>
            <a:endParaRPr lang="en-ZA"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ZA" sz="1400" b="0" u="none" strike="noStrike">
                <a:solidFill>
                  <a:srgbClr val="000000"/>
                </a:solidFill>
                <a:effectLst/>
                <a:uFillTx/>
                <a:latin typeface="Times New Roman"/>
              </a:defRPr>
            </a:lvl1pPr>
          </a:lstStyle>
          <a:p>
            <a:pPr indent="0" algn="r">
              <a:buNone/>
            </a:pPr>
            <a:fld id="{78D37412-30A2-4F82-962D-DDAF5DCD321D}" type="slidenum">
              <a:rPr lang="en-ZA" sz="1400" b="0" u="none" strike="noStrike">
                <a:solidFill>
                  <a:srgbClr val="000000"/>
                </a:solidFill>
                <a:effectLst/>
                <a:uFillTx/>
                <a:latin typeface="Times New Roman"/>
              </a:rPr>
              <a:t>1</a:t>
            </a:fld>
            <a:endParaRPr lang="en-ZA"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PlaceHolder 1"/>
          <p:cNvSpPr>
            <a:spLocks noGrp="1"/>
          </p:cNvSpPr>
          <p:nvPr>
            <p:ph type="sldImg"/>
          </p:nvPr>
        </p:nvSpPr>
        <p:spPr>
          <a:xfrm>
            <a:off x="685800" y="1143000"/>
            <a:ext cx="5485680" cy="3085560"/>
          </a:xfrm>
          <a:prstGeom prst="rect">
            <a:avLst/>
          </a:prstGeom>
          <a:ln w="0">
            <a:noFill/>
          </a:ln>
        </p:spPr>
      </p:sp>
      <p:sp>
        <p:nvSpPr>
          <p:cNvPr id="10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~1.5 min. Re-ID is not species classification: we ask which individual animal this is, among animals we have already seen. Closed set: the animal is guaranteed to be in the gallery, so the best match is the answer. Open set: it may be new, so we add a threshold tau; if the best score is below tau we answer 'new individual'. Our question: does fusing global, complementary and local evidence beat any single representation on WildlifeReID-10k? (Photos on this slide are from the example figure in your notes; swap in your own dataset images if you prefer.)</a:t>
            </a:r>
            <a:endParaRPr lang="en-ZA" sz="2000" b="0" u="none" strike="noStrike">
              <a:solidFill>
                <a:srgbClr val="000000"/>
              </a:solidFill>
              <a:effectLst/>
              <a:uFillTx/>
              <a:latin typeface="Arial"/>
            </a:endParaRPr>
          </a:p>
        </p:txBody>
      </p:sp>
      <p:sp>
        <p:nvSpPr>
          <p:cNvPr id="109" name="PlaceHolder 3"/>
          <p:cNvSpPr>
            <a:spLocks noGrp="1"/>
          </p:cNvSpPr>
          <p:nvPr>
            <p:ph type="sldNum" idx="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FE3DE98-D1D3-42C5-8BC7-5F6BF0265F92}" type="slidenum">
              <a:rPr lang="en-US" sz="1200" b="0" u="none" strike="noStrike">
                <a:solidFill>
                  <a:schemeClr val="dk1"/>
                </a:solidFill>
                <a:effectLst/>
                <a:uFillTx/>
                <a:latin typeface="+mn-lt"/>
                <a:ea typeface="+mn-ea"/>
              </a:rPr>
              <a:t>&lt;number&gt;</a:t>
            </a:fld>
            <a:endParaRPr lang="en-ZA"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 name="PlaceHolder 1"/>
          <p:cNvSpPr>
            <a:spLocks noGrp="1"/>
          </p:cNvSpPr>
          <p:nvPr>
            <p:ph type="sldImg"/>
          </p:nvPr>
        </p:nvSpPr>
        <p:spPr>
          <a:xfrm>
            <a:off x="685800" y="1143000"/>
            <a:ext cx="5485680" cy="3085560"/>
          </a:xfrm>
          <a:prstGeom prst="rect">
            <a:avLst/>
          </a:prstGeom>
          <a:ln w="0">
            <a:noFill/>
          </a:ln>
        </p:spPr>
      </p:sp>
      <p:sp>
        <p:nvSpPr>
          <p:cNvPr id="11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~2 min. The benchmark has 140k images of about 10.8k individuals across 37 datasets. There is no validation split, so we carve one out of train: whole identities are held out to mimic new animals, and whole clusters of near-identical photos are held out together, otherwise validation is too easy (leakage). Test is run once at the end. Augmentation is mild because identity cues must survive; no horizontal flips because mirrored patterns create fake identities. Compression: PCA fitted on training data only, then sweep dimensions and watch BAKS and BAUS. (Dataset counts come from your earlier draft decks; please verify.)</a:t>
            </a:r>
            <a:endParaRPr lang="en-ZA" sz="2000" b="0" u="none" strike="noStrike">
              <a:solidFill>
                <a:srgbClr val="000000"/>
              </a:solidFill>
              <a:effectLst/>
              <a:uFillTx/>
              <a:latin typeface="Arial"/>
            </a:endParaRPr>
          </a:p>
        </p:txBody>
      </p:sp>
      <p:sp>
        <p:nvSpPr>
          <p:cNvPr id="112" name="PlaceHolder 3"/>
          <p:cNvSpPr>
            <a:spLocks noGrp="1"/>
          </p:cNvSpPr>
          <p:nvPr>
            <p:ph type="sldNum" idx="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61C814D-E0FF-4BD5-BA05-E5C650948D1B}" type="slidenum">
              <a:rPr lang="en-US" sz="1200" b="0" u="none" strike="noStrike">
                <a:solidFill>
                  <a:schemeClr val="dk1"/>
                </a:solidFill>
                <a:effectLst/>
                <a:uFillTx/>
                <a:latin typeface="+mn-lt"/>
                <a:ea typeface="+mn-ea"/>
              </a:rPr>
              <a:t>&lt;number&gt;</a:t>
            </a:fld>
            <a:endParaRPr lang="en-ZA"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 name="PlaceHolder 1"/>
          <p:cNvSpPr>
            <a:spLocks noGrp="1"/>
          </p:cNvSpPr>
          <p:nvPr>
            <p:ph type="sldImg"/>
          </p:nvPr>
        </p:nvSpPr>
        <p:spPr>
          <a:xfrm>
            <a:off x="685800" y="1143000"/>
            <a:ext cx="5485680" cy="3085560"/>
          </a:xfrm>
          <a:prstGeom prst="rect">
            <a:avLst/>
          </a:prstGeom>
          <a:ln w="0">
            <a:noFill/>
          </a:ln>
        </p:spPr>
      </p:sp>
      <p:sp>
        <p:nvSpPr>
          <p:cNvPr id="11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~3 min. Walk left to right. Every image becomes an embedding from the global model and from EVA02. Cosine similarity over the whole gallery gives a shortlist of K candidates. ALIKED with LightGlue works on pairs, not vectors, so it cannot be indexed: it only runs on the best 20. Why it matters: global captures overall look, EVA02 is a general second opinion, local matching catches tiny patterns. Raw scores are on different scales (cosines roughly 0.2-0.9, EVA02 squeezed near 0.8-0.95, ALIKED an inlier count up to 1000), so we calibrate each with isotonic regression into a probability of same animal, combine with a weighted sum (start 0.4/0.3/0.3, tuned on validation), re-rank, then apply tau. Images on steps 1-3 are from the example figure in your notes (a bear face re-ID illustration); replace with your own dataset crops if you want.</a:t>
            </a:r>
            <a:endParaRPr lang="en-ZA" sz="2000" b="0" u="none" strike="noStrike">
              <a:solidFill>
                <a:srgbClr val="000000"/>
              </a:solidFill>
              <a:effectLst/>
              <a:uFillTx/>
              <a:latin typeface="Arial"/>
            </a:endParaRPr>
          </a:p>
        </p:txBody>
      </p:sp>
      <p:sp>
        <p:nvSpPr>
          <p:cNvPr id="115" name="PlaceHolder 3"/>
          <p:cNvSpPr>
            <a:spLocks noGrp="1"/>
          </p:cNvSpPr>
          <p:nvPr>
            <p:ph type="sldNum" idx="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9BDDBCB-496C-45AB-A8ED-DB2B6C14F7E4}" type="slidenum">
              <a:rPr lang="en-US" sz="1200" b="0" u="none" strike="noStrike">
                <a:solidFill>
                  <a:schemeClr val="dk1"/>
                </a:solidFill>
                <a:effectLst/>
                <a:uFillTx/>
                <a:latin typeface="+mn-lt"/>
                <a:ea typeface="+mn-ea"/>
              </a:rPr>
              <a:t>&lt;number&gt;</a:t>
            </a:fld>
            <a:endParaRPr lang="en-ZA"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PlaceHolder 1"/>
          <p:cNvSpPr>
            <a:spLocks noGrp="1"/>
          </p:cNvSpPr>
          <p:nvPr>
            <p:ph type="sldImg"/>
          </p:nvPr>
        </p:nvSpPr>
        <p:spPr>
          <a:xfrm>
            <a:off x="685800" y="1143000"/>
            <a:ext cx="5485680" cy="3085560"/>
          </a:xfrm>
          <a:prstGeom prst="rect">
            <a:avLst/>
          </a:prstGeom>
          <a:ln w="0">
            <a:noFill/>
          </a:ln>
        </p:spPr>
      </p:sp>
      <p:sp>
        <p:nvSpPr>
          <p:cNvPr id="11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pPr>
            <a:r>
              <a:rPr lang="en-ZA" sz="2000" b="0" u="none" strike="noStrike">
                <a:solidFill>
                  <a:srgbClr val="000000"/>
                </a:solidFill>
                <a:effectLst/>
                <a:uFillTx/>
                <a:latin typeface="Arial"/>
              </a:rPr>
              <a:t>~2.5 min. Tables: first four rows are the full test split; rows marked * use a 200-query validation subset (the only run that includes the local branch), so treat them as preliminary. Talking points: Fine-tuned MegaDescriptor carries the system (closed BAKS 81.1, open score 73.3). EVA02 and DINOv2 alone are near the 50% of rejecting every query. Adding EVA02 changes test scores by under 0.1 points. On the subset, adding ALIKED raised open score 79.0 to 81.3 (BAUS 91.1 to 94.3) with closed BAKS unchanged; 113 known queries so one query is 0.9 pt. PCA: 256-d costs 0.7 BAKS, 512-d matches, 128/64/32 lose 3.1/6.6/10.2. Paste the tau plot, PCA plot and your extra result into the dashed boxes. Tau is chosen on validation and frozen for test.</a:t>
            </a:r>
            <a:endParaRPr lang="en-ZA" sz="2000" b="0" u="none" strike="noStrike">
              <a:solidFill>
                <a:srgbClr val="000000"/>
              </a:solidFill>
              <a:effectLst/>
              <a:uFillTx/>
              <a:latin typeface="Arial"/>
            </a:endParaRPr>
          </a:p>
        </p:txBody>
      </p:sp>
      <p:sp>
        <p:nvSpPr>
          <p:cNvPr id="118" name="PlaceHolder 3"/>
          <p:cNvSpPr>
            <a:spLocks noGrp="1"/>
          </p:cNvSpPr>
          <p:nvPr>
            <p:ph type="sldNum" idx="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DED1740-A7F8-4B53-B863-82056A7192B2}" type="slidenum">
              <a:rPr lang="en-US" sz="1200" b="0" u="none" strike="noStrike">
                <a:solidFill>
                  <a:schemeClr val="dk1"/>
                </a:solidFill>
                <a:effectLst/>
                <a:uFillTx/>
                <a:latin typeface="+mn-lt"/>
                <a:ea typeface="+mn-ea"/>
              </a:rPr>
              <a:t>&lt;number&gt;</a:t>
            </a:fld>
            <a:endParaRPr lang="en-ZA"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 name="PlaceHolder 1"/>
          <p:cNvSpPr>
            <a:spLocks noGrp="1"/>
          </p:cNvSpPr>
          <p:nvPr>
            <p:ph type="sldImg"/>
          </p:nvPr>
        </p:nvSpPr>
        <p:spPr>
          <a:xfrm>
            <a:off x="685800" y="1143000"/>
            <a:ext cx="5485680" cy="3085560"/>
          </a:xfrm>
          <a:prstGeom prst="rect">
            <a:avLst/>
          </a:prstGeom>
          <a:ln w="0">
            <a:noFill/>
          </a:ln>
        </p:spPr>
      </p:sp>
      <p:sp>
        <p:nvSpPr>
          <p:cNvPr id="12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~2 min, then ~2.5 min live demo (streamlit run src/ui/app.py). Ablation = switch branches off to see what each adds: each alone, each pair, then all three. If full fusion beats every single branch and pair, the evidence is complementary: that is why we fuse. State your finding in one sentence once numbers are in. Limitation: fusion cannot recover an animal the cosine shortlist missed, so shortlist recall bounds it. Demo: pick a test image, show the top identities, move tau and show an image flip to NEW.</a:t>
            </a:r>
            <a:endParaRPr lang="en-ZA" sz="2000" b="0" u="none" strike="noStrike">
              <a:solidFill>
                <a:srgbClr val="000000"/>
              </a:solidFill>
              <a:effectLst/>
              <a:uFillTx/>
              <a:latin typeface="Arial"/>
            </a:endParaRPr>
          </a:p>
        </p:txBody>
      </p:sp>
      <p:sp>
        <p:nvSpPr>
          <p:cNvPr id="121" name="PlaceHolder 3"/>
          <p:cNvSpPr>
            <a:spLocks noGrp="1"/>
          </p:cNvSpPr>
          <p:nvPr>
            <p:ph type="sldNum" idx="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87F3F72-0BE8-4908-BF18-89734465DEC9}" type="slidenum">
              <a:rPr lang="en-US" sz="1200" b="0" u="none" strike="noStrike">
                <a:solidFill>
                  <a:schemeClr val="dk1"/>
                </a:solidFill>
                <a:effectLst/>
                <a:uFillTx/>
                <a:latin typeface="+mn-lt"/>
                <a:ea typeface="+mn-ea"/>
              </a:rPr>
              <a:t>&lt;number&gt;</a:t>
            </a:fld>
            <a:endParaRPr lang="en-ZA"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en-ZA" sz="1800" b="0" u="none" strike="noStrike">
                <a:solidFill>
                  <a:schemeClr val="dk1"/>
                </a:solidFill>
                <a:effectLst/>
                <a:uFillTx/>
                <a:latin typeface="Calibri"/>
              </a:defRPr>
            </a:lvl1pPr>
          </a:lstStyle>
          <a:p>
            <a:pPr indent="0" algn="l">
              <a:buNone/>
              <a:tabLst>
                <a:tab pos="0" algn="l"/>
              </a:tabLst>
            </a:pPr>
            <a:r>
              <a:rPr lang="en-ZA" sz="1800" b="0" u="none" strike="noStrike">
                <a:solidFill>
                  <a:schemeClr val="dk1"/>
                </a:solidFill>
                <a:effectLst/>
                <a:uFillTx/>
                <a:latin typeface="Calibri"/>
              </a:rPr>
              <a:t>Click to edit the title text format</a:t>
            </a:r>
            <a:endParaRPr lang="en-ZA"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ZA"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ZA"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ZA"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ZA"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ZA"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ZA"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ZA" sz="2000" b="0" u="none" strike="noStrike">
                <a:solidFill>
                  <a:schemeClr val="dk1"/>
                </a:solidFill>
                <a:effectLst/>
                <a:uFillTx/>
                <a:latin typeface="Calibri"/>
              </a:defRPr>
            </a:lvl7pPr>
          </a:lstStyle>
          <a:p>
            <a:pPr indent="-324000" algn="l">
              <a:spcBef>
                <a:spcPts val="1417"/>
              </a:spcBef>
              <a:buClr>
                <a:srgbClr val="000000"/>
              </a:buClr>
              <a:buSzPct val="45000"/>
              <a:buFont typeface="Wingdings" charset="2"/>
              <a:buChar char=""/>
            </a:pPr>
            <a:r>
              <a:rPr lang="en-ZA" sz="3200" b="0" u="none" strike="noStrike">
                <a:solidFill>
                  <a:schemeClr val="dk1"/>
                </a:solidFill>
                <a:effectLst/>
                <a:uFillTx/>
                <a:latin typeface="Calibri"/>
              </a:rPr>
              <a:t>Click to edit the outline text format</a:t>
            </a:r>
            <a:endParaRPr lang="en-ZA"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ZA" sz="2400" b="0" u="none" strike="noStrike">
                <a:solidFill>
                  <a:schemeClr val="dk1"/>
                </a:solidFill>
                <a:effectLst/>
                <a:uFillTx/>
                <a:latin typeface="Calibri"/>
              </a:rPr>
              <a:t>Second Outline Level</a:t>
            </a:r>
            <a:endParaRPr lang="en-ZA"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ZA" sz="2000" b="0" u="none" strike="noStrike">
                <a:solidFill>
                  <a:schemeClr val="dk1"/>
                </a:solidFill>
                <a:effectLst/>
                <a:uFillTx/>
                <a:latin typeface="Calibri"/>
              </a:rPr>
              <a:t>Third Outline Level</a:t>
            </a:r>
            <a:endParaRPr lang="en-ZA"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ZA" sz="2000" b="0" u="none" strike="noStrike">
                <a:solidFill>
                  <a:schemeClr val="dk1"/>
                </a:solidFill>
                <a:effectLst/>
                <a:uFillTx/>
                <a:latin typeface="Calibri"/>
              </a:rPr>
              <a:t>Fourth Outline Level</a:t>
            </a:r>
            <a:endParaRPr lang="en-ZA"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ZA" sz="2000" b="0" u="none" strike="noStrike">
                <a:solidFill>
                  <a:schemeClr val="dk1"/>
                </a:solidFill>
                <a:effectLst/>
                <a:uFillTx/>
                <a:latin typeface="Calibri"/>
              </a:rPr>
              <a:t>Fifth Outline Level</a:t>
            </a:r>
            <a:endParaRPr lang="en-ZA"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ZA" sz="2000" b="0" u="none" strike="noStrike">
                <a:solidFill>
                  <a:schemeClr val="dk1"/>
                </a:solidFill>
                <a:effectLst/>
                <a:uFillTx/>
                <a:latin typeface="Calibri"/>
              </a:rPr>
              <a:t>Sixth Outline Level</a:t>
            </a:r>
            <a:endParaRPr lang="en-ZA"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ZA" sz="2000" b="0" u="none" strike="noStrike">
                <a:solidFill>
                  <a:schemeClr val="dk1"/>
                </a:solidFill>
                <a:effectLst/>
                <a:uFillTx/>
                <a:latin typeface="Calibri"/>
              </a:rPr>
              <a:t>Seventh Outline Level</a:t>
            </a:r>
            <a:endParaRPr lang="en-ZA"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 name="Text 0"/>
          <p:cNvSpPr/>
          <p:nvPr/>
        </p:nvSpPr>
        <p:spPr>
          <a:xfrm>
            <a:off x="548640" y="640080"/>
            <a:ext cx="6400080" cy="365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300" strike="noStrike">
                <a:solidFill>
                  <a:srgbClr val="C98A1B"/>
                </a:solidFill>
                <a:effectLst/>
                <a:uFillTx/>
                <a:latin typeface="Calibri"/>
              </a:rPr>
              <a:t>GROUP MLM  ·  WILDLIFEREID-10K</a:t>
            </a:r>
            <a:endParaRPr lang="en-ZA" sz="1400" b="0" u="none" strike="noStrike">
              <a:solidFill>
                <a:srgbClr val="000000"/>
              </a:solidFill>
              <a:effectLst/>
              <a:uFillTx/>
              <a:latin typeface="Arial"/>
            </a:endParaRPr>
          </a:p>
        </p:txBody>
      </p:sp>
      <p:sp>
        <p:nvSpPr>
          <p:cNvPr id="11" name="Title"/>
          <p:cNvSpPr/>
          <p:nvPr/>
        </p:nvSpPr>
        <p:spPr>
          <a:xfrm>
            <a:off x="548640" y="1097280"/>
            <a:ext cx="6308640" cy="2102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4000" b="1" u="none" strike="noStrike">
                <a:solidFill>
                  <a:schemeClr val="dk1"/>
                </a:solidFill>
                <a:effectLst/>
                <a:uFillTx/>
                <a:latin typeface="Cambria"/>
                <a:ea typeface="Cambria"/>
              </a:rPr>
              <a:t>Calibrated Multi-Scale Similarity Fusion for Wildlife Re-ID</a:t>
            </a:r>
            <a:endParaRPr lang="en-ZA" sz="4000" b="0" u="none" strike="noStrike">
              <a:solidFill>
                <a:srgbClr val="000000"/>
              </a:solidFill>
              <a:effectLst/>
              <a:uFillTx/>
              <a:latin typeface="Arial"/>
            </a:endParaRPr>
          </a:p>
        </p:txBody>
      </p:sp>
      <p:sp>
        <p:nvSpPr>
          <p:cNvPr id="12" name="Text 2"/>
          <p:cNvSpPr/>
          <p:nvPr/>
        </p:nvSpPr>
        <p:spPr>
          <a:xfrm>
            <a:off x="548640" y="3337560"/>
            <a:ext cx="6034320" cy="10965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800" b="0" u="none" strike="noStrike">
                <a:solidFill>
                  <a:srgbClr val="3B4A41"/>
                </a:solidFill>
                <a:effectLst/>
                <a:uFillTx/>
                <a:latin typeface="Calibri"/>
              </a:rPr>
              <a:t>Can combining a global, a general and a local view of an animal identify individuals more reliably than any single one?</a:t>
            </a:r>
            <a:endParaRPr lang="en-ZA" sz="1800" b="0" u="none" strike="noStrike">
              <a:solidFill>
                <a:srgbClr val="000000"/>
              </a:solidFill>
              <a:effectLst/>
              <a:uFillTx/>
              <a:latin typeface="Arial"/>
            </a:endParaRPr>
          </a:p>
        </p:txBody>
      </p:sp>
      <p:sp>
        <p:nvSpPr>
          <p:cNvPr id="13" name="Shape 3"/>
          <p:cNvSpPr/>
          <p:nvPr/>
        </p:nvSpPr>
        <p:spPr>
          <a:xfrm>
            <a:off x="548640" y="4663440"/>
            <a:ext cx="2010960" cy="1233720"/>
          </a:xfrm>
          <a:prstGeom prst="roundRect">
            <a:avLst>
              <a:gd name="adj" fmla="val 8889"/>
            </a:avLst>
          </a:prstGeom>
          <a:solidFill>
            <a:srgbClr val="F2F5F1"/>
          </a:solidFill>
          <a:ln w="9525">
            <a:solidFill>
              <a:srgbClr val="DDE6DF"/>
            </a:solidFill>
            <a:round/>
          </a:ln>
        </p:spPr>
        <p:style>
          <a:lnRef idx="0"/>
          <a:fillRef idx="0"/>
          <a:effectRef idx="0"/>
          <a:fontRef idx="minor"/>
        </p:style>
        <p:txBody>
          <a:bodyPr lIns="90000" tIns="45000" rIns="90000" bIns="45000" anchor="t">
            <a:noAutofit/>
          </a:bodyPr>
          <a:p>
            <a:endParaRPr lang="en-ZA" sz="1800" b="0" u="none" strike="noStrike">
              <a:solidFill>
                <a:srgbClr val="000000"/>
              </a:solidFill>
              <a:effectLst/>
              <a:uFillTx/>
              <a:latin typeface="Arial"/>
            </a:endParaRPr>
          </a:p>
        </p:txBody>
      </p:sp>
      <p:sp>
        <p:nvSpPr>
          <p:cNvPr id="14" name="Text 4"/>
          <p:cNvSpPr/>
          <p:nvPr/>
        </p:nvSpPr>
        <p:spPr>
          <a:xfrm>
            <a:off x="685800" y="4754880"/>
            <a:ext cx="178236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2C5F2D"/>
                </a:solidFill>
                <a:effectLst/>
                <a:uFillTx/>
                <a:latin typeface="Calibri"/>
              </a:rPr>
              <a:t>CLASSIFICATION</a:t>
            </a:r>
            <a:endParaRPr lang="en-ZA" sz="1100" b="0" u="none" strike="noStrike">
              <a:solidFill>
                <a:srgbClr val="000000"/>
              </a:solidFill>
              <a:effectLst/>
              <a:uFillTx/>
              <a:latin typeface="Arial"/>
            </a:endParaRPr>
          </a:p>
        </p:txBody>
      </p:sp>
      <p:sp>
        <p:nvSpPr>
          <p:cNvPr id="15" name="Text 5"/>
          <p:cNvSpPr/>
          <p:nvPr/>
        </p:nvSpPr>
        <p:spPr>
          <a:xfrm>
            <a:off x="685800" y="5074920"/>
            <a:ext cx="1782360" cy="7308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1"/>
                </a:solidFill>
                <a:effectLst/>
                <a:uFillTx/>
                <a:latin typeface="Calibri"/>
              </a:rPr>
              <a:t>What species is this?</a:t>
            </a:r>
            <a:endParaRPr lang="en-ZA" sz="1500" b="0" u="none" strike="noStrike">
              <a:solidFill>
                <a:srgbClr val="000000"/>
              </a:solidFill>
              <a:effectLst/>
              <a:uFillTx/>
              <a:latin typeface="Arial"/>
            </a:endParaRPr>
          </a:p>
        </p:txBody>
      </p:sp>
      <p:sp>
        <p:nvSpPr>
          <p:cNvPr id="16" name="Shape 6"/>
          <p:cNvSpPr/>
          <p:nvPr/>
        </p:nvSpPr>
        <p:spPr>
          <a:xfrm>
            <a:off x="2697480" y="4663440"/>
            <a:ext cx="2010960" cy="1233720"/>
          </a:xfrm>
          <a:prstGeom prst="roundRect">
            <a:avLst>
              <a:gd name="adj" fmla="val 8889"/>
            </a:avLst>
          </a:prstGeom>
          <a:solidFill>
            <a:srgbClr val="F2F5F1"/>
          </a:solidFill>
          <a:ln w="9525">
            <a:solidFill>
              <a:srgbClr val="DDE6DF"/>
            </a:solidFill>
            <a:round/>
          </a:ln>
        </p:spPr>
        <p:style>
          <a:lnRef idx="0"/>
          <a:fillRef idx="0"/>
          <a:effectRef idx="0"/>
          <a:fontRef idx="minor"/>
        </p:style>
        <p:txBody>
          <a:bodyPr lIns="90000" tIns="45000" rIns="90000" bIns="45000" anchor="t">
            <a:noAutofit/>
          </a:bodyPr>
          <a:p>
            <a:endParaRPr lang="en-ZA" sz="1800" b="0" u="none" strike="noStrike">
              <a:solidFill>
                <a:srgbClr val="000000"/>
              </a:solidFill>
              <a:effectLst/>
              <a:uFillTx/>
              <a:latin typeface="Arial"/>
            </a:endParaRPr>
          </a:p>
        </p:txBody>
      </p:sp>
      <p:sp>
        <p:nvSpPr>
          <p:cNvPr id="17" name="Text 7"/>
          <p:cNvSpPr/>
          <p:nvPr/>
        </p:nvSpPr>
        <p:spPr>
          <a:xfrm>
            <a:off x="2834640" y="4754880"/>
            <a:ext cx="178236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2C5F2D"/>
                </a:solidFill>
                <a:effectLst/>
                <a:uFillTx/>
                <a:latin typeface="Calibri"/>
              </a:rPr>
              <a:t>RE-ID, CLOSED SET</a:t>
            </a:r>
            <a:endParaRPr lang="en-ZA" sz="1100" b="0" u="none" strike="noStrike">
              <a:solidFill>
                <a:srgbClr val="000000"/>
              </a:solidFill>
              <a:effectLst/>
              <a:uFillTx/>
              <a:latin typeface="Arial"/>
            </a:endParaRPr>
          </a:p>
        </p:txBody>
      </p:sp>
      <p:sp>
        <p:nvSpPr>
          <p:cNvPr id="18" name="Text 8"/>
          <p:cNvSpPr/>
          <p:nvPr/>
        </p:nvSpPr>
        <p:spPr>
          <a:xfrm>
            <a:off x="2834640" y="5074920"/>
            <a:ext cx="1782360" cy="7308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1"/>
                </a:solidFill>
                <a:effectLst/>
                <a:uFillTx/>
                <a:latin typeface="Calibri"/>
              </a:rPr>
              <a:t>Which known individual is this?</a:t>
            </a:r>
            <a:endParaRPr lang="en-ZA" sz="1500" b="0" u="none" strike="noStrike">
              <a:solidFill>
                <a:srgbClr val="000000"/>
              </a:solidFill>
              <a:effectLst/>
              <a:uFillTx/>
              <a:latin typeface="Arial"/>
            </a:endParaRPr>
          </a:p>
        </p:txBody>
      </p:sp>
      <p:sp>
        <p:nvSpPr>
          <p:cNvPr id="19" name="Shape 9"/>
          <p:cNvSpPr/>
          <p:nvPr/>
        </p:nvSpPr>
        <p:spPr>
          <a:xfrm>
            <a:off x="4846320" y="4663440"/>
            <a:ext cx="2010960" cy="1233720"/>
          </a:xfrm>
          <a:prstGeom prst="roundRect">
            <a:avLst>
              <a:gd name="adj" fmla="val 8889"/>
            </a:avLst>
          </a:prstGeom>
          <a:solidFill>
            <a:srgbClr val="F2F5F1"/>
          </a:solidFill>
          <a:ln w="9525">
            <a:solidFill>
              <a:srgbClr val="DDE6DF"/>
            </a:solidFill>
            <a:round/>
          </a:ln>
        </p:spPr>
        <p:style>
          <a:lnRef idx="0"/>
          <a:fillRef idx="0"/>
          <a:effectRef idx="0"/>
          <a:fontRef idx="minor"/>
        </p:style>
        <p:txBody>
          <a:bodyPr lIns="90000" tIns="45000" rIns="90000" bIns="45000" anchor="t">
            <a:noAutofit/>
          </a:bodyPr>
          <a:p>
            <a:endParaRPr lang="en-ZA" sz="1800" b="0" u="none" strike="noStrike">
              <a:solidFill>
                <a:srgbClr val="000000"/>
              </a:solidFill>
              <a:effectLst/>
              <a:uFillTx/>
              <a:latin typeface="Arial"/>
            </a:endParaRPr>
          </a:p>
        </p:txBody>
      </p:sp>
      <p:sp>
        <p:nvSpPr>
          <p:cNvPr id="20" name="Text 10"/>
          <p:cNvSpPr/>
          <p:nvPr/>
        </p:nvSpPr>
        <p:spPr>
          <a:xfrm>
            <a:off x="4983480" y="4754880"/>
            <a:ext cx="178236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2C5F2D"/>
                </a:solidFill>
                <a:effectLst/>
                <a:uFillTx/>
                <a:latin typeface="Calibri"/>
              </a:rPr>
              <a:t>RE-ID, OPEN SET</a:t>
            </a:r>
            <a:endParaRPr lang="en-ZA" sz="1100" b="0" u="none" strike="noStrike">
              <a:solidFill>
                <a:srgbClr val="000000"/>
              </a:solidFill>
              <a:effectLst/>
              <a:uFillTx/>
              <a:latin typeface="Arial"/>
            </a:endParaRPr>
          </a:p>
        </p:txBody>
      </p:sp>
      <p:sp>
        <p:nvSpPr>
          <p:cNvPr id="21" name="Text 11"/>
          <p:cNvSpPr/>
          <p:nvPr/>
        </p:nvSpPr>
        <p:spPr>
          <a:xfrm>
            <a:off x="4983480" y="5074920"/>
            <a:ext cx="1782360" cy="7308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1"/>
                </a:solidFill>
                <a:effectLst/>
                <a:uFillTx/>
                <a:latin typeface="Calibri"/>
              </a:rPr>
              <a:t>Or is it a new animal?</a:t>
            </a:r>
            <a:endParaRPr lang="en-ZA" sz="1500" b="0" u="none" strike="noStrike">
              <a:solidFill>
                <a:srgbClr val="000000"/>
              </a:solidFill>
              <a:effectLst/>
              <a:uFillTx/>
              <a:latin typeface="Arial"/>
            </a:endParaRPr>
          </a:p>
        </p:txBody>
      </p:sp>
      <p:pic>
        <p:nvPicPr>
          <p:cNvPr id="22" name="Query photo" descr="/tmp/claude-0/-home-claude/69af264c-e446-5a84-b6a0-945426285a6b/scratchpad/pp/query.png"/>
          <p:cNvPicPr/>
          <p:nvPr/>
        </p:nvPicPr>
        <p:blipFill>
          <a:blip r:embed="rId1"/>
          <a:stretch/>
        </p:blipFill>
        <p:spPr>
          <a:xfrm>
            <a:off x="7223760" y="731520"/>
            <a:ext cx="4388400" cy="3299400"/>
          </a:xfrm>
          <a:prstGeom prst="rect">
            <a:avLst/>
          </a:prstGeom>
          <a:noFill/>
          <a:ln w="0">
            <a:noFill/>
          </a:ln>
        </p:spPr>
      </p:pic>
      <p:pic>
        <p:nvPicPr>
          <p:cNvPr id="23" name="Gallery" descr="/tmp/claude-0/-home-claude/69af264c-e446-5a84-b6a0-945426285a6b/scratchpad/pp/nearest.png"/>
          <p:cNvPicPr/>
          <p:nvPr/>
        </p:nvPicPr>
        <p:blipFill>
          <a:blip r:embed="rId2"/>
          <a:stretch/>
        </p:blipFill>
        <p:spPr>
          <a:xfrm>
            <a:off x="7223760" y="4160520"/>
            <a:ext cx="1416600" cy="1830240"/>
          </a:xfrm>
          <a:prstGeom prst="rect">
            <a:avLst/>
          </a:prstGeom>
          <a:noFill/>
          <a:ln w="0">
            <a:noFill/>
          </a:ln>
        </p:spPr>
      </p:pic>
      <p:sp>
        <p:nvSpPr>
          <p:cNvPr id="24" name="Text 12"/>
          <p:cNvSpPr/>
          <p:nvPr/>
        </p:nvSpPr>
        <p:spPr>
          <a:xfrm>
            <a:off x="8823960" y="4480560"/>
            <a:ext cx="2833920" cy="7308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000" b="0" i="1" u="none" strike="noStrike">
                <a:solidFill>
                  <a:srgbClr val="2C5F2D"/>
                </a:solidFill>
                <a:effectLst/>
                <a:uFillTx/>
                <a:latin typeface="Cambria"/>
                <a:ea typeface="Cambria"/>
              </a:rPr>
              <a:t>Which of these individuals is it, by ID?</a:t>
            </a:r>
            <a:endParaRPr lang="en-ZA" sz="2000" b="0" u="none" strike="noStrike">
              <a:solidFill>
                <a:srgbClr val="000000"/>
              </a:solidFill>
              <a:effectLst/>
              <a:uFillTx/>
              <a:latin typeface="Arial"/>
            </a:endParaRPr>
          </a:p>
        </p:txBody>
      </p:sp>
      <p:sp>
        <p:nvSpPr>
          <p:cNvPr id="25" name="Text 13"/>
          <p:cNvSpPr/>
          <p:nvPr/>
        </p:nvSpPr>
        <p:spPr>
          <a:xfrm>
            <a:off x="548640" y="6400800"/>
            <a:ext cx="914328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000000"/>
                </a:solidFill>
                <a:effectLst/>
                <a:uFillTx/>
                <a:latin typeface="Calibri"/>
              </a:rPr>
              <a:t>Tshephang Matlala   ·  Kamohelo Lebjane  ·  Denzel Zimba</a:t>
            </a:r>
            <a:endParaRPr lang="en-ZA" sz="1600" b="0" u="none" strike="noStrike">
              <a:solidFill>
                <a:srgbClr val="000000"/>
              </a:solidFill>
              <a:effectLst/>
              <a:uFillTx/>
              <a:latin typeface="Arial"/>
            </a:endParaRPr>
          </a:p>
        </p:txBody>
      </p:sp>
      <p:sp>
        <p:nvSpPr>
          <p:cNvPr id="26" name="Text 14"/>
          <p:cNvSpPr/>
          <p:nvPr/>
        </p:nvSpPr>
        <p:spPr>
          <a:xfrm>
            <a:off x="10698480" y="6400800"/>
            <a:ext cx="913680" cy="273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100" b="0" u="none" strike="noStrike">
                <a:solidFill>
                  <a:srgbClr val="5B7F6B"/>
                </a:solidFill>
                <a:effectLst/>
                <a:uFillTx/>
                <a:latin typeface="Calibri"/>
              </a:rPr>
              <a:t>1 / 5</a:t>
            </a:r>
            <a:endParaRPr lang="en-ZA"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7" name="Title"/>
          <p:cNvSpPr/>
          <p:nvPr/>
        </p:nvSpPr>
        <p:spPr>
          <a:xfrm>
            <a:off x="548640" y="365760"/>
            <a:ext cx="11063520" cy="822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800" b="1" u="none" strike="noStrike">
                <a:solidFill>
                  <a:schemeClr val="dk1"/>
                </a:solidFill>
                <a:effectLst/>
                <a:uFillTx/>
                <a:latin typeface="Cambria"/>
                <a:ea typeface="Cambria"/>
              </a:rPr>
              <a:t>Data and processing</a:t>
            </a:r>
            <a:endParaRPr lang="en-ZA" sz="3800" b="0" u="none" strike="noStrike">
              <a:solidFill>
                <a:srgbClr val="000000"/>
              </a:solidFill>
              <a:effectLst/>
              <a:uFillTx/>
              <a:latin typeface="Arial"/>
            </a:endParaRPr>
          </a:p>
        </p:txBody>
      </p:sp>
      <p:sp>
        <p:nvSpPr>
          <p:cNvPr id="28" name="Source"/>
          <p:cNvSpPr/>
          <p:nvPr/>
        </p:nvSpPr>
        <p:spPr>
          <a:xfrm>
            <a:off x="548640" y="6400800"/>
            <a:ext cx="822888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5B7F6B"/>
                </a:solidFill>
                <a:effectLst/>
                <a:uFillTx/>
                <a:latin typeface="Calibri"/>
              </a:rPr>
              <a:t>Source: WildlifeReID-10k benchmark</a:t>
            </a:r>
            <a:endParaRPr lang="en-ZA" sz="1100" b="0" u="none" strike="noStrike">
              <a:solidFill>
                <a:srgbClr val="000000"/>
              </a:solidFill>
              <a:effectLst/>
              <a:uFillTx/>
              <a:latin typeface="Arial"/>
            </a:endParaRPr>
          </a:p>
        </p:txBody>
      </p:sp>
      <p:sp>
        <p:nvSpPr>
          <p:cNvPr id="29" name="PageNo"/>
          <p:cNvSpPr/>
          <p:nvPr/>
        </p:nvSpPr>
        <p:spPr>
          <a:xfrm>
            <a:off x="10698480" y="6400800"/>
            <a:ext cx="913680" cy="273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100" b="0" u="none" strike="noStrike">
                <a:solidFill>
                  <a:srgbClr val="5B7F6B"/>
                </a:solidFill>
                <a:effectLst/>
                <a:uFillTx/>
                <a:latin typeface="Calibri"/>
              </a:rPr>
              <a:t>2 / 5</a:t>
            </a:r>
            <a:endParaRPr lang="en-ZA" sz="1100" b="0" u="none" strike="noStrike">
              <a:solidFill>
                <a:srgbClr val="000000"/>
              </a:solidFill>
              <a:effectLst/>
              <a:uFillTx/>
              <a:latin typeface="Arial"/>
            </a:endParaRPr>
          </a:p>
        </p:txBody>
      </p:sp>
      <p:sp>
        <p:nvSpPr>
          <p:cNvPr id="30" name="Shape 3"/>
          <p:cNvSpPr/>
          <p:nvPr/>
        </p:nvSpPr>
        <p:spPr>
          <a:xfrm>
            <a:off x="548640" y="1463040"/>
            <a:ext cx="2605320" cy="1325160"/>
          </a:xfrm>
          <a:prstGeom prst="roundRect">
            <a:avLst>
              <a:gd name="adj" fmla="val 8276"/>
            </a:avLst>
          </a:prstGeom>
          <a:solidFill>
            <a:srgbClr val="F2F5F1"/>
          </a:solidFill>
          <a:ln w="9525">
            <a:solidFill>
              <a:srgbClr val="DDE6DF"/>
            </a:solidFill>
            <a:round/>
          </a:ln>
        </p:spPr>
        <p:style>
          <a:lnRef idx="0"/>
          <a:fillRef idx="0"/>
          <a:effectRef idx="0"/>
          <a:fontRef idx="minor"/>
        </p:style>
        <p:txBody>
          <a:bodyPr lIns="90000" tIns="45000" rIns="90000" bIns="45000" anchor="t">
            <a:noAutofit/>
          </a:bodyPr>
          <a:p>
            <a:endParaRPr lang="en-ZA" sz="1800" b="0" u="none" strike="noStrike">
              <a:solidFill>
                <a:srgbClr val="000000"/>
              </a:solidFill>
              <a:effectLst/>
              <a:uFillTx/>
              <a:latin typeface="Arial"/>
            </a:endParaRPr>
          </a:p>
        </p:txBody>
      </p:sp>
      <p:sp>
        <p:nvSpPr>
          <p:cNvPr id="31" name="Text 4"/>
          <p:cNvSpPr/>
          <p:nvPr/>
        </p:nvSpPr>
        <p:spPr>
          <a:xfrm>
            <a:off x="548640" y="1554480"/>
            <a:ext cx="2605320" cy="730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000" b="1" u="none" strike="noStrike">
                <a:solidFill>
                  <a:srgbClr val="2C5F2D"/>
                </a:solidFill>
                <a:effectLst/>
                <a:uFillTx/>
                <a:latin typeface="Cambria"/>
                <a:ea typeface="Cambria"/>
              </a:rPr>
              <a:t>140,488</a:t>
            </a:r>
            <a:endParaRPr lang="en-ZA" sz="4000" b="0" u="none" strike="noStrike">
              <a:solidFill>
                <a:srgbClr val="000000"/>
              </a:solidFill>
              <a:effectLst/>
              <a:uFillTx/>
              <a:latin typeface="Arial"/>
            </a:endParaRPr>
          </a:p>
        </p:txBody>
      </p:sp>
      <p:sp>
        <p:nvSpPr>
          <p:cNvPr id="32" name="Text 5"/>
          <p:cNvSpPr/>
          <p:nvPr/>
        </p:nvSpPr>
        <p:spPr>
          <a:xfrm>
            <a:off x="548640" y="2286000"/>
            <a:ext cx="260532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3B4A41"/>
                </a:solidFill>
                <a:effectLst/>
                <a:uFillTx/>
                <a:latin typeface="Calibri"/>
              </a:rPr>
              <a:t>images</a:t>
            </a:r>
            <a:endParaRPr lang="en-ZA" sz="1600" b="0" u="none" strike="noStrike">
              <a:solidFill>
                <a:srgbClr val="000000"/>
              </a:solidFill>
              <a:effectLst/>
              <a:uFillTx/>
              <a:latin typeface="Arial"/>
            </a:endParaRPr>
          </a:p>
        </p:txBody>
      </p:sp>
      <p:sp>
        <p:nvSpPr>
          <p:cNvPr id="33" name="Shape 6"/>
          <p:cNvSpPr/>
          <p:nvPr/>
        </p:nvSpPr>
        <p:spPr>
          <a:xfrm>
            <a:off x="3337560" y="1463040"/>
            <a:ext cx="2605320" cy="1325160"/>
          </a:xfrm>
          <a:prstGeom prst="roundRect">
            <a:avLst>
              <a:gd name="adj" fmla="val 8276"/>
            </a:avLst>
          </a:prstGeom>
          <a:solidFill>
            <a:srgbClr val="F2F5F1"/>
          </a:solidFill>
          <a:ln w="9525">
            <a:solidFill>
              <a:srgbClr val="DDE6DF"/>
            </a:solidFill>
            <a:round/>
          </a:ln>
        </p:spPr>
        <p:style>
          <a:lnRef idx="0"/>
          <a:fillRef idx="0"/>
          <a:effectRef idx="0"/>
          <a:fontRef idx="minor"/>
        </p:style>
        <p:txBody>
          <a:bodyPr lIns="90000" tIns="45000" rIns="90000" bIns="45000" anchor="t">
            <a:noAutofit/>
          </a:bodyPr>
          <a:p>
            <a:endParaRPr lang="en-ZA" sz="1800" b="0" u="none" strike="noStrike">
              <a:solidFill>
                <a:srgbClr val="000000"/>
              </a:solidFill>
              <a:effectLst/>
              <a:uFillTx/>
              <a:latin typeface="Arial"/>
            </a:endParaRPr>
          </a:p>
        </p:txBody>
      </p:sp>
      <p:sp>
        <p:nvSpPr>
          <p:cNvPr id="34" name="Text 7"/>
          <p:cNvSpPr/>
          <p:nvPr/>
        </p:nvSpPr>
        <p:spPr>
          <a:xfrm>
            <a:off x="3337560" y="1554480"/>
            <a:ext cx="2605320" cy="730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000" b="1" u="none" strike="noStrike">
                <a:solidFill>
                  <a:srgbClr val="2C5F2D"/>
                </a:solidFill>
                <a:effectLst/>
                <a:uFillTx/>
                <a:latin typeface="Cambria"/>
                <a:ea typeface="Cambria"/>
              </a:rPr>
              <a:t>10,772</a:t>
            </a:r>
            <a:endParaRPr lang="en-ZA" sz="4000" b="0" u="none" strike="noStrike">
              <a:solidFill>
                <a:srgbClr val="000000"/>
              </a:solidFill>
              <a:effectLst/>
              <a:uFillTx/>
              <a:latin typeface="Arial"/>
            </a:endParaRPr>
          </a:p>
        </p:txBody>
      </p:sp>
      <p:sp>
        <p:nvSpPr>
          <p:cNvPr id="35" name="Text 8"/>
          <p:cNvSpPr/>
          <p:nvPr/>
        </p:nvSpPr>
        <p:spPr>
          <a:xfrm>
            <a:off x="3337560" y="2286000"/>
            <a:ext cx="260532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3B4A41"/>
                </a:solidFill>
                <a:effectLst/>
                <a:uFillTx/>
                <a:latin typeface="Calibri"/>
              </a:rPr>
              <a:t>individuals</a:t>
            </a:r>
            <a:endParaRPr lang="en-ZA" sz="1600" b="0" u="none" strike="noStrike">
              <a:solidFill>
                <a:srgbClr val="000000"/>
              </a:solidFill>
              <a:effectLst/>
              <a:uFillTx/>
              <a:latin typeface="Arial"/>
            </a:endParaRPr>
          </a:p>
        </p:txBody>
      </p:sp>
      <p:sp>
        <p:nvSpPr>
          <p:cNvPr id="36" name="Shape 9"/>
          <p:cNvSpPr/>
          <p:nvPr/>
        </p:nvSpPr>
        <p:spPr>
          <a:xfrm>
            <a:off x="6126480" y="1463040"/>
            <a:ext cx="2605320" cy="1325160"/>
          </a:xfrm>
          <a:prstGeom prst="roundRect">
            <a:avLst>
              <a:gd name="adj" fmla="val 8276"/>
            </a:avLst>
          </a:prstGeom>
          <a:solidFill>
            <a:srgbClr val="F2F5F1"/>
          </a:solidFill>
          <a:ln w="9525">
            <a:solidFill>
              <a:srgbClr val="DDE6DF"/>
            </a:solidFill>
            <a:round/>
          </a:ln>
        </p:spPr>
        <p:style>
          <a:lnRef idx="0"/>
          <a:fillRef idx="0"/>
          <a:effectRef idx="0"/>
          <a:fontRef idx="minor"/>
        </p:style>
        <p:txBody>
          <a:bodyPr lIns="90000" tIns="45000" rIns="90000" bIns="45000" anchor="t">
            <a:noAutofit/>
          </a:bodyPr>
          <a:p>
            <a:endParaRPr lang="en-ZA" sz="1800" b="0" u="none" strike="noStrike">
              <a:solidFill>
                <a:srgbClr val="000000"/>
              </a:solidFill>
              <a:effectLst/>
              <a:uFillTx/>
              <a:latin typeface="Arial"/>
            </a:endParaRPr>
          </a:p>
        </p:txBody>
      </p:sp>
      <p:sp>
        <p:nvSpPr>
          <p:cNvPr id="37" name="Text 10"/>
          <p:cNvSpPr/>
          <p:nvPr/>
        </p:nvSpPr>
        <p:spPr>
          <a:xfrm>
            <a:off x="6126480" y="1554480"/>
            <a:ext cx="2605320" cy="730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000" b="1" u="none" strike="noStrike">
                <a:solidFill>
                  <a:srgbClr val="2C5F2D"/>
                </a:solidFill>
                <a:effectLst/>
                <a:uFillTx/>
                <a:latin typeface="Cambria"/>
                <a:ea typeface="Cambria"/>
              </a:rPr>
              <a:t>37</a:t>
            </a:r>
            <a:endParaRPr lang="en-ZA" sz="4000" b="0" u="none" strike="noStrike">
              <a:solidFill>
                <a:srgbClr val="000000"/>
              </a:solidFill>
              <a:effectLst/>
              <a:uFillTx/>
              <a:latin typeface="Arial"/>
            </a:endParaRPr>
          </a:p>
        </p:txBody>
      </p:sp>
      <p:sp>
        <p:nvSpPr>
          <p:cNvPr id="38" name="Text 11"/>
          <p:cNvSpPr/>
          <p:nvPr/>
        </p:nvSpPr>
        <p:spPr>
          <a:xfrm>
            <a:off x="6126480" y="2286000"/>
            <a:ext cx="260532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3B4A41"/>
                </a:solidFill>
                <a:effectLst/>
                <a:uFillTx/>
                <a:latin typeface="Calibri"/>
              </a:rPr>
              <a:t>datasets</a:t>
            </a:r>
            <a:endParaRPr lang="en-ZA" sz="1600" b="0" u="none" strike="noStrike">
              <a:solidFill>
                <a:srgbClr val="000000"/>
              </a:solidFill>
              <a:effectLst/>
              <a:uFillTx/>
              <a:latin typeface="Arial"/>
            </a:endParaRPr>
          </a:p>
        </p:txBody>
      </p:sp>
      <p:sp>
        <p:nvSpPr>
          <p:cNvPr id="39" name="Shape 12"/>
          <p:cNvSpPr/>
          <p:nvPr/>
        </p:nvSpPr>
        <p:spPr>
          <a:xfrm>
            <a:off x="8915400" y="1463040"/>
            <a:ext cx="2605320" cy="1325160"/>
          </a:xfrm>
          <a:prstGeom prst="roundRect">
            <a:avLst>
              <a:gd name="adj" fmla="val 8276"/>
            </a:avLst>
          </a:prstGeom>
          <a:solidFill>
            <a:srgbClr val="F2F5F1"/>
          </a:solidFill>
          <a:ln w="9525">
            <a:solidFill>
              <a:srgbClr val="DDE6DF"/>
            </a:solidFill>
            <a:round/>
          </a:ln>
        </p:spPr>
        <p:style>
          <a:lnRef idx="0"/>
          <a:fillRef idx="0"/>
          <a:effectRef idx="0"/>
          <a:fontRef idx="minor"/>
        </p:style>
        <p:txBody>
          <a:bodyPr lIns="90000" tIns="45000" rIns="90000" bIns="45000" anchor="t">
            <a:noAutofit/>
          </a:bodyPr>
          <a:p>
            <a:endParaRPr lang="en-ZA" sz="1800" b="0" u="none" strike="noStrike">
              <a:solidFill>
                <a:srgbClr val="000000"/>
              </a:solidFill>
              <a:effectLst/>
              <a:uFillTx/>
              <a:latin typeface="Arial"/>
            </a:endParaRPr>
          </a:p>
        </p:txBody>
      </p:sp>
      <p:sp>
        <p:nvSpPr>
          <p:cNvPr id="40" name="Text 13"/>
          <p:cNvSpPr/>
          <p:nvPr/>
        </p:nvSpPr>
        <p:spPr>
          <a:xfrm>
            <a:off x="8915400" y="1554480"/>
            <a:ext cx="2605320" cy="730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000" b="1" u="none" strike="noStrike">
                <a:solidFill>
                  <a:srgbClr val="2C5F2D"/>
                </a:solidFill>
                <a:effectLst/>
                <a:uFillTx/>
                <a:latin typeface="Cambria"/>
                <a:ea typeface="Cambria"/>
              </a:rPr>
              <a:t>~33</a:t>
            </a:r>
            <a:endParaRPr lang="en-ZA" sz="4000" b="0" u="none" strike="noStrike">
              <a:solidFill>
                <a:srgbClr val="000000"/>
              </a:solidFill>
              <a:effectLst/>
              <a:uFillTx/>
              <a:latin typeface="Arial"/>
            </a:endParaRPr>
          </a:p>
        </p:txBody>
      </p:sp>
      <p:sp>
        <p:nvSpPr>
          <p:cNvPr id="41" name="Text 14"/>
          <p:cNvSpPr/>
          <p:nvPr/>
        </p:nvSpPr>
        <p:spPr>
          <a:xfrm>
            <a:off x="8915400" y="2286000"/>
            <a:ext cx="260532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3B4A41"/>
                </a:solidFill>
                <a:effectLst/>
                <a:uFillTx/>
                <a:latin typeface="Calibri"/>
              </a:rPr>
              <a:t>species</a:t>
            </a:r>
            <a:endParaRPr lang="en-ZA" sz="1600" b="0" u="none" strike="noStrike">
              <a:solidFill>
                <a:srgbClr val="000000"/>
              </a:solidFill>
              <a:effectLst/>
              <a:uFillTx/>
              <a:latin typeface="Arial"/>
            </a:endParaRPr>
          </a:p>
        </p:txBody>
      </p:sp>
      <p:sp>
        <p:nvSpPr>
          <p:cNvPr id="42" name="Shape 15"/>
          <p:cNvSpPr/>
          <p:nvPr/>
        </p:nvSpPr>
        <p:spPr>
          <a:xfrm>
            <a:off x="548640" y="3154680"/>
            <a:ext cx="3565440" cy="2925360"/>
          </a:xfrm>
          <a:prstGeom prst="roundRect">
            <a:avLst>
              <a:gd name="adj" fmla="val 3750"/>
            </a:avLst>
          </a:prstGeom>
          <a:solidFill>
            <a:srgbClr val="FFFFFF"/>
          </a:solidFill>
          <a:ln w="12700">
            <a:solidFill>
              <a:srgbClr val="DDE6DF"/>
            </a:solidFill>
            <a:round/>
          </a:ln>
        </p:spPr>
        <p:style>
          <a:lnRef idx="0"/>
          <a:fillRef idx="0"/>
          <a:effectRef idx="0"/>
          <a:fontRef idx="minor"/>
        </p:style>
        <p:txBody>
          <a:bodyPr lIns="90000" tIns="45000" rIns="90000" bIns="45000" anchor="t">
            <a:noAutofit/>
          </a:bodyPr>
          <a:p>
            <a:endParaRPr lang="en-ZA" sz="1800" b="0" u="none" strike="noStrike">
              <a:solidFill>
                <a:srgbClr val="000000"/>
              </a:solidFill>
              <a:effectLst/>
              <a:uFillTx/>
              <a:latin typeface="Arial"/>
            </a:endParaRPr>
          </a:p>
        </p:txBody>
      </p:sp>
      <p:sp>
        <p:nvSpPr>
          <p:cNvPr id="43" name="Text 16"/>
          <p:cNvSpPr/>
          <p:nvPr/>
        </p:nvSpPr>
        <p:spPr>
          <a:xfrm>
            <a:off x="777240" y="3291840"/>
            <a:ext cx="3108240" cy="456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rgbClr val="14231C"/>
                </a:solidFill>
                <a:effectLst/>
                <a:uFillTx/>
                <a:latin typeface="Cambria"/>
                <a:ea typeface="Cambria"/>
              </a:rPr>
              <a:t>Splits without leakage</a:t>
            </a:r>
            <a:endParaRPr lang="en-ZA" sz="2000" b="0" u="none" strike="noStrike">
              <a:solidFill>
                <a:srgbClr val="000000"/>
              </a:solidFill>
              <a:effectLst/>
              <a:uFillTx/>
              <a:latin typeface="Arial"/>
            </a:endParaRPr>
          </a:p>
        </p:txBody>
      </p:sp>
      <p:sp>
        <p:nvSpPr>
          <p:cNvPr id="44" name="Text 17"/>
          <p:cNvSpPr/>
          <p:nvPr/>
        </p:nvSpPr>
        <p:spPr>
          <a:xfrm>
            <a:off x="777240" y="3840480"/>
            <a:ext cx="3108240" cy="2102400"/>
          </a:xfrm>
          <a:prstGeom prst="rect">
            <a:avLst/>
          </a:prstGeom>
          <a:noFill/>
          <a:ln w="0">
            <a:noFill/>
          </a:ln>
        </p:spPr>
        <p:style>
          <a:lnRef idx="0"/>
          <a:fillRef idx="0"/>
          <a:effectRef idx="0"/>
          <a:fontRef idx="minor"/>
        </p:style>
        <p:txBody>
          <a:bodyPr lIns="0" tIns="0" rIns="0" bIns="0" anchor="t">
            <a:noAutofit/>
          </a:bodyPr>
          <a:p>
            <a:pPr marL="343080" indent="-343080" defTabSz="914400">
              <a:lnSpc>
                <a:spcPct val="100000"/>
              </a:lnSpc>
              <a:spcAft>
                <a:spcPts val="799"/>
              </a:spcAft>
              <a:buClr>
                <a:srgbClr val="3B4A41"/>
              </a:buClr>
              <a:buFont typeface="Symbol" charset="2"/>
              <a:buChar char=""/>
            </a:pPr>
            <a:r>
              <a:rPr lang="en-US" sz="1500" b="0" u="none" strike="noStrike">
                <a:solidFill>
                  <a:srgbClr val="3B4A41"/>
                </a:solidFill>
                <a:effectLst/>
                <a:uFillTx/>
                <a:latin typeface="Calibri"/>
              </a:rPr>
              <a:t>Validation is carved out of train</a:t>
            </a:r>
            <a:endParaRPr lang="en-ZA" sz="1500" b="0" u="none" strike="noStrike">
              <a:solidFill>
                <a:srgbClr val="000000"/>
              </a:solidFill>
              <a:effectLst/>
              <a:uFillTx/>
              <a:latin typeface="Arial"/>
            </a:endParaRPr>
          </a:p>
          <a:p>
            <a:pPr marL="343080" indent="-343080" defTabSz="914400">
              <a:lnSpc>
                <a:spcPct val="100000"/>
              </a:lnSpc>
              <a:spcAft>
                <a:spcPts val="799"/>
              </a:spcAft>
              <a:buClr>
                <a:srgbClr val="3B4A41"/>
              </a:buClr>
              <a:buFont typeface="Symbol" charset="2"/>
              <a:buChar char=""/>
            </a:pPr>
            <a:r>
              <a:rPr lang="en-US" sz="1500" b="0" u="none" strike="noStrike">
                <a:solidFill>
                  <a:srgbClr val="3B4A41"/>
                </a:solidFill>
                <a:effectLst/>
                <a:uFillTx/>
                <a:latin typeface="Calibri"/>
              </a:rPr>
              <a:t>10% of identities held out as “new” animals</a:t>
            </a:r>
            <a:endParaRPr lang="en-ZA" sz="1500" b="0" u="none" strike="noStrike">
              <a:solidFill>
                <a:srgbClr val="000000"/>
              </a:solidFill>
              <a:effectLst/>
              <a:uFillTx/>
              <a:latin typeface="Arial"/>
            </a:endParaRPr>
          </a:p>
          <a:p>
            <a:pPr marL="343080" indent="-343080" defTabSz="914400">
              <a:lnSpc>
                <a:spcPct val="100000"/>
              </a:lnSpc>
              <a:spcAft>
                <a:spcPts val="799"/>
              </a:spcAft>
              <a:buClr>
                <a:srgbClr val="3B4A41"/>
              </a:buClr>
              <a:buFont typeface="Symbol" charset="2"/>
              <a:buChar char=""/>
            </a:pPr>
            <a:r>
              <a:rPr lang="en-US" sz="1500" b="0" u="none" strike="noStrike">
                <a:solidFill>
                  <a:srgbClr val="3B4A41"/>
                </a:solidFill>
                <a:effectLst/>
                <a:uFillTx/>
                <a:latin typeface="Calibri"/>
              </a:rPr>
              <a:t>Near-duplicate photo clusters move together</a:t>
            </a:r>
            <a:endParaRPr lang="en-ZA" sz="1500" b="0" u="none" strike="noStrike">
              <a:solidFill>
                <a:srgbClr val="000000"/>
              </a:solidFill>
              <a:effectLst/>
              <a:uFillTx/>
              <a:latin typeface="Arial"/>
            </a:endParaRPr>
          </a:p>
        </p:txBody>
      </p:sp>
      <p:sp>
        <p:nvSpPr>
          <p:cNvPr id="45" name="Shape 18"/>
          <p:cNvSpPr/>
          <p:nvPr/>
        </p:nvSpPr>
        <p:spPr>
          <a:xfrm>
            <a:off x="4297680" y="3154680"/>
            <a:ext cx="3565440" cy="2925360"/>
          </a:xfrm>
          <a:prstGeom prst="roundRect">
            <a:avLst>
              <a:gd name="adj" fmla="val 3750"/>
            </a:avLst>
          </a:prstGeom>
          <a:solidFill>
            <a:srgbClr val="FFFFFF"/>
          </a:solidFill>
          <a:ln w="12700">
            <a:solidFill>
              <a:srgbClr val="DDE6DF"/>
            </a:solidFill>
            <a:round/>
          </a:ln>
        </p:spPr>
        <p:style>
          <a:lnRef idx="0"/>
          <a:fillRef idx="0"/>
          <a:effectRef idx="0"/>
          <a:fontRef idx="minor"/>
        </p:style>
        <p:txBody>
          <a:bodyPr lIns="90000" tIns="45000" rIns="90000" bIns="45000" anchor="t">
            <a:noAutofit/>
          </a:bodyPr>
          <a:p>
            <a:endParaRPr lang="en-ZA" sz="1800" b="0" u="none" strike="noStrike">
              <a:solidFill>
                <a:srgbClr val="000000"/>
              </a:solidFill>
              <a:effectLst/>
              <a:uFillTx/>
              <a:latin typeface="Arial"/>
            </a:endParaRPr>
          </a:p>
        </p:txBody>
      </p:sp>
      <p:sp>
        <p:nvSpPr>
          <p:cNvPr id="46" name="Text 19"/>
          <p:cNvSpPr/>
          <p:nvPr/>
        </p:nvSpPr>
        <p:spPr>
          <a:xfrm>
            <a:off x="4526280" y="3291840"/>
            <a:ext cx="3108240" cy="456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rgbClr val="14231C"/>
                </a:solidFill>
                <a:effectLst/>
                <a:uFillTx/>
                <a:latin typeface="Cambria"/>
                <a:ea typeface="Cambria"/>
              </a:rPr>
              <a:t>Augmentation</a:t>
            </a:r>
            <a:endParaRPr lang="en-ZA" sz="2000" b="0" u="none" strike="noStrike">
              <a:solidFill>
                <a:srgbClr val="000000"/>
              </a:solidFill>
              <a:effectLst/>
              <a:uFillTx/>
              <a:latin typeface="Arial"/>
            </a:endParaRPr>
          </a:p>
        </p:txBody>
      </p:sp>
      <p:sp>
        <p:nvSpPr>
          <p:cNvPr id="47" name="Text 20"/>
          <p:cNvSpPr/>
          <p:nvPr/>
        </p:nvSpPr>
        <p:spPr>
          <a:xfrm>
            <a:off x="4526280" y="3840480"/>
            <a:ext cx="3108240" cy="2102400"/>
          </a:xfrm>
          <a:prstGeom prst="rect">
            <a:avLst/>
          </a:prstGeom>
          <a:noFill/>
          <a:ln w="0">
            <a:noFill/>
          </a:ln>
        </p:spPr>
        <p:style>
          <a:lnRef idx="0"/>
          <a:fillRef idx="0"/>
          <a:effectRef idx="0"/>
          <a:fontRef idx="minor"/>
        </p:style>
        <p:txBody>
          <a:bodyPr lIns="0" tIns="0" rIns="0" bIns="0" anchor="t">
            <a:noAutofit/>
          </a:bodyPr>
          <a:p>
            <a:pPr marL="343080" indent="-343080" defTabSz="914400">
              <a:lnSpc>
                <a:spcPct val="100000"/>
              </a:lnSpc>
              <a:spcAft>
                <a:spcPts val="799"/>
              </a:spcAft>
              <a:buClr>
                <a:srgbClr val="3B4A41"/>
              </a:buClr>
              <a:buFont typeface="Symbol" charset="2"/>
              <a:buChar char=""/>
            </a:pPr>
            <a:r>
              <a:rPr lang="en-US" sz="1500" b="0" u="none" strike="noStrike">
                <a:solidFill>
                  <a:srgbClr val="3B4A41"/>
                </a:solidFill>
                <a:effectLst/>
                <a:uFillTx/>
                <a:latin typeface="Calibri"/>
              </a:rPr>
              <a:t>Mild crops, ±10° rotation, small hue jitter</a:t>
            </a:r>
            <a:endParaRPr lang="en-ZA" sz="1500" b="0" u="none" strike="noStrike">
              <a:solidFill>
                <a:srgbClr val="000000"/>
              </a:solidFill>
              <a:effectLst/>
              <a:uFillTx/>
              <a:latin typeface="Arial"/>
            </a:endParaRPr>
          </a:p>
          <a:p>
            <a:pPr marL="343080" indent="-343080" defTabSz="914400">
              <a:lnSpc>
                <a:spcPct val="100000"/>
              </a:lnSpc>
              <a:spcAft>
                <a:spcPts val="799"/>
              </a:spcAft>
              <a:buClr>
                <a:srgbClr val="3B4A41"/>
              </a:buClr>
              <a:buFont typeface="Symbol" charset="2"/>
              <a:buChar char=""/>
            </a:pPr>
            <a:r>
              <a:rPr lang="en-US" sz="1500" b="0" u="none" strike="noStrike">
                <a:solidFill>
                  <a:srgbClr val="3B4A41"/>
                </a:solidFill>
                <a:effectLst/>
                <a:uFillTx/>
                <a:latin typeface="Calibri"/>
              </a:rPr>
              <a:t>Blur and random erasing for wild conditions</a:t>
            </a:r>
            <a:endParaRPr lang="en-ZA" sz="1500" b="0" u="none" strike="noStrike">
              <a:solidFill>
                <a:srgbClr val="000000"/>
              </a:solidFill>
              <a:effectLst/>
              <a:uFillTx/>
              <a:latin typeface="Arial"/>
            </a:endParaRPr>
          </a:p>
          <a:p>
            <a:pPr marL="343080" indent="-343080" defTabSz="914400">
              <a:lnSpc>
                <a:spcPct val="100000"/>
              </a:lnSpc>
              <a:spcAft>
                <a:spcPts val="799"/>
              </a:spcAft>
              <a:buClr>
                <a:srgbClr val="3B4A41"/>
              </a:buClr>
              <a:buFont typeface="Symbol" charset="2"/>
              <a:buChar char=""/>
            </a:pPr>
            <a:r>
              <a:rPr lang="en-US" sz="1500" b="0" u="none" strike="noStrike">
                <a:solidFill>
                  <a:srgbClr val="3B4A41"/>
                </a:solidFill>
                <a:effectLst/>
                <a:uFillTx/>
                <a:latin typeface="Calibri"/>
              </a:rPr>
              <a:t>No horizontal flips: mirroring invents fake identities</a:t>
            </a:r>
            <a:endParaRPr lang="en-ZA" sz="1500" b="0" u="none" strike="noStrike">
              <a:solidFill>
                <a:srgbClr val="000000"/>
              </a:solidFill>
              <a:effectLst/>
              <a:uFillTx/>
              <a:latin typeface="Arial"/>
            </a:endParaRPr>
          </a:p>
        </p:txBody>
      </p:sp>
      <p:sp>
        <p:nvSpPr>
          <p:cNvPr id="48" name="Shape 21"/>
          <p:cNvSpPr/>
          <p:nvPr/>
        </p:nvSpPr>
        <p:spPr>
          <a:xfrm>
            <a:off x="8046720" y="3154680"/>
            <a:ext cx="3565440" cy="2925360"/>
          </a:xfrm>
          <a:prstGeom prst="roundRect">
            <a:avLst>
              <a:gd name="adj" fmla="val 3750"/>
            </a:avLst>
          </a:prstGeom>
          <a:solidFill>
            <a:srgbClr val="2C5F2D"/>
          </a:solidFill>
          <a:ln w="12700">
            <a:solidFill>
              <a:srgbClr val="2C5F2D"/>
            </a:solidFill>
            <a:round/>
          </a:ln>
        </p:spPr>
        <p:style>
          <a:lnRef idx="0"/>
          <a:fillRef idx="0"/>
          <a:effectRef idx="0"/>
          <a:fontRef idx="minor"/>
        </p:style>
        <p:txBody>
          <a:bodyPr lIns="90000" tIns="45000" rIns="90000" bIns="45000" anchor="t">
            <a:noAutofit/>
          </a:bodyPr>
          <a:p>
            <a:endParaRPr lang="en-ZA" sz="1800" b="0" u="none" strike="noStrike">
              <a:solidFill>
                <a:srgbClr val="FFFFFF"/>
              </a:solidFill>
              <a:effectLst/>
              <a:uFillTx/>
              <a:latin typeface="Arial"/>
            </a:endParaRPr>
          </a:p>
        </p:txBody>
      </p:sp>
      <p:sp>
        <p:nvSpPr>
          <p:cNvPr id="49" name="Text 22"/>
          <p:cNvSpPr/>
          <p:nvPr/>
        </p:nvSpPr>
        <p:spPr>
          <a:xfrm>
            <a:off x="8275320" y="3291840"/>
            <a:ext cx="3108240" cy="456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rgbClr val="FFFFFF"/>
                </a:solidFill>
                <a:effectLst/>
                <a:uFillTx/>
                <a:latin typeface="Cambria"/>
                <a:ea typeface="Cambria"/>
              </a:rPr>
              <a:t>Compression</a:t>
            </a:r>
            <a:endParaRPr lang="en-ZA" sz="2000" b="0" u="none" strike="noStrike">
              <a:solidFill>
                <a:srgbClr val="000000"/>
              </a:solidFill>
              <a:effectLst/>
              <a:uFillTx/>
              <a:latin typeface="Arial"/>
            </a:endParaRPr>
          </a:p>
        </p:txBody>
      </p:sp>
      <p:sp>
        <p:nvSpPr>
          <p:cNvPr id="50" name="Text 23"/>
          <p:cNvSpPr/>
          <p:nvPr/>
        </p:nvSpPr>
        <p:spPr>
          <a:xfrm>
            <a:off x="8275320" y="3840480"/>
            <a:ext cx="3108240" cy="2102400"/>
          </a:xfrm>
          <a:prstGeom prst="rect">
            <a:avLst/>
          </a:prstGeom>
          <a:noFill/>
          <a:ln w="0">
            <a:noFill/>
          </a:ln>
        </p:spPr>
        <p:style>
          <a:lnRef idx="0"/>
          <a:fillRef idx="0"/>
          <a:effectRef idx="0"/>
          <a:fontRef idx="minor"/>
        </p:style>
        <p:txBody>
          <a:bodyPr lIns="0" tIns="0" rIns="0" bIns="0" anchor="t">
            <a:noAutofit/>
          </a:bodyPr>
          <a:p>
            <a:pPr marL="343080" indent="-343080" defTabSz="914400">
              <a:lnSpc>
                <a:spcPct val="100000"/>
              </a:lnSpc>
              <a:spcAft>
                <a:spcPts val="799"/>
              </a:spcAft>
              <a:buClr>
                <a:srgbClr val="FFFFFF"/>
              </a:buClr>
              <a:buFont typeface="Symbol" charset="2"/>
              <a:buChar char=""/>
            </a:pPr>
            <a:r>
              <a:rPr lang="en-US" sz="1500" b="0" u="none" strike="noStrike">
                <a:solidFill>
                  <a:srgbClr val="FFFFFF"/>
                </a:solidFill>
                <a:effectLst/>
                <a:uFillTx/>
                <a:latin typeface="Calibri"/>
              </a:rPr>
              <a:t>PCA with whitening, fitted on train only</a:t>
            </a:r>
            <a:endParaRPr lang="en-ZA" sz="1500" b="0" u="none" strike="noStrike">
              <a:solidFill>
                <a:srgbClr val="000000"/>
              </a:solidFill>
              <a:effectLst/>
              <a:uFillTx/>
              <a:latin typeface="Arial"/>
            </a:endParaRPr>
          </a:p>
          <a:p>
            <a:pPr marL="343080" indent="-343080" defTabSz="914400">
              <a:lnSpc>
                <a:spcPct val="100000"/>
              </a:lnSpc>
              <a:spcAft>
                <a:spcPts val="799"/>
              </a:spcAft>
              <a:buClr>
                <a:srgbClr val="FFFFFF"/>
              </a:buClr>
              <a:buFont typeface="Symbol" charset="2"/>
              <a:buChar char=""/>
            </a:pPr>
            <a:r>
              <a:rPr lang="en-US" sz="1500" b="0" u="none" strike="noStrike">
                <a:solidFill>
                  <a:srgbClr val="FFFFFF"/>
                </a:solidFill>
                <a:effectLst/>
                <a:uFillTx/>
                <a:latin typeface="Calibri"/>
              </a:rPr>
              <a:t>Sweep 32, 64, 128, 256 and 512 dimensions</a:t>
            </a:r>
            <a:endParaRPr lang="en-ZA" sz="1500" b="0" u="none" strike="noStrike">
              <a:solidFill>
                <a:srgbClr val="000000"/>
              </a:solidFill>
              <a:effectLst/>
              <a:uFillTx/>
              <a:latin typeface="Arial"/>
            </a:endParaRPr>
          </a:p>
          <a:p>
            <a:pPr marL="343080" indent="-343080" defTabSz="914400">
              <a:lnSpc>
                <a:spcPct val="100000"/>
              </a:lnSpc>
              <a:spcAft>
                <a:spcPts val="799"/>
              </a:spcAft>
              <a:buClr>
                <a:srgbClr val="FFFFFF"/>
              </a:buClr>
              <a:buFont typeface="Symbol" charset="2"/>
              <a:buChar char=""/>
            </a:pPr>
            <a:r>
              <a:rPr lang="en-US" sz="1500" b="0" u="none" strike="noStrike">
                <a:solidFill>
                  <a:srgbClr val="FFFFFF"/>
                </a:solidFill>
                <a:effectLst/>
                <a:uFillTx/>
                <a:latin typeface="Calibri"/>
              </a:rPr>
              <a:t>Find where retrieval starts to degrade</a:t>
            </a:r>
            <a:endParaRPr lang="en-ZA"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1" name="Title"/>
          <p:cNvSpPr/>
          <p:nvPr/>
        </p:nvSpPr>
        <p:spPr>
          <a:xfrm>
            <a:off x="548640" y="365760"/>
            <a:ext cx="11063520" cy="822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800" b="1" u="none" strike="noStrike">
                <a:solidFill>
                  <a:schemeClr val="dk1"/>
                </a:solidFill>
                <a:effectLst/>
                <a:uFillTx/>
                <a:latin typeface="Cambria"/>
                <a:ea typeface="Cambria"/>
              </a:rPr>
              <a:t>Pipeline: three views, one score</a:t>
            </a:r>
            <a:endParaRPr lang="en-ZA" sz="3800" b="0" u="none" strike="noStrike">
              <a:solidFill>
                <a:srgbClr val="000000"/>
              </a:solidFill>
              <a:effectLst/>
              <a:uFillTx/>
              <a:latin typeface="Arial"/>
            </a:endParaRPr>
          </a:p>
        </p:txBody>
      </p:sp>
      <p:sp>
        <p:nvSpPr>
          <p:cNvPr id="52" name="PageNo"/>
          <p:cNvSpPr/>
          <p:nvPr/>
        </p:nvSpPr>
        <p:spPr>
          <a:xfrm>
            <a:off x="10698480" y="6400800"/>
            <a:ext cx="913680" cy="273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100" b="0" u="none" strike="noStrike">
                <a:solidFill>
                  <a:srgbClr val="5B7F6B"/>
                </a:solidFill>
                <a:effectLst/>
                <a:uFillTx/>
                <a:latin typeface="Calibri"/>
              </a:rPr>
              <a:t>3 / 5</a:t>
            </a:r>
            <a:endParaRPr lang="en-ZA" sz="1100" b="0" u="none" strike="noStrike">
              <a:solidFill>
                <a:srgbClr val="000000"/>
              </a:solidFill>
              <a:effectLst/>
              <a:uFillTx/>
              <a:latin typeface="Arial"/>
            </a:endParaRPr>
          </a:p>
        </p:txBody>
      </p:sp>
      <p:sp>
        <p:nvSpPr>
          <p:cNvPr id="53" name="Shape 3"/>
          <p:cNvSpPr/>
          <p:nvPr/>
        </p:nvSpPr>
        <p:spPr>
          <a:xfrm>
            <a:off x="548640" y="1417320"/>
            <a:ext cx="2056680" cy="3245400"/>
          </a:xfrm>
          <a:prstGeom prst="roundRect">
            <a:avLst>
              <a:gd name="adj" fmla="val 5333"/>
            </a:avLst>
          </a:prstGeom>
          <a:solidFill>
            <a:srgbClr val="F2F5F1"/>
          </a:solidFill>
          <a:ln w="12700">
            <a:solidFill>
              <a:srgbClr val="DDE6DF"/>
            </a:solidFill>
            <a:round/>
          </a:ln>
        </p:spPr>
        <p:style>
          <a:lnRef idx="0"/>
          <a:fillRef idx="0"/>
          <a:effectRef idx="0"/>
          <a:fontRef idx="minor"/>
        </p:style>
        <p:txBody>
          <a:bodyPr lIns="90000" tIns="45000" rIns="90000" bIns="45000" anchor="t">
            <a:noAutofit/>
          </a:bodyPr>
          <a:p>
            <a:endParaRPr lang="en-ZA" sz="1800" b="0" u="none" strike="noStrike">
              <a:solidFill>
                <a:srgbClr val="000000"/>
              </a:solidFill>
              <a:effectLst/>
              <a:uFillTx/>
              <a:latin typeface="Arial"/>
            </a:endParaRPr>
          </a:p>
        </p:txBody>
      </p:sp>
      <p:sp>
        <p:nvSpPr>
          <p:cNvPr id="54" name="Shape 4"/>
          <p:cNvSpPr/>
          <p:nvPr/>
        </p:nvSpPr>
        <p:spPr>
          <a:xfrm>
            <a:off x="685800" y="1554480"/>
            <a:ext cx="365040" cy="365040"/>
          </a:xfrm>
          <a:prstGeom prst="ellipse">
            <a:avLst/>
          </a:prstGeom>
          <a:solidFill>
            <a:srgbClr val="2C5F2D"/>
          </a:solidFill>
          <a:ln w="12700">
            <a:solidFill>
              <a:srgbClr val="2C5F2D"/>
            </a:solidFill>
            <a:round/>
          </a:ln>
        </p:spPr>
        <p:style>
          <a:lnRef idx="0"/>
          <a:fillRef idx="0"/>
          <a:effectRef idx="0"/>
          <a:fontRef idx="minor"/>
        </p:style>
        <p:txBody>
          <a:bodyPr lIns="90000" tIns="45000" rIns="90000" bIns="45000" anchor="t">
            <a:noAutofit/>
          </a:bodyPr>
          <a:p>
            <a:endParaRPr lang="en-ZA" sz="1800" b="0" u="none" strike="noStrike">
              <a:solidFill>
                <a:srgbClr val="FFFFFF"/>
              </a:solidFill>
              <a:effectLst/>
              <a:uFillTx/>
              <a:latin typeface="Arial"/>
            </a:endParaRPr>
          </a:p>
        </p:txBody>
      </p:sp>
      <p:sp>
        <p:nvSpPr>
          <p:cNvPr id="55" name="Text 5"/>
          <p:cNvSpPr/>
          <p:nvPr/>
        </p:nvSpPr>
        <p:spPr>
          <a:xfrm>
            <a:off x="685800" y="1554480"/>
            <a:ext cx="36504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rPr>
              <a:t>1</a:t>
            </a:r>
            <a:endParaRPr lang="en-ZA" sz="1400" b="0" u="none" strike="noStrike">
              <a:solidFill>
                <a:srgbClr val="000000"/>
              </a:solidFill>
              <a:effectLst/>
              <a:uFillTx/>
              <a:latin typeface="Arial"/>
            </a:endParaRPr>
          </a:p>
        </p:txBody>
      </p:sp>
      <p:pic>
        <p:nvPicPr>
          <p:cNvPr id="56" name="Step image 1" descr="/tmp/claude-0/-home-claude/69af264c-e446-5a84-b6a0-945426285a6b/scratchpad/pp/query.png"/>
          <p:cNvPicPr/>
          <p:nvPr/>
        </p:nvPicPr>
        <p:blipFill>
          <a:blip r:embed="rId1"/>
          <a:stretch/>
        </p:blipFill>
        <p:spPr>
          <a:xfrm>
            <a:off x="640080" y="2267280"/>
            <a:ext cx="1873800" cy="1408680"/>
          </a:xfrm>
          <a:prstGeom prst="rect">
            <a:avLst/>
          </a:prstGeom>
          <a:noFill/>
          <a:ln w="0">
            <a:noFill/>
          </a:ln>
        </p:spPr>
      </p:pic>
      <p:sp>
        <p:nvSpPr>
          <p:cNvPr id="57" name="Text 6"/>
          <p:cNvSpPr/>
          <p:nvPr/>
        </p:nvSpPr>
        <p:spPr>
          <a:xfrm>
            <a:off x="685800" y="3977640"/>
            <a:ext cx="1782360" cy="5936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rgbClr val="14231C"/>
                </a:solidFill>
                <a:effectLst/>
                <a:uFillTx/>
                <a:latin typeface="Calibri"/>
              </a:rPr>
              <a:t>Query image</a:t>
            </a:r>
            <a:endParaRPr lang="en-ZA" sz="1400" b="0" u="none" strike="noStrike">
              <a:solidFill>
                <a:srgbClr val="000000"/>
              </a:solidFill>
              <a:effectLst/>
              <a:uFillTx/>
              <a:latin typeface="Arial"/>
            </a:endParaRPr>
          </a:p>
        </p:txBody>
      </p:sp>
      <p:sp>
        <p:nvSpPr>
          <p:cNvPr id="58" name="Shape 7"/>
          <p:cNvSpPr/>
          <p:nvPr/>
        </p:nvSpPr>
        <p:spPr>
          <a:xfrm>
            <a:off x="0" y="0"/>
            <a:ext cx="360" cy="360"/>
          </a:xfrm>
          <a:prstGeom prst="rtTriangle">
            <a:avLst/>
          </a:prstGeom>
          <a:solidFill>
            <a:srgbClr val="FFFFFF"/>
          </a:solidFill>
          <a:ln w="0">
            <a:noFill/>
          </a:ln>
        </p:spPr>
        <p:style>
          <a:lnRef idx="0"/>
          <a:fillRef idx="0"/>
          <a:effectRef idx="0"/>
          <a:fontRef idx="minor"/>
        </p:style>
        <p:txBody>
          <a:bodyPr lIns="0" tIns="-44640" rIns="0" bIns="-44640" anchor="t">
            <a:noAutofit/>
          </a:bodyPr>
          <a:p>
            <a:endParaRPr lang="en-ZA" sz="1800" b="0" u="none" strike="noStrike">
              <a:solidFill>
                <a:srgbClr val="000000"/>
              </a:solidFill>
              <a:effectLst/>
              <a:uFillTx/>
              <a:latin typeface="Arial"/>
            </a:endParaRPr>
          </a:p>
        </p:txBody>
      </p:sp>
      <p:sp>
        <p:nvSpPr>
          <p:cNvPr id="59" name="Shape 8"/>
          <p:cNvSpPr/>
          <p:nvPr/>
        </p:nvSpPr>
        <p:spPr>
          <a:xfrm>
            <a:off x="2788920" y="1417320"/>
            <a:ext cx="2056680" cy="3245400"/>
          </a:xfrm>
          <a:prstGeom prst="roundRect">
            <a:avLst>
              <a:gd name="adj" fmla="val 5333"/>
            </a:avLst>
          </a:prstGeom>
          <a:solidFill>
            <a:srgbClr val="F2F5F1"/>
          </a:solidFill>
          <a:ln w="12700">
            <a:solidFill>
              <a:srgbClr val="DDE6DF"/>
            </a:solidFill>
            <a:round/>
          </a:ln>
        </p:spPr>
        <p:style>
          <a:lnRef idx="0"/>
          <a:fillRef idx="0"/>
          <a:effectRef idx="0"/>
          <a:fontRef idx="minor"/>
        </p:style>
        <p:txBody>
          <a:bodyPr lIns="90000" tIns="45000" rIns="90000" bIns="45000" anchor="t">
            <a:noAutofit/>
          </a:bodyPr>
          <a:p>
            <a:endParaRPr lang="en-ZA" sz="1800" b="0" u="none" strike="noStrike">
              <a:solidFill>
                <a:srgbClr val="000000"/>
              </a:solidFill>
              <a:effectLst/>
              <a:uFillTx/>
              <a:latin typeface="Arial"/>
            </a:endParaRPr>
          </a:p>
        </p:txBody>
      </p:sp>
      <p:sp>
        <p:nvSpPr>
          <p:cNvPr id="60" name="Shape 9"/>
          <p:cNvSpPr/>
          <p:nvPr/>
        </p:nvSpPr>
        <p:spPr>
          <a:xfrm>
            <a:off x="2926080" y="1554480"/>
            <a:ext cx="365040" cy="365040"/>
          </a:xfrm>
          <a:prstGeom prst="ellipse">
            <a:avLst/>
          </a:prstGeom>
          <a:solidFill>
            <a:srgbClr val="2C5F2D"/>
          </a:solidFill>
          <a:ln w="12700">
            <a:solidFill>
              <a:srgbClr val="2C5F2D"/>
            </a:solidFill>
            <a:round/>
          </a:ln>
        </p:spPr>
        <p:style>
          <a:lnRef idx="0"/>
          <a:fillRef idx="0"/>
          <a:effectRef idx="0"/>
          <a:fontRef idx="minor"/>
        </p:style>
        <p:txBody>
          <a:bodyPr lIns="90000" tIns="45000" rIns="90000" bIns="45000" anchor="t">
            <a:noAutofit/>
          </a:bodyPr>
          <a:p>
            <a:endParaRPr lang="en-ZA" sz="1800" b="0" u="none" strike="noStrike">
              <a:solidFill>
                <a:srgbClr val="FFFFFF"/>
              </a:solidFill>
              <a:effectLst/>
              <a:uFillTx/>
              <a:latin typeface="Arial"/>
            </a:endParaRPr>
          </a:p>
        </p:txBody>
      </p:sp>
      <p:sp>
        <p:nvSpPr>
          <p:cNvPr id="61" name="Text 10"/>
          <p:cNvSpPr/>
          <p:nvPr/>
        </p:nvSpPr>
        <p:spPr>
          <a:xfrm>
            <a:off x="2926080" y="1554480"/>
            <a:ext cx="36504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rPr>
              <a:t>2</a:t>
            </a:r>
            <a:endParaRPr lang="en-ZA" sz="1400" b="0" u="none" strike="noStrike">
              <a:solidFill>
                <a:srgbClr val="000000"/>
              </a:solidFill>
              <a:effectLst/>
              <a:uFillTx/>
              <a:latin typeface="Arial"/>
            </a:endParaRPr>
          </a:p>
        </p:txBody>
      </p:sp>
      <p:pic>
        <p:nvPicPr>
          <p:cNvPr id="62" name="Step image 2" descr="/tmp/claude-0/-home-claude/69af264c-e446-5a84-b6a0-945426285a6b/scratchpad/pp/embed.png"/>
          <p:cNvPicPr/>
          <p:nvPr/>
        </p:nvPicPr>
        <p:blipFill>
          <a:blip r:embed="rId2"/>
          <a:stretch/>
        </p:blipFill>
        <p:spPr>
          <a:xfrm>
            <a:off x="2880360" y="2301840"/>
            <a:ext cx="1873800" cy="1338840"/>
          </a:xfrm>
          <a:prstGeom prst="rect">
            <a:avLst/>
          </a:prstGeom>
          <a:noFill/>
          <a:ln w="0">
            <a:noFill/>
          </a:ln>
        </p:spPr>
      </p:pic>
      <p:sp>
        <p:nvSpPr>
          <p:cNvPr id="63" name="Text 11"/>
          <p:cNvSpPr/>
          <p:nvPr/>
        </p:nvSpPr>
        <p:spPr>
          <a:xfrm>
            <a:off x="2926080" y="3977640"/>
            <a:ext cx="1782360" cy="5936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rgbClr val="14231C"/>
                </a:solidFill>
                <a:effectLst/>
                <a:uFillTx/>
                <a:latin typeface="Calibri"/>
              </a:rPr>
              <a:t>Embed: global + EVA02</a:t>
            </a:r>
            <a:endParaRPr lang="en-ZA" sz="1400" b="0" u="none" strike="noStrike">
              <a:solidFill>
                <a:srgbClr val="000000"/>
              </a:solidFill>
              <a:effectLst/>
              <a:uFillTx/>
              <a:latin typeface="Arial"/>
            </a:endParaRPr>
          </a:p>
        </p:txBody>
      </p:sp>
      <p:sp>
        <p:nvSpPr>
          <p:cNvPr id="64" name="Shape 12"/>
          <p:cNvSpPr/>
          <p:nvPr/>
        </p:nvSpPr>
        <p:spPr>
          <a:xfrm>
            <a:off x="0" y="0"/>
            <a:ext cx="360" cy="360"/>
          </a:xfrm>
          <a:prstGeom prst="rtTriangle">
            <a:avLst/>
          </a:prstGeom>
          <a:solidFill>
            <a:srgbClr val="FFFFFF"/>
          </a:solidFill>
          <a:ln w="0">
            <a:noFill/>
          </a:ln>
        </p:spPr>
        <p:style>
          <a:lnRef idx="0"/>
          <a:fillRef idx="0"/>
          <a:effectRef idx="0"/>
          <a:fontRef idx="minor"/>
        </p:style>
        <p:txBody>
          <a:bodyPr lIns="0" tIns="-44640" rIns="0" bIns="-44640" anchor="t">
            <a:noAutofit/>
          </a:bodyPr>
          <a:p>
            <a:endParaRPr lang="en-ZA" sz="1800" b="0" u="none" strike="noStrike">
              <a:solidFill>
                <a:srgbClr val="000000"/>
              </a:solidFill>
              <a:effectLst/>
              <a:uFillTx/>
              <a:latin typeface="Arial"/>
            </a:endParaRPr>
          </a:p>
        </p:txBody>
      </p:sp>
      <p:sp>
        <p:nvSpPr>
          <p:cNvPr id="65" name="Shape 13"/>
          <p:cNvSpPr/>
          <p:nvPr/>
        </p:nvSpPr>
        <p:spPr>
          <a:xfrm>
            <a:off x="5029200" y="1417320"/>
            <a:ext cx="2056680" cy="3245400"/>
          </a:xfrm>
          <a:prstGeom prst="roundRect">
            <a:avLst>
              <a:gd name="adj" fmla="val 5333"/>
            </a:avLst>
          </a:prstGeom>
          <a:solidFill>
            <a:srgbClr val="F2F5F1"/>
          </a:solidFill>
          <a:ln w="12700">
            <a:solidFill>
              <a:srgbClr val="DDE6DF"/>
            </a:solidFill>
            <a:round/>
          </a:ln>
        </p:spPr>
        <p:style>
          <a:lnRef idx="0"/>
          <a:fillRef idx="0"/>
          <a:effectRef idx="0"/>
          <a:fontRef idx="minor"/>
        </p:style>
        <p:txBody>
          <a:bodyPr lIns="90000" tIns="45000" rIns="90000" bIns="45000" anchor="t">
            <a:noAutofit/>
          </a:bodyPr>
          <a:p>
            <a:endParaRPr lang="en-ZA" sz="1800" b="0" u="none" strike="noStrike">
              <a:solidFill>
                <a:srgbClr val="000000"/>
              </a:solidFill>
              <a:effectLst/>
              <a:uFillTx/>
              <a:latin typeface="Arial"/>
            </a:endParaRPr>
          </a:p>
        </p:txBody>
      </p:sp>
      <p:sp>
        <p:nvSpPr>
          <p:cNvPr id="66" name="Shape 14"/>
          <p:cNvSpPr/>
          <p:nvPr/>
        </p:nvSpPr>
        <p:spPr>
          <a:xfrm>
            <a:off x="5166360" y="1554480"/>
            <a:ext cx="365040" cy="365040"/>
          </a:xfrm>
          <a:prstGeom prst="ellipse">
            <a:avLst/>
          </a:prstGeom>
          <a:solidFill>
            <a:srgbClr val="2C5F2D"/>
          </a:solidFill>
          <a:ln w="12700">
            <a:solidFill>
              <a:srgbClr val="2C5F2D"/>
            </a:solidFill>
            <a:round/>
          </a:ln>
        </p:spPr>
        <p:style>
          <a:lnRef idx="0"/>
          <a:fillRef idx="0"/>
          <a:effectRef idx="0"/>
          <a:fontRef idx="minor"/>
        </p:style>
        <p:txBody>
          <a:bodyPr lIns="90000" tIns="45000" rIns="90000" bIns="45000" anchor="t">
            <a:noAutofit/>
          </a:bodyPr>
          <a:p>
            <a:endParaRPr lang="en-ZA" sz="1800" b="0" u="none" strike="noStrike">
              <a:solidFill>
                <a:srgbClr val="FFFFFF"/>
              </a:solidFill>
              <a:effectLst/>
              <a:uFillTx/>
              <a:latin typeface="Arial"/>
            </a:endParaRPr>
          </a:p>
        </p:txBody>
      </p:sp>
      <p:sp>
        <p:nvSpPr>
          <p:cNvPr id="67" name="Text 15"/>
          <p:cNvSpPr/>
          <p:nvPr/>
        </p:nvSpPr>
        <p:spPr>
          <a:xfrm>
            <a:off x="5166360" y="1554480"/>
            <a:ext cx="36504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rPr>
              <a:t>3</a:t>
            </a:r>
            <a:endParaRPr lang="en-ZA" sz="1400" b="0" u="none" strike="noStrike">
              <a:solidFill>
                <a:srgbClr val="000000"/>
              </a:solidFill>
              <a:effectLst/>
              <a:uFillTx/>
              <a:latin typeface="Arial"/>
            </a:endParaRPr>
          </a:p>
        </p:txBody>
      </p:sp>
      <p:pic>
        <p:nvPicPr>
          <p:cNvPr id="68" name="Step image 3" descr="/tmp/claude-0/-home-claude/69af264c-e446-5a84-b6a0-945426285a6b/scratchpad/pp/nearest.png"/>
          <p:cNvPicPr/>
          <p:nvPr/>
        </p:nvPicPr>
        <p:blipFill>
          <a:blip r:embed="rId3"/>
          <a:stretch/>
        </p:blipFill>
        <p:spPr>
          <a:xfrm>
            <a:off x="5372280" y="2085840"/>
            <a:ext cx="1370880" cy="1771200"/>
          </a:xfrm>
          <a:prstGeom prst="rect">
            <a:avLst/>
          </a:prstGeom>
          <a:noFill/>
          <a:ln w="0">
            <a:noFill/>
          </a:ln>
        </p:spPr>
      </p:pic>
      <p:sp>
        <p:nvSpPr>
          <p:cNvPr id="69" name="Text 16"/>
          <p:cNvSpPr/>
          <p:nvPr/>
        </p:nvSpPr>
        <p:spPr>
          <a:xfrm>
            <a:off x="5166360" y="3977640"/>
            <a:ext cx="1782360" cy="5936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rgbClr val="14231C"/>
                </a:solidFill>
                <a:effectLst/>
                <a:uFillTx/>
                <a:latin typeface="Calibri"/>
              </a:rPr>
              <a:t>Shortlist top-K by cosine</a:t>
            </a:r>
            <a:endParaRPr lang="en-ZA" sz="1400" b="0" u="none" strike="noStrike">
              <a:solidFill>
                <a:srgbClr val="000000"/>
              </a:solidFill>
              <a:effectLst/>
              <a:uFillTx/>
              <a:latin typeface="Arial"/>
            </a:endParaRPr>
          </a:p>
        </p:txBody>
      </p:sp>
      <p:sp>
        <p:nvSpPr>
          <p:cNvPr id="70" name="Shape 17"/>
          <p:cNvSpPr/>
          <p:nvPr/>
        </p:nvSpPr>
        <p:spPr>
          <a:xfrm>
            <a:off x="0" y="0"/>
            <a:ext cx="360" cy="360"/>
          </a:xfrm>
          <a:prstGeom prst="rtTriangle">
            <a:avLst/>
          </a:prstGeom>
          <a:solidFill>
            <a:srgbClr val="FFFFFF"/>
          </a:solidFill>
          <a:ln w="0">
            <a:noFill/>
          </a:ln>
        </p:spPr>
        <p:style>
          <a:lnRef idx="0"/>
          <a:fillRef idx="0"/>
          <a:effectRef idx="0"/>
          <a:fontRef idx="minor"/>
        </p:style>
        <p:txBody>
          <a:bodyPr lIns="0" tIns="-44640" rIns="0" bIns="-44640" anchor="t">
            <a:noAutofit/>
          </a:bodyPr>
          <a:p>
            <a:endParaRPr lang="en-ZA" sz="1800" b="0" u="none" strike="noStrike">
              <a:solidFill>
                <a:srgbClr val="000000"/>
              </a:solidFill>
              <a:effectLst/>
              <a:uFillTx/>
              <a:latin typeface="Arial"/>
            </a:endParaRPr>
          </a:p>
        </p:txBody>
      </p:sp>
      <p:sp>
        <p:nvSpPr>
          <p:cNvPr id="71" name="Shape 18"/>
          <p:cNvSpPr/>
          <p:nvPr/>
        </p:nvSpPr>
        <p:spPr>
          <a:xfrm>
            <a:off x="7269480" y="1417320"/>
            <a:ext cx="2056680" cy="3245400"/>
          </a:xfrm>
          <a:prstGeom prst="roundRect">
            <a:avLst>
              <a:gd name="adj" fmla="val 5333"/>
            </a:avLst>
          </a:prstGeom>
          <a:solidFill>
            <a:srgbClr val="F2F5F1"/>
          </a:solidFill>
          <a:ln w="12700">
            <a:solidFill>
              <a:srgbClr val="DDE6DF"/>
            </a:solidFill>
            <a:round/>
          </a:ln>
        </p:spPr>
        <p:style>
          <a:lnRef idx="0"/>
          <a:fillRef idx="0"/>
          <a:effectRef idx="0"/>
          <a:fontRef idx="minor"/>
        </p:style>
        <p:txBody>
          <a:bodyPr lIns="90000" tIns="45000" rIns="90000" bIns="45000" anchor="t">
            <a:noAutofit/>
          </a:bodyPr>
          <a:p>
            <a:endParaRPr lang="en-ZA" sz="1800" b="0" u="none" strike="noStrike">
              <a:solidFill>
                <a:srgbClr val="000000"/>
              </a:solidFill>
              <a:effectLst/>
              <a:uFillTx/>
              <a:latin typeface="Arial"/>
            </a:endParaRPr>
          </a:p>
        </p:txBody>
      </p:sp>
      <p:sp>
        <p:nvSpPr>
          <p:cNvPr id="72" name="Shape 19"/>
          <p:cNvSpPr/>
          <p:nvPr/>
        </p:nvSpPr>
        <p:spPr>
          <a:xfrm>
            <a:off x="7406640" y="1554480"/>
            <a:ext cx="365040" cy="365040"/>
          </a:xfrm>
          <a:prstGeom prst="ellipse">
            <a:avLst/>
          </a:prstGeom>
          <a:solidFill>
            <a:srgbClr val="2C5F2D"/>
          </a:solidFill>
          <a:ln w="12700">
            <a:solidFill>
              <a:srgbClr val="2C5F2D"/>
            </a:solidFill>
            <a:round/>
          </a:ln>
        </p:spPr>
        <p:style>
          <a:lnRef idx="0"/>
          <a:fillRef idx="0"/>
          <a:effectRef idx="0"/>
          <a:fontRef idx="minor"/>
        </p:style>
        <p:txBody>
          <a:bodyPr lIns="90000" tIns="45000" rIns="90000" bIns="45000" anchor="t">
            <a:noAutofit/>
          </a:bodyPr>
          <a:p>
            <a:endParaRPr lang="en-ZA" sz="1800" b="0" u="none" strike="noStrike">
              <a:solidFill>
                <a:srgbClr val="FFFFFF"/>
              </a:solidFill>
              <a:effectLst/>
              <a:uFillTx/>
              <a:latin typeface="Arial"/>
            </a:endParaRPr>
          </a:p>
        </p:txBody>
      </p:sp>
      <p:sp>
        <p:nvSpPr>
          <p:cNvPr id="73" name="Text 20"/>
          <p:cNvSpPr/>
          <p:nvPr/>
        </p:nvSpPr>
        <p:spPr>
          <a:xfrm>
            <a:off x="7406640" y="1554480"/>
            <a:ext cx="36504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rPr>
              <a:t>4</a:t>
            </a:r>
            <a:endParaRPr lang="en-ZA" sz="1400" b="0" u="none" strike="noStrike">
              <a:solidFill>
                <a:srgbClr val="000000"/>
              </a:solidFill>
              <a:effectLst/>
              <a:uFillTx/>
              <a:latin typeface="Arial"/>
            </a:endParaRPr>
          </a:p>
        </p:txBody>
      </p:sp>
      <p:sp>
        <p:nvSpPr>
          <p:cNvPr id="74" name="Text 21"/>
          <p:cNvSpPr/>
          <p:nvPr/>
        </p:nvSpPr>
        <p:spPr>
          <a:xfrm>
            <a:off x="7406640" y="2148840"/>
            <a:ext cx="1782360" cy="16452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rgbClr val="3B4A41"/>
                </a:solidFill>
                <a:effectLst/>
                <a:uFillTx/>
                <a:latin typeface="Calibri"/>
              </a:rPr>
              <a:t>Spots, stripes and scars matched keypoint by keypoint</a:t>
            </a:r>
            <a:endParaRPr lang="en-ZA" sz="1600" b="0" u="none" strike="noStrike">
              <a:solidFill>
                <a:srgbClr val="000000"/>
              </a:solidFill>
              <a:effectLst/>
              <a:uFillTx/>
              <a:latin typeface="Arial"/>
            </a:endParaRPr>
          </a:p>
        </p:txBody>
      </p:sp>
      <p:sp>
        <p:nvSpPr>
          <p:cNvPr id="75" name="Text 22"/>
          <p:cNvSpPr/>
          <p:nvPr/>
        </p:nvSpPr>
        <p:spPr>
          <a:xfrm>
            <a:off x="7406640" y="3977640"/>
            <a:ext cx="1782360" cy="5936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rgbClr val="14231C"/>
                </a:solidFill>
                <a:effectLst/>
                <a:uFillTx/>
                <a:latin typeface="Calibri"/>
              </a:rPr>
              <a:t>ALIKED + LightGlue on best 20</a:t>
            </a:r>
            <a:endParaRPr lang="en-ZA" sz="1400" b="0" u="none" strike="noStrike">
              <a:solidFill>
                <a:srgbClr val="000000"/>
              </a:solidFill>
              <a:effectLst/>
              <a:uFillTx/>
              <a:latin typeface="Arial"/>
            </a:endParaRPr>
          </a:p>
        </p:txBody>
      </p:sp>
      <p:sp>
        <p:nvSpPr>
          <p:cNvPr id="76" name="Shape 23"/>
          <p:cNvSpPr/>
          <p:nvPr/>
        </p:nvSpPr>
        <p:spPr>
          <a:xfrm>
            <a:off x="0" y="0"/>
            <a:ext cx="360" cy="360"/>
          </a:xfrm>
          <a:prstGeom prst="rtTriangle">
            <a:avLst/>
          </a:prstGeom>
          <a:solidFill>
            <a:srgbClr val="FFFFFF"/>
          </a:solidFill>
          <a:ln w="0">
            <a:noFill/>
          </a:ln>
        </p:spPr>
        <p:style>
          <a:lnRef idx="0"/>
          <a:fillRef idx="0"/>
          <a:effectRef idx="0"/>
          <a:fontRef idx="minor"/>
        </p:style>
        <p:txBody>
          <a:bodyPr lIns="0" tIns="-44640" rIns="0" bIns="-44640" anchor="t">
            <a:noAutofit/>
          </a:bodyPr>
          <a:p>
            <a:endParaRPr lang="en-ZA" sz="1800" b="0" u="none" strike="noStrike">
              <a:solidFill>
                <a:srgbClr val="000000"/>
              </a:solidFill>
              <a:effectLst/>
              <a:uFillTx/>
              <a:latin typeface="Arial"/>
            </a:endParaRPr>
          </a:p>
        </p:txBody>
      </p:sp>
      <p:sp>
        <p:nvSpPr>
          <p:cNvPr id="77" name="Shape 24"/>
          <p:cNvSpPr/>
          <p:nvPr/>
        </p:nvSpPr>
        <p:spPr>
          <a:xfrm>
            <a:off x="9509760" y="1417320"/>
            <a:ext cx="2370240" cy="3245400"/>
          </a:xfrm>
          <a:prstGeom prst="roundRect">
            <a:avLst>
              <a:gd name="adj" fmla="val 5333"/>
            </a:avLst>
          </a:prstGeom>
          <a:solidFill>
            <a:srgbClr val="FBF1DC"/>
          </a:solidFill>
          <a:ln w="12700">
            <a:solidFill>
              <a:srgbClr val="C98A1B"/>
            </a:solidFill>
            <a:round/>
          </a:ln>
        </p:spPr>
        <p:style>
          <a:lnRef idx="0"/>
          <a:fillRef idx="0"/>
          <a:effectRef idx="0"/>
          <a:fontRef idx="minor"/>
        </p:style>
        <p:txBody>
          <a:bodyPr lIns="90000" tIns="45000" rIns="90000" bIns="45000" anchor="t">
            <a:noAutofit/>
          </a:bodyPr>
          <a:p>
            <a:endParaRPr lang="en-ZA" sz="1800" b="0" u="none" strike="noStrike">
              <a:solidFill>
                <a:srgbClr val="000000"/>
              </a:solidFill>
              <a:effectLst/>
              <a:uFillTx/>
              <a:latin typeface="Arial"/>
            </a:endParaRPr>
          </a:p>
        </p:txBody>
      </p:sp>
      <p:sp>
        <p:nvSpPr>
          <p:cNvPr id="78" name="Shape 25"/>
          <p:cNvSpPr/>
          <p:nvPr/>
        </p:nvSpPr>
        <p:spPr>
          <a:xfrm>
            <a:off x="9646920" y="1554480"/>
            <a:ext cx="365040" cy="365040"/>
          </a:xfrm>
          <a:prstGeom prst="ellipse">
            <a:avLst/>
          </a:prstGeom>
          <a:solidFill>
            <a:srgbClr val="C98A1B"/>
          </a:solidFill>
          <a:ln w="12700">
            <a:solidFill>
              <a:srgbClr val="C98A1B"/>
            </a:solidFill>
            <a:round/>
          </a:ln>
        </p:spPr>
        <p:style>
          <a:lnRef idx="0"/>
          <a:fillRef idx="0"/>
          <a:effectRef idx="0"/>
          <a:fontRef idx="minor"/>
        </p:style>
        <p:txBody>
          <a:bodyPr lIns="90000" tIns="45000" rIns="90000" bIns="45000" anchor="t">
            <a:noAutofit/>
          </a:bodyPr>
          <a:p>
            <a:endParaRPr lang="en-ZA" sz="1800" b="0" u="none" strike="noStrike">
              <a:solidFill>
                <a:srgbClr val="FFFFFF"/>
              </a:solidFill>
              <a:effectLst/>
              <a:uFillTx/>
              <a:latin typeface="Arial"/>
            </a:endParaRPr>
          </a:p>
        </p:txBody>
      </p:sp>
      <p:sp>
        <p:nvSpPr>
          <p:cNvPr id="79" name="Text 26"/>
          <p:cNvSpPr/>
          <p:nvPr/>
        </p:nvSpPr>
        <p:spPr>
          <a:xfrm>
            <a:off x="9646920" y="1554480"/>
            <a:ext cx="36504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rPr>
              <a:t>5</a:t>
            </a:r>
            <a:endParaRPr lang="en-ZA" sz="1400" b="0" u="none" strike="noStrike">
              <a:solidFill>
                <a:srgbClr val="000000"/>
              </a:solidFill>
              <a:effectLst/>
              <a:uFillTx/>
              <a:latin typeface="Arial"/>
            </a:endParaRPr>
          </a:p>
        </p:txBody>
      </p:sp>
      <p:sp>
        <p:nvSpPr>
          <p:cNvPr id="80" name="Text 27"/>
          <p:cNvSpPr/>
          <p:nvPr/>
        </p:nvSpPr>
        <p:spPr>
          <a:xfrm>
            <a:off x="9646920" y="2148840"/>
            <a:ext cx="2233080" cy="16452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rgbClr val="3B4A41"/>
                </a:solidFill>
                <a:effectLst/>
                <a:uFillTx/>
                <a:latin typeface="Calibri"/>
              </a:rPr>
              <a:t>S = 0.4·Sg + 0.3·Sc +0.3·Sl</a:t>
            </a:r>
            <a:endParaRPr lang="en-ZA" sz="1600" b="0" u="none" strike="noStrike">
              <a:solidFill>
                <a:srgbClr val="000000"/>
              </a:solidFill>
              <a:effectLst/>
              <a:uFillTx/>
              <a:latin typeface="Arial"/>
            </a:endParaRPr>
          </a:p>
        </p:txBody>
      </p:sp>
      <p:sp>
        <p:nvSpPr>
          <p:cNvPr id="81" name="Text 28"/>
          <p:cNvSpPr/>
          <p:nvPr/>
        </p:nvSpPr>
        <p:spPr>
          <a:xfrm>
            <a:off x="9646920" y="3977640"/>
            <a:ext cx="1782360" cy="5936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rgbClr val="14231C"/>
                </a:solidFill>
                <a:effectLst/>
                <a:uFillTx/>
                <a:latin typeface="Calibri"/>
              </a:rPr>
              <a:t>Calibrate, fuse, re-rank</a:t>
            </a:r>
            <a:endParaRPr lang="en-ZA" sz="1400" b="0" u="none" strike="noStrike">
              <a:solidFill>
                <a:srgbClr val="000000"/>
              </a:solidFill>
              <a:effectLst/>
              <a:uFillTx/>
              <a:latin typeface="Arial"/>
            </a:endParaRPr>
          </a:p>
        </p:txBody>
      </p:sp>
      <p:sp>
        <p:nvSpPr>
          <p:cNvPr id="82" name="Text 29"/>
          <p:cNvSpPr/>
          <p:nvPr/>
        </p:nvSpPr>
        <p:spPr>
          <a:xfrm>
            <a:off x="2606040" y="2743200"/>
            <a:ext cx="18216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C98A1B"/>
                </a:solidFill>
                <a:effectLst/>
                <a:uFillTx/>
                <a:latin typeface="Calibri"/>
              </a:rPr>
              <a:t>▶</a:t>
            </a:r>
            <a:endParaRPr lang="en-ZA" sz="1200" b="0" u="none" strike="noStrike">
              <a:solidFill>
                <a:srgbClr val="000000"/>
              </a:solidFill>
              <a:effectLst/>
              <a:uFillTx/>
              <a:latin typeface="Arial"/>
            </a:endParaRPr>
          </a:p>
        </p:txBody>
      </p:sp>
      <p:sp>
        <p:nvSpPr>
          <p:cNvPr id="83" name="Text 30"/>
          <p:cNvSpPr/>
          <p:nvPr/>
        </p:nvSpPr>
        <p:spPr>
          <a:xfrm>
            <a:off x="4846320" y="2743200"/>
            <a:ext cx="18216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C98A1B"/>
                </a:solidFill>
                <a:effectLst/>
                <a:uFillTx/>
                <a:latin typeface="Calibri"/>
              </a:rPr>
              <a:t>▶</a:t>
            </a:r>
            <a:endParaRPr lang="en-ZA" sz="1200" b="0" u="none" strike="noStrike">
              <a:solidFill>
                <a:srgbClr val="000000"/>
              </a:solidFill>
              <a:effectLst/>
              <a:uFillTx/>
              <a:latin typeface="Arial"/>
            </a:endParaRPr>
          </a:p>
        </p:txBody>
      </p:sp>
      <p:sp>
        <p:nvSpPr>
          <p:cNvPr id="84" name="Text 31"/>
          <p:cNvSpPr/>
          <p:nvPr/>
        </p:nvSpPr>
        <p:spPr>
          <a:xfrm>
            <a:off x="7086600" y="2743200"/>
            <a:ext cx="18216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C98A1B"/>
                </a:solidFill>
                <a:effectLst/>
                <a:uFillTx/>
                <a:latin typeface="Calibri"/>
              </a:rPr>
              <a:t>▶</a:t>
            </a:r>
            <a:endParaRPr lang="en-ZA" sz="1200" b="0" u="none" strike="noStrike">
              <a:solidFill>
                <a:srgbClr val="000000"/>
              </a:solidFill>
              <a:effectLst/>
              <a:uFillTx/>
              <a:latin typeface="Arial"/>
            </a:endParaRPr>
          </a:p>
        </p:txBody>
      </p:sp>
      <p:sp>
        <p:nvSpPr>
          <p:cNvPr id="85" name="Text 32"/>
          <p:cNvSpPr/>
          <p:nvPr/>
        </p:nvSpPr>
        <p:spPr>
          <a:xfrm>
            <a:off x="9326880" y="2743200"/>
            <a:ext cx="18216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rgbClr val="C98A1B"/>
                </a:solidFill>
                <a:effectLst/>
                <a:uFillTx/>
                <a:latin typeface="Calibri"/>
              </a:rPr>
              <a:t>▶</a:t>
            </a:r>
            <a:endParaRPr lang="en-ZA" sz="1200" b="0" u="none" strike="noStrike">
              <a:solidFill>
                <a:srgbClr val="000000"/>
              </a:solidFill>
              <a:effectLst/>
              <a:uFillTx/>
              <a:latin typeface="Arial"/>
            </a:endParaRPr>
          </a:p>
        </p:txBody>
      </p:sp>
      <p:sp>
        <p:nvSpPr>
          <p:cNvPr id="86" name="Text 33"/>
          <p:cNvSpPr/>
          <p:nvPr/>
        </p:nvSpPr>
        <p:spPr>
          <a:xfrm>
            <a:off x="548640" y="4892040"/>
            <a:ext cx="3565440" cy="6393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rgbClr val="2C5F2D"/>
                </a:solidFill>
                <a:effectLst/>
                <a:uFillTx/>
                <a:latin typeface="Calibri"/>
              </a:rPr>
              <a:t>Global  </a:t>
            </a:r>
            <a:r>
              <a:rPr lang="en-US" sz="1400" b="0" u="none" strike="noStrike">
                <a:solidFill>
                  <a:srgbClr val="3B4A41"/>
                </a:solidFill>
                <a:effectLst/>
                <a:uFillTx/>
                <a:latin typeface="Calibri"/>
              </a:rPr>
              <a:t>MegaDescriptor or MiewID: the overall look</a:t>
            </a:r>
            <a:endParaRPr lang="en-ZA" sz="1400" b="0" u="none" strike="noStrike">
              <a:solidFill>
                <a:srgbClr val="000000"/>
              </a:solidFill>
              <a:effectLst/>
              <a:uFillTx/>
              <a:latin typeface="Arial"/>
            </a:endParaRPr>
          </a:p>
        </p:txBody>
      </p:sp>
      <p:sp>
        <p:nvSpPr>
          <p:cNvPr id="87" name="Text 34"/>
          <p:cNvSpPr/>
          <p:nvPr/>
        </p:nvSpPr>
        <p:spPr>
          <a:xfrm>
            <a:off x="4297680" y="4892040"/>
            <a:ext cx="3565440" cy="6393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rgbClr val="2C5F2D"/>
                </a:solidFill>
                <a:effectLst/>
                <a:uFillTx/>
                <a:latin typeface="Calibri"/>
              </a:rPr>
              <a:t>Complementary  </a:t>
            </a:r>
            <a:r>
              <a:rPr lang="en-US" sz="1400" b="0" u="none" strike="noStrike">
                <a:solidFill>
                  <a:srgbClr val="3B4A41"/>
                </a:solidFill>
                <a:effectLst/>
                <a:uFillTx/>
                <a:latin typeface="Calibri"/>
              </a:rPr>
              <a:t>EVA02: generic features, a second opinion</a:t>
            </a:r>
            <a:endParaRPr lang="en-ZA" sz="1400" b="0" u="none" strike="noStrike">
              <a:solidFill>
                <a:srgbClr val="000000"/>
              </a:solidFill>
              <a:effectLst/>
              <a:uFillTx/>
              <a:latin typeface="Arial"/>
            </a:endParaRPr>
          </a:p>
        </p:txBody>
      </p:sp>
      <p:sp>
        <p:nvSpPr>
          <p:cNvPr id="88" name="Text 35"/>
          <p:cNvSpPr/>
          <p:nvPr/>
        </p:nvSpPr>
        <p:spPr>
          <a:xfrm>
            <a:off x="8046720" y="4892040"/>
            <a:ext cx="3565440" cy="6393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rgbClr val="2C5F2D"/>
                </a:solidFill>
                <a:effectLst/>
                <a:uFillTx/>
                <a:latin typeface="Calibri"/>
              </a:rPr>
              <a:t>Local  </a:t>
            </a:r>
            <a:r>
              <a:rPr lang="en-US" sz="1400" b="0" u="none" strike="noStrike">
                <a:solidFill>
                  <a:srgbClr val="3B4A41"/>
                </a:solidFill>
                <a:effectLst/>
                <a:uFillTx/>
                <a:latin typeface="Calibri"/>
              </a:rPr>
              <a:t>ALIKED: tiny patterns the others miss</a:t>
            </a:r>
            <a:endParaRPr lang="en-ZA" sz="1400" b="0" u="none" strike="noStrike">
              <a:solidFill>
                <a:srgbClr val="000000"/>
              </a:solidFill>
              <a:effectLst/>
              <a:uFillTx/>
              <a:latin typeface="Arial"/>
            </a:endParaRPr>
          </a:p>
        </p:txBody>
      </p:sp>
      <p:sp>
        <p:nvSpPr>
          <p:cNvPr id="89" name="Text 36"/>
          <p:cNvSpPr/>
          <p:nvPr/>
        </p:nvSpPr>
        <p:spPr>
          <a:xfrm>
            <a:off x="548640" y="5757840"/>
            <a:ext cx="11063520" cy="639360"/>
          </a:xfrm>
          <a:prstGeom prst="rect">
            <a:avLst/>
          </a:prstGeom>
          <a:solidFill>
            <a:srgbClr val="FBF1DC"/>
          </a:solidFill>
          <a:ln w="0">
            <a:noFill/>
          </a:ln>
        </p:spPr>
        <p:style>
          <a:lnRef idx="0"/>
          <a:fillRef idx="0"/>
          <a:effectRef idx="0"/>
          <a:fontRef idx="minor"/>
        </p:style>
        <p:txBody>
          <a:bodyPr lIns="1440" tIns="1440" rIns="1440" bIns="1440" anchor="ctr">
            <a:noAutofit/>
          </a:bodyPr>
          <a:p>
            <a:pPr defTabSz="914400">
              <a:lnSpc>
                <a:spcPct val="100000"/>
              </a:lnSpc>
              <a:spcBef>
                <a:spcPts val="1191"/>
              </a:spcBef>
              <a:spcAft>
                <a:spcPts val="992"/>
              </a:spcAft>
              <a:tabLst>
                <a:tab pos="0" algn="l"/>
              </a:tabLst>
            </a:pPr>
            <a:r>
              <a:rPr lang="en-US" sz="1600" b="0" u="none" strike="noStrike">
                <a:solidFill>
                  <a:srgbClr val="14231C"/>
                </a:solidFill>
                <a:effectLst/>
                <a:uFillTx/>
                <a:latin typeface="Calibri"/>
              </a:rPr>
              <a:t>Scores live on different scales, so each is </a:t>
            </a:r>
            <a:r>
              <a:rPr lang="en-US" sz="1600" b="1" u="none" strike="noStrike">
                <a:solidFill>
                  <a:srgbClr val="14231C"/>
                </a:solidFill>
                <a:effectLst/>
                <a:uFillTx/>
                <a:latin typeface="Calibri"/>
              </a:rPr>
              <a:t>calibrated</a:t>
            </a:r>
            <a:r>
              <a:rPr lang="en-US" sz="1600" b="0" u="none" strike="noStrike">
                <a:solidFill>
                  <a:srgbClr val="14231C"/>
                </a:solidFill>
                <a:effectLst/>
                <a:uFillTx/>
                <a:latin typeface="Calibri"/>
              </a:rPr>
              <a:t> to P(same animal) and then fused. If the best fused score ≥ τ, we return that identity; otherwise, NEW.</a:t>
            </a:r>
            <a:endParaRPr lang="en-ZA"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0" name="Title"/>
          <p:cNvSpPr/>
          <p:nvPr/>
        </p:nvSpPr>
        <p:spPr>
          <a:xfrm>
            <a:off x="548640" y="365760"/>
            <a:ext cx="11063520" cy="822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800" b="1" u="none" strike="noStrike">
                <a:solidFill>
                  <a:schemeClr val="dk1"/>
                </a:solidFill>
                <a:effectLst/>
                <a:uFillTx/>
                <a:latin typeface="Cambria"/>
                <a:ea typeface="Cambria"/>
              </a:rPr>
              <a:t>Results</a:t>
            </a:r>
            <a:endParaRPr lang="en-ZA" sz="3800" b="0" u="none" strike="noStrike">
              <a:solidFill>
                <a:srgbClr val="000000"/>
              </a:solidFill>
              <a:effectLst/>
              <a:uFillTx/>
              <a:latin typeface="Arial"/>
            </a:endParaRPr>
          </a:p>
        </p:txBody>
      </p:sp>
      <p:sp>
        <p:nvSpPr>
          <p:cNvPr id="91" name="PageNo"/>
          <p:cNvSpPr/>
          <p:nvPr/>
        </p:nvSpPr>
        <p:spPr>
          <a:xfrm>
            <a:off x="10698480" y="6400800"/>
            <a:ext cx="913680" cy="273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100" b="0" u="none" strike="noStrike">
                <a:solidFill>
                  <a:srgbClr val="5B7F6B"/>
                </a:solidFill>
                <a:effectLst/>
                <a:uFillTx/>
                <a:latin typeface="Calibri"/>
              </a:rPr>
              <a:t>4 / 5</a:t>
            </a:r>
            <a:endParaRPr lang="en-ZA" sz="1100" b="0" u="none" strike="noStrike">
              <a:solidFill>
                <a:srgbClr val="000000"/>
              </a:solidFill>
              <a:effectLst/>
              <a:uFillTx/>
              <a:latin typeface="Arial"/>
            </a:endParaRPr>
          </a:p>
        </p:txBody>
      </p:sp>
      <p:graphicFrame>
        <p:nvGraphicFramePr>
          <p:cNvPr id="92" name="Table 0"/>
          <p:cNvGraphicFramePr/>
          <p:nvPr/>
        </p:nvGraphicFramePr>
        <p:xfrm>
          <a:off x="548640" y="1463040"/>
          <a:ext cx="6949080" cy="3966480"/>
        </p:xfrm>
        <a:graphic>
          <a:graphicData uri="http://schemas.openxmlformats.org/drawingml/2006/table">
            <a:tbl>
              <a:tblPr/>
              <a:tblGrid>
                <a:gridCol w="2103120"/>
                <a:gridCol w="1463040"/>
                <a:gridCol w="1188720"/>
                <a:gridCol w="1005840"/>
                <a:gridCol w="1188720"/>
              </a:tblGrid>
              <a:tr h="566640">
                <a:tc>
                  <a:txBody>
                    <a:bodyPr anchor="ctr">
                      <a:noAutofit/>
                    </a:bodyPr>
                    <a:p>
                      <a:pPr defTabSz="914400">
                        <a:lnSpc>
                          <a:spcPct val="100000"/>
                        </a:lnSpc>
                        <a:tabLst>
                          <a:tab pos="0" algn="l"/>
                        </a:tabLst>
                      </a:pPr>
                      <a:r>
                        <a:rPr lang="en-US" sz="1600" b="1" u="none" strike="noStrike">
                          <a:solidFill>
                            <a:srgbClr val="FFFFFF"/>
                          </a:solidFill>
                          <a:effectLst/>
                          <a:uFillTx/>
                          <a:latin typeface="Calibri"/>
                        </a:rPr>
                        <a:t>Method</a:t>
                      </a:r>
                      <a:endParaRPr lang="en-ZA" sz="1600" b="0" u="none" strike="noStrike">
                        <a:solidFill>
                          <a:srgbClr val="FFFFFF"/>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2C5F2D"/>
                    </a:solidFill>
                  </a:tcPr>
                </a:tc>
                <a:tc>
                  <a:txBody>
                    <a:bodyPr anchor="ctr">
                      <a:noAutofit/>
                    </a:bodyPr>
                    <a:p>
                      <a:pPr algn="r" defTabSz="914400">
                        <a:lnSpc>
                          <a:spcPct val="100000"/>
                        </a:lnSpc>
                        <a:tabLst>
                          <a:tab pos="0" algn="l"/>
                        </a:tabLst>
                      </a:pPr>
                      <a:r>
                        <a:rPr lang="en-US" sz="1600" b="1" u="none" strike="noStrike">
                          <a:solidFill>
                            <a:srgbClr val="FFFFFF"/>
                          </a:solidFill>
                          <a:effectLst/>
                          <a:uFillTx/>
                          <a:latin typeface="Calibri"/>
                        </a:rPr>
                        <a:t>Closed BAKS</a:t>
                      </a:r>
                      <a:endParaRPr lang="en-ZA" sz="1600" b="0" u="none" strike="noStrike">
                        <a:solidFill>
                          <a:srgbClr val="FFFFFF"/>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2C5F2D"/>
                    </a:solidFill>
                  </a:tcPr>
                </a:tc>
                <a:tc>
                  <a:txBody>
                    <a:bodyPr anchor="ctr">
                      <a:noAutofit/>
                    </a:bodyPr>
                    <a:p>
                      <a:pPr algn="r" defTabSz="914400">
                        <a:lnSpc>
                          <a:spcPct val="100000"/>
                        </a:lnSpc>
                        <a:tabLst>
                          <a:tab pos="0" algn="l"/>
                        </a:tabLst>
                      </a:pPr>
                      <a:r>
                        <a:rPr lang="en-US" sz="1600" b="1" u="none" strike="noStrike">
                          <a:solidFill>
                            <a:srgbClr val="FFFFFF"/>
                          </a:solidFill>
                          <a:effectLst/>
                          <a:uFillTx/>
                          <a:latin typeface="Calibri"/>
                        </a:rPr>
                        <a:t>Open score</a:t>
                      </a:r>
                      <a:endParaRPr lang="en-ZA" sz="1600" b="0" u="none" strike="noStrike">
                        <a:solidFill>
                          <a:srgbClr val="FFFFFF"/>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2C5F2D"/>
                    </a:solidFill>
                  </a:tcPr>
                </a:tc>
                <a:tc>
                  <a:txBody>
                    <a:bodyPr anchor="ctr">
                      <a:noAutofit/>
                    </a:bodyPr>
                    <a:p>
                      <a:pPr algn="r" defTabSz="914400">
                        <a:lnSpc>
                          <a:spcPct val="100000"/>
                        </a:lnSpc>
                        <a:tabLst>
                          <a:tab pos="0" algn="l"/>
                        </a:tabLst>
                      </a:pPr>
                      <a:r>
                        <a:rPr lang="en-US" sz="1600" b="1" u="none" strike="noStrike">
                          <a:solidFill>
                            <a:srgbClr val="FFFFFF"/>
                          </a:solidFill>
                          <a:effectLst/>
                          <a:uFillTx/>
                          <a:latin typeface="Calibri"/>
                        </a:rPr>
                        <a:t>BAUS</a:t>
                      </a:r>
                      <a:endParaRPr lang="en-ZA" sz="1600" b="0" u="none" strike="noStrike">
                        <a:solidFill>
                          <a:srgbClr val="FFFFFF"/>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2C5F2D"/>
                    </a:solidFill>
                  </a:tcPr>
                </a:tc>
                <a:tc>
                  <a:txBody>
                    <a:bodyPr anchor="ctr">
                      <a:noAutofit/>
                    </a:bodyPr>
                    <a:p>
                      <a:pPr algn="r" defTabSz="914400">
                        <a:lnSpc>
                          <a:spcPct val="100000"/>
                        </a:lnSpc>
                        <a:tabLst>
                          <a:tab pos="0" algn="l"/>
                        </a:tabLst>
                      </a:pPr>
                      <a:r>
                        <a:rPr lang="en-US" sz="1600" b="1" u="none" strike="noStrike">
                          <a:solidFill>
                            <a:srgbClr val="FFFFFF"/>
                          </a:solidFill>
                          <a:effectLst/>
                          <a:uFillTx/>
                          <a:latin typeface="Calibri"/>
                        </a:rPr>
                        <a:t>mAP@K</a:t>
                      </a:r>
                      <a:endParaRPr lang="en-ZA" sz="1600" b="0" u="none" strike="noStrike">
                        <a:solidFill>
                          <a:srgbClr val="FFFFFF"/>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2C5F2D"/>
                    </a:solidFill>
                  </a:tcPr>
                </a:tc>
              </a:tr>
              <a:tr h="566640">
                <a:tc>
                  <a:txBody>
                    <a:bodyPr anchor="ctr">
                      <a:noAutofit/>
                    </a:bodyPr>
                    <a:p>
                      <a:pPr defTabSz="914400">
                        <a:lnSpc>
                          <a:spcPct val="100000"/>
                        </a:lnSpc>
                        <a:tabLst>
                          <a:tab pos="0" algn="l"/>
                        </a:tabLst>
                      </a:pPr>
                      <a:r>
                        <a:rPr lang="en-US" sz="1600" b="0" u="none" strike="noStrike">
                          <a:solidFill>
                            <a:srgbClr val="14231C"/>
                          </a:solidFill>
                          <a:effectLst/>
                          <a:uFillTx/>
                          <a:latin typeface="Calibri"/>
                        </a:rPr>
                        <a:t>DINOv2 baseline</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FFFFF"/>
                    </a:solidFill>
                  </a:tcPr>
                </a:tc>
                <a:tc>
                  <a:txBody>
                    <a:bodyPr anchor="ctr">
                      <a:noAutofit/>
                    </a:bodyPr>
                    <a:p>
                      <a:pPr algn="r" defTabSz="914400">
                        <a:lnSpc>
                          <a:spcPct val="100000"/>
                        </a:lnSpc>
                        <a:tabLst>
                          <a:tab pos="0" algn="l"/>
                        </a:tabLst>
                      </a:pPr>
                      <a:r>
                        <a:rPr lang="en-US" sz="1600" b="0" u="none" strike="noStrike">
                          <a:solidFill>
                            <a:srgbClr val="14231C"/>
                          </a:solidFill>
                          <a:effectLst/>
                          <a:uFillTx/>
                          <a:latin typeface="Calibri"/>
                        </a:rPr>
                        <a:t>52.3</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FFFFF"/>
                    </a:solidFill>
                  </a:tcPr>
                </a:tc>
                <a:tc>
                  <a:txBody>
                    <a:bodyPr anchor="ctr">
                      <a:noAutofit/>
                    </a:bodyPr>
                    <a:p>
                      <a:pPr algn="r" defTabSz="914400">
                        <a:lnSpc>
                          <a:spcPct val="100000"/>
                        </a:lnSpc>
                        <a:tabLst>
                          <a:tab pos="0" algn="l"/>
                        </a:tabLst>
                      </a:pPr>
                      <a:r>
                        <a:rPr lang="en-US" sz="1600" b="0" u="none" strike="noStrike">
                          <a:solidFill>
                            <a:srgbClr val="14231C"/>
                          </a:solidFill>
                          <a:effectLst/>
                          <a:uFillTx/>
                          <a:latin typeface="Calibri"/>
                        </a:rPr>
                        <a:t>52.0</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FFFFF"/>
                    </a:solidFill>
                  </a:tcPr>
                </a:tc>
                <a:tc>
                  <a:txBody>
                    <a:bodyPr anchor="ctr">
                      <a:noAutofit/>
                    </a:bodyPr>
                    <a:p>
                      <a:pPr algn="r" defTabSz="914400">
                        <a:lnSpc>
                          <a:spcPct val="100000"/>
                        </a:lnSpc>
                        <a:tabLst>
                          <a:tab pos="0" algn="l"/>
                        </a:tabLst>
                      </a:pPr>
                      <a:r>
                        <a:rPr lang="en-US" sz="1600" b="0" u="none" strike="noStrike">
                          <a:solidFill>
                            <a:srgbClr val="14231C"/>
                          </a:solidFill>
                          <a:effectLst/>
                          <a:uFillTx/>
                          <a:latin typeface="Calibri"/>
                        </a:rPr>
                        <a:t>98.4</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FFFFF"/>
                    </a:solidFill>
                  </a:tcPr>
                </a:tc>
                <a:tc>
                  <a:txBody>
                    <a:bodyPr anchor="ctr">
                      <a:noAutofit/>
                    </a:bodyPr>
                    <a:p>
                      <a:pPr algn="r" defTabSz="914400">
                        <a:lnSpc>
                          <a:spcPct val="100000"/>
                        </a:lnSpc>
                        <a:tabLst>
                          <a:tab pos="0" algn="l"/>
                        </a:tabLst>
                      </a:pPr>
                      <a:r>
                        <a:rPr lang="en-US" sz="1600" b="0" u="none" strike="noStrike">
                          <a:solidFill>
                            <a:srgbClr val="14231C"/>
                          </a:solidFill>
                          <a:effectLst/>
                          <a:uFillTx/>
                          <a:latin typeface="Calibri"/>
                        </a:rPr>
                        <a:t>21.0</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FFFFF"/>
                    </a:solidFill>
                  </a:tcPr>
                </a:tc>
              </a:tr>
              <a:tr h="566640">
                <a:tc>
                  <a:txBody>
                    <a:bodyPr anchor="ctr">
                      <a:noAutofit/>
                    </a:bodyPr>
                    <a:p>
                      <a:pPr defTabSz="914400">
                        <a:lnSpc>
                          <a:spcPct val="100000"/>
                        </a:lnSpc>
                        <a:tabLst>
                          <a:tab pos="0" algn="l"/>
                        </a:tabLst>
                      </a:pPr>
                      <a:r>
                        <a:rPr lang="en-US" sz="1600" b="0" u="none" strike="noStrike">
                          <a:solidFill>
                            <a:srgbClr val="14231C"/>
                          </a:solidFill>
                          <a:effectLst/>
                          <a:uFillTx/>
                          <a:latin typeface="Calibri"/>
                        </a:rPr>
                        <a:t>EVA02 alone</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2F5F1"/>
                    </a:solidFill>
                  </a:tcPr>
                </a:tc>
                <a:tc>
                  <a:txBody>
                    <a:bodyPr anchor="ctr">
                      <a:noAutofit/>
                    </a:bodyPr>
                    <a:p>
                      <a:pPr algn="r" defTabSz="914400">
                        <a:lnSpc>
                          <a:spcPct val="100000"/>
                        </a:lnSpc>
                        <a:tabLst>
                          <a:tab pos="0" algn="l"/>
                        </a:tabLst>
                      </a:pPr>
                      <a:r>
                        <a:rPr lang="en-US" sz="1600" b="0" u="none" strike="noStrike">
                          <a:solidFill>
                            <a:srgbClr val="14231C"/>
                          </a:solidFill>
                          <a:effectLst/>
                          <a:uFillTx/>
                          <a:latin typeface="Calibri"/>
                        </a:rPr>
                        <a:t>42.7</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2F5F1"/>
                    </a:solidFill>
                  </a:tcPr>
                </a:tc>
                <a:tc>
                  <a:txBody>
                    <a:bodyPr anchor="ctr">
                      <a:noAutofit/>
                    </a:bodyPr>
                    <a:p>
                      <a:pPr algn="r" defTabSz="914400">
                        <a:lnSpc>
                          <a:spcPct val="100000"/>
                        </a:lnSpc>
                        <a:tabLst>
                          <a:tab pos="0" algn="l"/>
                        </a:tabLst>
                      </a:pPr>
                      <a:r>
                        <a:rPr lang="en-US" sz="1600" b="0" u="none" strike="noStrike">
                          <a:solidFill>
                            <a:srgbClr val="14231C"/>
                          </a:solidFill>
                          <a:effectLst/>
                          <a:uFillTx/>
                          <a:latin typeface="Calibri"/>
                        </a:rPr>
                        <a:t>50.4</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2F5F1"/>
                    </a:solidFill>
                  </a:tcPr>
                </a:tc>
                <a:tc>
                  <a:txBody>
                    <a:bodyPr anchor="ctr">
                      <a:noAutofit/>
                    </a:bodyPr>
                    <a:p>
                      <a:pPr algn="r" defTabSz="914400">
                        <a:lnSpc>
                          <a:spcPct val="100000"/>
                        </a:lnSpc>
                        <a:tabLst>
                          <a:tab pos="0" algn="l"/>
                        </a:tabLst>
                      </a:pPr>
                      <a:r>
                        <a:rPr lang="en-US" sz="1600" b="0" u="none" strike="noStrike">
                          <a:solidFill>
                            <a:srgbClr val="14231C"/>
                          </a:solidFill>
                          <a:effectLst/>
                          <a:uFillTx/>
                          <a:latin typeface="Calibri"/>
                        </a:rPr>
                        <a:t>95.1</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2F5F1"/>
                    </a:solidFill>
                  </a:tcPr>
                </a:tc>
                <a:tc>
                  <a:txBody>
                    <a:bodyPr anchor="ctr">
                      <a:noAutofit/>
                    </a:bodyPr>
                    <a:p>
                      <a:pPr algn="r" defTabSz="914400">
                        <a:lnSpc>
                          <a:spcPct val="100000"/>
                        </a:lnSpc>
                        <a:tabLst>
                          <a:tab pos="0" algn="l"/>
                        </a:tabLst>
                      </a:pPr>
                      <a:r>
                        <a:rPr lang="en-US" sz="1600" b="0" u="none" strike="noStrike">
                          <a:solidFill>
                            <a:srgbClr val="14231C"/>
                          </a:solidFill>
                          <a:effectLst/>
                          <a:uFillTx/>
                          <a:latin typeface="Calibri"/>
                        </a:rPr>
                        <a:t>16.1</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2F5F1"/>
                    </a:solidFill>
                  </a:tcPr>
                </a:tc>
              </a:tr>
              <a:tr h="566640">
                <a:tc>
                  <a:txBody>
                    <a:bodyPr anchor="ctr">
                      <a:noAutofit/>
                    </a:bodyPr>
                    <a:p>
                      <a:pPr defTabSz="914400">
                        <a:lnSpc>
                          <a:spcPct val="100000"/>
                        </a:lnSpc>
                        <a:tabLst>
                          <a:tab pos="0" algn="l"/>
                        </a:tabLst>
                      </a:pPr>
                      <a:r>
                        <a:rPr lang="en-US" sz="1600" b="0" u="none" strike="noStrike">
                          <a:solidFill>
                            <a:srgbClr val="14231C"/>
                          </a:solidFill>
                          <a:effectLst/>
                          <a:uFillTx/>
                          <a:latin typeface="Calibri"/>
                        </a:rPr>
                        <a:t>Global (fine-tuned)</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FFFFF"/>
                    </a:solidFill>
                  </a:tcPr>
                </a:tc>
                <a:tc>
                  <a:txBody>
                    <a:bodyPr anchor="ctr">
                      <a:noAutofit/>
                    </a:bodyPr>
                    <a:p>
                      <a:pPr algn="r" defTabSz="914400">
                        <a:lnSpc>
                          <a:spcPct val="100000"/>
                        </a:lnSpc>
                        <a:tabLst>
                          <a:tab pos="0" algn="l"/>
                        </a:tabLst>
                      </a:pPr>
                      <a:r>
                        <a:rPr lang="en-US" sz="1600" b="0" u="none" strike="noStrike">
                          <a:solidFill>
                            <a:srgbClr val="14231C"/>
                          </a:solidFill>
                          <a:effectLst/>
                          <a:uFillTx/>
                          <a:latin typeface="Calibri"/>
                        </a:rPr>
                        <a:t>81.1</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FFFFF"/>
                    </a:solidFill>
                  </a:tcPr>
                </a:tc>
                <a:tc>
                  <a:txBody>
                    <a:bodyPr anchor="ctr">
                      <a:noAutofit/>
                    </a:bodyPr>
                    <a:p>
                      <a:pPr algn="r" defTabSz="914400">
                        <a:lnSpc>
                          <a:spcPct val="100000"/>
                        </a:lnSpc>
                        <a:tabLst>
                          <a:tab pos="0" algn="l"/>
                        </a:tabLst>
                      </a:pPr>
                      <a:r>
                        <a:rPr lang="en-US" sz="1600" b="0" u="none" strike="noStrike">
                          <a:solidFill>
                            <a:srgbClr val="14231C"/>
                          </a:solidFill>
                          <a:effectLst/>
                          <a:uFillTx/>
                          <a:latin typeface="Calibri"/>
                        </a:rPr>
                        <a:t>73.3</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FFFFF"/>
                    </a:solidFill>
                  </a:tcPr>
                </a:tc>
                <a:tc>
                  <a:txBody>
                    <a:bodyPr anchor="ctr">
                      <a:noAutofit/>
                    </a:bodyPr>
                    <a:p>
                      <a:pPr algn="r" defTabSz="914400">
                        <a:lnSpc>
                          <a:spcPct val="100000"/>
                        </a:lnSpc>
                        <a:tabLst>
                          <a:tab pos="0" algn="l"/>
                        </a:tabLst>
                      </a:pPr>
                      <a:r>
                        <a:rPr lang="en-US" sz="1600" b="0" u="none" strike="noStrike">
                          <a:solidFill>
                            <a:srgbClr val="14231C"/>
                          </a:solidFill>
                          <a:effectLst/>
                          <a:uFillTx/>
                          <a:latin typeface="Calibri"/>
                        </a:rPr>
                        <a:t>83.3</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FFFFF"/>
                    </a:solidFill>
                  </a:tcPr>
                </a:tc>
                <a:tc>
                  <a:txBody>
                    <a:bodyPr anchor="ctr">
                      <a:noAutofit/>
                    </a:bodyPr>
                    <a:p>
                      <a:pPr algn="r" defTabSz="914400">
                        <a:lnSpc>
                          <a:spcPct val="100000"/>
                        </a:lnSpc>
                        <a:tabLst>
                          <a:tab pos="0" algn="l"/>
                        </a:tabLst>
                      </a:pPr>
                      <a:r>
                        <a:rPr lang="en-US" sz="1600" b="0" u="none" strike="noStrike">
                          <a:solidFill>
                            <a:srgbClr val="14231C"/>
                          </a:solidFill>
                          <a:effectLst/>
                          <a:uFillTx/>
                          <a:latin typeface="Calibri"/>
                        </a:rPr>
                        <a:t>72.8</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FFFFF"/>
                    </a:solidFill>
                  </a:tcPr>
                </a:tc>
              </a:tr>
              <a:tr h="566640">
                <a:tc>
                  <a:txBody>
                    <a:bodyPr anchor="ctr">
                      <a:noAutofit/>
                    </a:bodyPr>
                    <a:p>
                      <a:pPr defTabSz="914400">
                        <a:lnSpc>
                          <a:spcPct val="100000"/>
                        </a:lnSpc>
                        <a:tabLst>
                          <a:tab pos="0" algn="l"/>
                        </a:tabLst>
                      </a:pPr>
                      <a:r>
                        <a:rPr lang="en-US" sz="1600" b="0" u="none" strike="noStrike">
                          <a:solidFill>
                            <a:srgbClr val="14231C"/>
                          </a:solidFill>
                          <a:effectLst/>
                          <a:uFillTx/>
                          <a:latin typeface="Calibri"/>
                        </a:rPr>
                        <a:t>Global + EVA02</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2F5F1"/>
                    </a:solidFill>
                  </a:tcPr>
                </a:tc>
                <a:tc>
                  <a:txBody>
                    <a:bodyPr anchor="ctr">
                      <a:noAutofit/>
                    </a:bodyPr>
                    <a:p>
                      <a:pPr algn="r" defTabSz="914400">
                        <a:lnSpc>
                          <a:spcPct val="100000"/>
                        </a:lnSpc>
                        <a:tabLst>
                          <a:tab pos="0" algn="l"/>
                        </a:tabLst>
                      </a:pPr>
                      <a:r>
                        <a:rPr lang="en-US" sz="1600" b="0" u="none" strike="noStrike">
                          <a:solidFill>
                            <a:srgbClr val="14231C"/>
                          </a:solidFill>
                          <a:effectLst/>
                          <a:uFillTx/>
                          <a:latin typeface="Calibri"/>
                        </a:rPr>
                        <a:t>81.1</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2F5F1"/>
                    </a:solidFill>
                  </a:tcPr>
                </a:tc>
                <a:tc>
                  <a:txBody>
                    <a:bodyPr anchor="ctr">
                      <a:noAutofit/>
                    </a:bodyPr>
                    <a:p>
                      <a:pPr algn="r" defTabSz="914400">
                        <a:lnSpc>
                          <a:spcPct val="100000"/>
                        </a:lnSpc>
                        <a:tabLst>
                          <a:tab pos="0" algn="l"/>
                        </a:tabLst>
                      </a:pPr>
                      <a:r>
                        <a:rPr lang="en-US" sz="1600" b="0" u="none" strike="noStrike">
                          <a:solidFill>
                            <a:srgbClr val="14231C"/>
                          </a:solidFill>
                          <a:effectLst/>
                          <a:uFillTx/>
                          <a:latin typeface="Calibri"/>
                        </a:rPr>
                        <a:t>73.3</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2F5F1"/>
                    </a:solidFill>
                  </a:tcPr>
                </a:tc>
                <a:tc>
                  <a:txBody>
                    <a:bodyPr anchor="ctr">
                      <a:noAutofit/>
                    </a:bodyPr>
                    <a:p>
                      <a:pPr algn="r" defTabSz="914400">
                        <a:lnSpc>
                          <a:spcPct val="100000"/>
                        </a:lnSpc>
                        <a:tabLst>
                          <a:tab pos="0" algn="l"/>
                        </a:tabLst>
                      </a:pPr>
                      <a:r>
                        <a:rPr lang="en-US" sz="1600" b="0" u="none" strike="noStrike">
                          <a:solidFill>
                            <a:srgbClr val="14231C"/>
                          </a:solidFill>
                          <a:effectLst/>
                          <a:uFillTx/>
                          <a:latin typeface="Calibri"/>
                        </a:rPr>
                        <a:t>83.5</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2F5F1"/>
                    </a:solidFill>
                  </a:tcPr>
                </a:tc>
                <a:tc>
                  <a:txBody>
                    <a:bodyPr anchor="ctr">
                      <a:noAutofit/>
                    </a:bodyPr>
                    <a:p>
                      <a:pPr algn="r" defTabSz="914400">
                        <a:lnSpc>
                          <a:spcPct val="100000"/>
                        </a:lnSpc>
                        <a:tabLst>
                          <a:tab pos="0" algn="l"/>
                        </a:tabLst>
                      </a:pPr>
                      <a:r>
                        <a:rPr lang="en-US" sz="1600" b="0" u="none" strike="noStrike">
                          <a:solidFill>
                            <a:srgbClr val="14231C"/>
                          </a:solidFill>
                          <a:effectLst/>
                          <a:uFillTx/>
                          <a:latin typeface="Calibri"/>
                        </a:rPr>
                        <a:t>72.9</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2F5F1"/>
                    </a:solidFill>
                  </a:tcPr>
                </a:tc>
              </a:tr>
              <a:tr h="566640">
                <a:tc>
                  <a:txBody>
                    <a:bodyPr anchor="ctr">
                      <a:noAutofit/>
                    </a:bodyPr>
                    <a:p>
                      <a:pPr defTabSz="914400">
                        <a:lnSpc>
                          <a:spcPct val="100000"/>
                        </a:lnSpc>
                        <a:tabLst>
                          <a:tab pos="0" algn="l"/>
                        </a:tabLst>
                      </a:pPr>
                      <a:r>
                        <a:rPr lang="en-US" sz="1600" b="1" u="none" strike="noStrike">
                          <a:solidFill>
                            <a:srgbClr val="14231C"/>
                          </a:solidFill>
                          <a:effectLst/>
                          <a:uFillTx/>
                          <a:latin typeface="Calibri"/>
                        </a:rPr>
                        <a:t>Global + EVA02 *</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BF1DC"/>
                    </a:solidFill>
                  </a:tcPr>
                </a:tc>
                <a:tc>
                  <a:txBody>
                    <a:bodyPr anchor="ctr">
                      <a:noAutofit/>
                    </a:bodyPr>
                    <a:p>
                      <a:pPr algn="r" defTabSz="914400">
                        <a:lnSpc>
                          <a:spcPct val="100000"/>
                        </a:lnSpc>
                        <a:tabLst>
                          <a:tab pos="0" algn="l"/>
                        </a:tabLst>
                      </a:pPr>
                      <a:r>
                        <a:rPr lang="en-US" sz="1600" b="1" u="none" strike="noStrike">
                          <a:solidFill>
                            <a:srgbClr val="14231C"/>
                          </a:solidFill>
                          <a:effectLst/>
                          <a:uFillTx/>
                          <a:latin typeface="Calibri"/>
                        </a:rPr>
                        <a:t>81.8</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BF1DC"/>
                    </a:solidFill>
                  </a:tcPr>
                </a:tc>
                <a:tc>
                  <a:txBody>
                    <a:bodyPr anchor="ctr">
                      <a:noAutofit/>
                    </a:bodyPr>
                    <a:p>
                      <a:pPr algn="r" defTabSz="914400">
                        <a:lnSpc>
                          <a:spcPct val="100000"/>
                        </a:lnSpc>
                        <a:tabLst>
                          <a:tab pos="0" algn="l"/>
                        </a:tabLst>
                      </a:pPr>
                      <a:r>
                        <a:rPr lang="en-US" sz="1600" b="1" u="none" strike="noStrike">
                          <a:solidFill>
                            <a:srgbClr val="14231C"/>
                          </a:solidFill>
                          <a:effectLst/>
                          <a:uFillTx/>
                          <a:latin typeface="Calibri"/>
                        </a:rPr>
                        <a:t>79.0</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BF1DC"/>
                    </a:solidFill>
                  </a:tcPr>
                </a:tc>
                <a:tc>
                  <a:txBody>
                    <a:bodyPr anchor="ctr">
                      <a:noAutofit/>
                    </a:bodyPr>
                    <a:p>
                      <a:pPr algn="r" defTabSz="914400">
                        <a:lnSpc>
                          <a:spcPct val="100000"/>
                        </a:lnSpc>
                        <a:tabLst>
                          <a:tab pos="0" algn="l"/>
                        </a:tabLst>
                      </a:pPr>
                      <a:r>
                        <a:rPr lang="en-US" sz="1600" b="1" u="none" strike="noStrike">
                          <a:solidFill>
                            <a:srgbClr val="14231C"/>
                          </a:solidFill>
                          <a:effectLst/>
                          <a:uFillTx/>
                          <a:latin typeface="Calibri"/>
                        </a:rPr>
                        <a:t>91.1</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BF1DC"/>
                    </a:solidFill>
                  </a:tcPr>
                </a:tc>
                <a:tc>
                  <a:txBody>
                    <a:bodyPr anchor="ctr">
                      <a:noAutofit/>
                    </a:bodyPr>
                    <a:p>
                      <a:pPr algn="r" defTabSz="914400">
                        <a:lnSpc>
                          <a:spcPct val="100000"/>
                        </a:lnSpc>
                        <a:tabLst>
                          <a:tab pos="0" algn="l"/>
                        </a:tabLst>
                      </a:pPr>
                      <a:r>
                        <a:rPr lang="en-US" sz="1600" b="1" u="none" strike="noStrike">
                          <a:solidFill>
                            <a:srgbClr val="14231C"/>
                          </a:solidFill>
                          <a:effectLst/>
                          <a:uFillTx/>
                          <a:latin typeface="Calibri"/>
                        </a:rPr>
                        <a:t>75.8</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BF1DC"/>
                    </a:solidFill>
                  </a:tcPr>
                </a:tc>
              </a:tr>
              <a:tr h="566640">
                <a:tc>
                  <a:txBody>
                    <a:bodyPr anchor="ctr">
                      <a:noAutofit/>
                    </a:bodyPr>
                    <a:p>
                      <a:pPr defTabSz="914400">
                        <a:lnSpc>
                          <a:spcPct val="100000"/>
                        </a:lnSpc>
                        <a:tabLst>
                          <a:tab pos="0" algn="l"/>
                        </a:tabLst>
                      </a:pPr>
                      <a:r>
                        <a:rPr lang="en-US" sz="1600" b="1" u="none" strike="noStrike">
                          <a:solidFill>
                            <a:srgbClr val="14231C"/>
                          </a:solidFill>
                          <a:effectLst/>
                          <a:uFillTx/>
                          <a:latin typeface="Calibri"/>
                        </a:rPr>
                        <a:t>All three, fused *</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BF1DC"/>
                    </a:solidFill>
                  </a:tcPr>
                </a:tc>
                <a:tc>
                  <a:txBody>
                    <a:bodyPr anchor="ctr">
                      <a:noAutofit/>
                    </a:bodyPr>
                    <a:p>
                      <a:pPr algn="r" defTabSz="914400">
                        <a:lnSpc>
                          <a:spcPct val="100000"/>
                        </a:lnSpc>
                        <a:tabLst>
                          <a:tab pos="0" algn="l"/>
                        </a:tabLst>
                      </a:pPr>
                      <a:r>
                        <a:rPr lang="en-US" sz="1600" b="1" u="none" strike="noStrike">
                          <a:solidFill>
                            <a:srgbClr val="14231C"/>
                          </a:solidFill>
                          <a:effectLst/>
                          <a:uFillTx/>
                          <a:latin typeface="Calibri"/>
                        </a:rPr>
                        <a:t>81.7</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BF1DC"/>
                    </a:solidFill>
                  </a:tcPr>
                </a:tc>
                <a:tc>
                  <a:txBody>
                    <a:bodyPr anchor="ctr">
                      <a:noAutofit/>
                    </a:bodyPr>
                    <a:p>
                      <a:pPr algn="r" defTabSz="914400">
                        <a:lnSpc>
                          <a:spcPct val="100000"/>
                        </a:lnSpc>
                        <a:tabLst>
                          <a:tab pos="0" algn="l"/>
                        </a:tabLst>
                      </a:pPr>
                      <a:r>
                        <a:rPr lang="en-US" sz="1600" b="1" u="none" strike="noStrike">
                          <a:solidFill>
                            <a:srgbClr val="14231C"/>
                          </a:solidFill>
                          <a:effectLst/>
                          <a:uFillTx/>
                          <a:latin typeface="Calibri"/>
                        </a:rPr>
                        <a:t>81.3</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BF1DC"/>
                    </a:solidFill>
                  </a:tcPr>
                </a:tc>
                <a:tc>
                  <a:txBody>
                    <a:bodyPr anchor="ctr">
                      <a:noAutofit/>
                    </a:bodyPr>
                    <a:p>
                      <a:pPr algn="r" defTabSz="914400">
                        <a:lnSpc>
                          <a:spcPct val="100000"/>
                        </a:lnSpc>
                        <a:tabLst>
                          <a:tab pos="0" algn="l"/>
                        </a:tabLst>
                      </a:pPr>
                      <a:r>
                        <a:rPr lang="en-US" sz="1600" b="1" u="none" strike="noStrike">
                          <a:solidFill>
                            <a:srgbClr val="14231C"/>
                          </a:solidFill>
                          <a:effectLst/>
                          <a:uFillTx/>
                          <a:latin typeface="Calibri"/>
                        </a:rPr>
                        <a:t>94.3</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BF1DC"/>
                    </a:solidFill>
                  </a:tcPr>
                </a:tc>
                <a:tc>
                  <a:txBody>
                    <a:bodyPr anchor="ctr">
                      <a:noAutofit/>
                    </a:bodyPr>
                    <a:p>
                      <a:pPr algn="r" defTabSz="914400">
                        <a:lnSpc>
                          <a:spcPct val="100000"/>
                        </a:lnSpc>
                        <a:tabLst>
                          <a:tab pos="0" algn="l"/>
                        </a:tabLst>
                      </a:pPr>
                      <a:r>
                        <a:rPr lang="en-US" sz="1600" b="1" u="none" strike="noStrike">
                          <a:solidFill>
                            <a:srgbClr val="14231C"/>
                          </a:solidFill>
                          <a:effectLst/>
                          <a:uFillTx/>
                          <a:latin typeface="Calibri"/>
                        </a:rPr>
                        <a:t>78.6</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BF1DC"/>
                    </a:solidFill>
                  </a:tcPr>
                </a:tc>
              </a:tr>
            </a:tbl>
          </a:graphicData>
        </a:graphic>
      </p:graphicFrame>
      <p:sp>
        <p:nvSpPr>
          <p:cNvPr id="93" name="Text 3"/>
          <p:cNvSpPr/>
          <p:nvPr/>
        </p:nvSpPr>
        <p:spPr>
          <a:xfrm>
            <a:off x="548640" y="5559840"/>
            <a:ext cx="6948720" cy="730800"/>
          </a:xfrm>
          <a:prstGeom prst="rect">
            <a:avLst/>
          </a:prstGeom>
          <a:noFill/>
          <a:ln w="0">
            <a:noFill/>
          </a:ln>
        </p:spPr>
        <p:style>
          <a:lnRef idx="0"/>
          <a:fillRef idx="0"/>
          <a:effectRef idx="0"/>
          <a:fontRef idx="minor"/>
        </p:style>
        <p:txBody>
          <a:bodyPr lIns="0" tIns="0" rIns="0" bIns="0" anchor="t">
            <a:noAutofit/>
          </a:bodyPr>
          <a:p>
            <a:pPr marL="216000" indent="-216000" defTabSz="914400">
              <a:lnSpc>
                <a:spcPct val="100000"/>
              </a:lnSpc>
              <a:buClr>
                <a:srgbClr val="3B4A41"/>
              </a:buClr>
              <a:buSzPct val="45000"/>
              <a:buFont typeface="Wingdings" charset="2"/>
              <a:buChar char=""/>
              <a:tabLst>
                <a:tab pos="0" algn="l"/>
              </a:tabLst>
            </a:pPr>
            <a:r>
              <a:rPr lang="en-US" sz="1600" b="1" u="none" strike="noStrike">
                <a:solidFill>
                  <a:srgbClr val="3B4A41"/>
                </a:solidFill>
                <a:effectLst/>
                <a:uFillTx/>
                <a:latin typeface="Calibri"/>
              </a:rPr>
              <a:t>Metrics:</a:t>
            </a:r>
            <a:endParaRPr lang="en-ZA" sz="1600" b="0" u="none" strike="noStrike">
              <a:solidFill>
                <a:srgbClr val="000000"/>
              </a:solidFill>
              <a:effectLst/>
              <a:uFillTx/>
              <a:latin typeface="Arial"/>
            </a:endParaRPr>
          </a:p>
          <a:p>
            <a:pPr marL="216000" indent="-216000" defTabSz="914400">
              <a:lnSpc>
                <a:spcPct val="100000"/>
              </a:lnSpc>
              <a:buClr>
                <a:srgbClr val="3B4A41"/>
              </a:buClr>
              <a:buSzPct val="45000"/>
              <a:buFont typeface="Wingdings" charset="2"/>
              <a:buChar char=""/>
              <a:tabLst>
                <a:tab pos="0" algn="l"/>
              </a:tabLst>
            </a:pPr>
            <a:r>
              <a:rPr lang="en-US" sz="1300" b="1" u="none" strike="noStrike">
                <a:solidFill>
                  <a:srgbClr val="3B4A41"/>
                </a:solidFill>
                <a:effectLst/>
                <a:uFillTx/>
                <a:latin typeface="Calibri"/>
              </a:rPr>
              <a:t>BAKS</a:t>
            </a:r>
            <a:r>
              <a:rPr lang="en-US" sz="1300" b="0" u="none" strike="noStrike">
                <a:solidFill>
                  <a:srgbClr val="3B4A41"/>
                </a:solidFill>
                <a:effectLst/>
                <a:uFillTx/>
                <a:latin typeface="Calibri"/>
              </a:rPr>
              <a:t>: balanced accuracy on known animals. </a:t>
            </a:r>
            <a:endParaRPr lang="en-ZA" sz="1300" b="0" u="none" strike="noStrike">
              <a:solidFill>
                <a:srgbClr val="000000"/>
              </a:solidFill>
              <a:effectLst/>
              <a:uFillTx/>
              <a:latin typeface="Arial"/>
            </a:endParaRPr>
          </a:p>
          <a:p>
            <a:pPr marL="216000" indent="-216000" defTabSz="914400">
              <a:lnSpc>
                <a:spcPct val="100000"/>
              </a:lnSpc>
              <a:buClr>
                <a:srgbClr val="3B4A41"/>
              </a:buClr>
              <a:buSzPct val="45000"/>
              <a:buFont typeface="Wingdings" charset="2"/>
              <a:buChar char=""/>
              <a:tabLst>
                <a:tab pos="0" algn="l"/>
              </a:tabLst>
            </a:pPr>
            <a:r>
              <a:rPr lang="en-US" sz="1300" b="1" u="none" strike="noStrike">
                <a:solidFill>
                  <a:srgbClr val="3B4A41"/>
                </a:solidFill>
                <a:effectLst/>
                <a:uFillTx/>
                <a:latin typeface="Calibri"/>
              </a:rPr>
              <a:t>BAUS</a:t>
            </a:r>
            <a:r>
              <a:rPr lang="en-US" sz="1300" b="0" u="none" strike="noStrike">
                <a:solidFill>
                  <a:srgbClr val="3B4A41"/>
                </a:solidFill>
                <a:effectLst/>
                <a:uFillTx/>
                <a:latin typeface="Calibri"/>
              </a:rPr>
              <a:t>: unknown animals correctly called “new”. </a:t>
            </a:r>
            <a:endParaRPr lang="en-ZA" sz="1300" b="0" u="none" strike="noStrike">
              <a:solidFill>
                <a:srgbClr val="000000"/>
              </a:solidFill>
              <a:effectLst/>
              <a:uFillTx/>
              <a:latin typeface="Arial"/>
            </a:endParaRPr>
          </a:p>
          <a:p>
            <a:pPr marL="216000" indent="-216000" defTabSz="914400">
              <a:lnSpc>
                <a:spcPct val="100000"/>
              </a:lnSpc>
              <a:buClr>
                <a:srgbClr val="3B4A41"/>
              </a:buClr>
              <a:buSzPct val="45000"/>
              <a:buFont typeface="Wingdings" charset="2"/>
              <a:buChar char=""/>
              <a:tabLst>
                <a:tab pos="0" algn="l"/>
              </a:tabLst>
            </a:pPr>
            <a:r>
              <a:rPr lang="en-US" sz="1300" b="1" u="none" strike="noStrike">
                <a:solidFill>
                  <a:srgbClr val="3B4A41"/>
                </a:solidFill>
                <a:effectLst/>
                <a:uFillTx/>
                <a:latin typeface="Calibri"/>
              </a:rPr>
              <a:t>Open score</a:t>
            </a:r>
            <a:r>
              <a:rPr lang="en-US" sz="1300" b="0" u="none" strike="noStrike">
                <a:solidFill>
                  <a:srgbClr val="3B4A41"/>
                </a:solidFill>
                <a:effectLst/>
                <a:uFillTx/>
                <a:latin typeface="Calibri"/>
              </a:rPr>
              <a:t> = (BAKS + BAUS) / 2.</a:t>
            </a:r>
            <a:endParaRPr lang="en-ZA" sz="1300" b="0" u="none" strike="noStrike">
              <a:solidFill>
                <a:srgbClr val="000000"/>
              </a:solidFill>
              <a:effectLst/>
              <a:uFillTx/>
              <a:latin typeface="Arial"/>
            </a:endParaRPr>
          </a:p>
          <a:p>
            <a:pPr marL="216000" indent="-216000" defTabSz="914400">
              <a:lnSpc>
                <a:spcPct val="100000"/>
              </a:lnSpc>
              <a:buClr>
                <a:srgbClr val="3B4A41"/>
              </a:buClr>
              <a:buSzPct val="45000"/>
              <a:buFont typeface="Wingdings" charset="2"/>
              <a:buChar char=""/>
              <a:tabLst>
                <a:tab pos="0" algn="l"/>
              </a:tabLst>
            </a:pPr>
            <a:r>
              <a:rPr lang="en-US" sz="1300" b="1" u="none" strike="noStrike">
                <a:solidFill>
                  <a:srgbClr val="3B4A41"/>
                </a:solidFill>
                <a:effectLst/>
                <a:uFillTx/>
                <a:latin typeface="Calibri"/>
              </a:rPr>
              <a:t>* Reduced validation subset (200 queries); other rows are the full test split. Local branch is preliminary.</a:t>
            </a:r>
            <a:endParaRPr lang="en-ZA" sz="1300" b="0" u="none" strike="noStrike">
              <a:solidFill>
                <a:srgbClr val="000000"/>
              </a:solidFill>
              <a:effectLst/>
              <a:uFillTx/>
              <a:latin typeface="Arial"/>
            </a:endParaRPr>
          </a:p>
        </p:txBody>
      </p:sp>
      <p:sp>
        <p:nvSpPr>
          <p:cNvPr id="94" name="Shape 4"/>
          <p:cNvSpPr/>
          <p:nvPr/>
        </p:nvSpPr>
        <p:spPr>
          <a:xfrm>
            <a:off x="7863840" y="830520"/>
            <a:ext cx="3748320" cy="1689480"/>
          </a:xfrm>
          <a:prstGeom prst="roundRect">
            <a:avLst>
              <a:gd name="adj" fmla="val 5217"/>
            </a:avLst>
          </a:prstGeom>
          <a:solidFill>
            <a:srgbClr val="FFFFFF"/>
          </a:solidFill>
          <a:ln w="19050">
            <a:solidFill>
              <a:srgbClr val="8FA698"/>
            </a:solidFill>
            <a:prstDash val="dash"/>
            <a:round/>
          </a:ln>
        </p:spPr>
        <p:style>
          <a:lnRef idx="0"/>
          <a:fillRef idx="0"/>
          <a:effectRef idx="0"/>
          <a:fontRef idx="minor"/>
        </p:style>
        <p:txBody>
          <a:bodyPr lIns="90000" tIns="45000" rIns="90000" bIns="45000" anchor="t">
            <a:noAutofit/>
          </a:bodyPr>
          <a:p>
            <a:endParaRPr lang="en-ZA" sz="1800" b="0" u="none" strike="noStrike">
              <a:solidFill>
                <a:srgbClr val="000000"/>
              </a:solidFill>
              <a:effectLst/>
              <a:uFillTx/>
              <a:latin typeface="Arial"/>
            </a:endParaRPr>
          </a:p>
        </p:txBody>
      </p:sp>
      <p:sp>
        <p:nvSpPr>
          <p:cNvPr id="95" name="Text 5"/>
          <p:cNvSpPr/>
          <p:nvPr/>
        </p:nvSpPr>
        <p:spPr>
          <a:xfrm>
            <a:off x="8046720" y="1712880"/>
            <a:ext cx="3382560" cy="410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14231C"/>
                </a:solidFill>
                <a:effectLst/>
                <a:uFillTx/>
                <a:latin typeface="Calibri"/>
              </a:rPr>
              <a:t>Plot: BAKS and BAUS vs τ</a:t>
            </a:r>
            <a:endParaRPr lang="en-ZA" sz="1800" b="0" u="none" strike="noStrike">
              <a:solidFill>
                <a:srgbClr val="000000"/>
              </a:solidFill>
              <a:effectLst/>
              <a:uFillTx/>
              <a:latin typeface="Arial"/>
            </a:endParaRPr>
          </a:p>
        </p:txBody>
      </p:sp>
      <p:sp>
        <p:nvSpPr>
          <p:cNvPr id="96" name="Shape 7"/>
          <p:cNvSpPr/>
          <p:nvPr/>
        </p:nvSpPr>
        <p:spPr>
          <a:xfrm>
            <a:off x="7863840" y="2892960"/>
            <a:ext cx="3748320" cy="1329480"/>
          </a:xfrm>
          <a:prstGeom prst="roundRect">
            <a:avLst>
              <a:gd name="adj" fmla="val 5217"/>
            </a:avLst>
          </a:prstGeom>
          <a:solidFill>
            <a:srgbClr val="FFFFFF"/>
          </a:solidFill>
          <a:ln w="19050">
            <a:solidFill>
              <a:srgbClr val="8FA698"/>
            </a:solidFill>
            <a:prstDash val="dash"/>
            <a:round/>
          </a:ln>
        </p:spPr>
        <p:style>
          <a:lnRef idx="0"/>
          <a:fillRef idx="0"/>
          <a:effectRef idx="0"/>
          <a:fontRef idx="minor"/>
        </p:style>
        <p:txBody>
          <a:bodyPr lIns="90000" tIns="45000" rIns="90000" bIns="45000" anchor="t">
            <a:noAutofit/>
          </a:bodyPr>
          <a:p>
            <a:endParaRPr lang="en-ZA" sz="1800" b="0" u="none" strike="noStrike">
              <a:solidFill>
                <a:srgbClr val="000000"/>
              </a:solidFill>
              <a:effectLst/>
              <a:uFillTx/>
              <a:latin typeface="Arial"/>
            </a:endParaRPr>
          </a:p>
        </p:txBody>
      </p:sp>
      <p:sp>
        <p:nvSpPr>
          <p:cNvPr id="97" name="Text 8"/>
          <p:cNvSpPr/>
          <p:nvPr/>
        </p:nvSpPr>
        <p:spPr>
          <a:xfrm>
            <a:off x="8046720" y="3143160"/>
            <a:ext cx="3382560" cy="410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14231C"/>
                </a:solidFill>
                <a:effectLst/>
                <a:uFillTx/>
                <a:latin typeface="Calibri"/>
              </a:rPr>
              <a:t>Plot: PCA dimension sweep</a:t>
            </a:r>
            <a:endParaRPr lang="en-ZA" sz="1800" b="0" u="none" strike="noStrike">
              <a:solidFill>
                <a:srgbClr val="000000"/>
              </a:solidFill>
              <a:effectLst/>
              <a:uFillTx/>
              <a:latin typeface="Arial"/>
            </a:endParaRPr>
          </a:p>
        </p:txBody>
      </p:sp>
      <p:sp>
        <p:nvSpPr>
          <p:cNvPr id="98" name="Text 9"/>
          <p:cNvSpPr/>
          <p:nvPr/>
        </p:nvSpPr>
        <p:spPr>
          <a:xfrm>
            <a:off x="8046720" y="3593160"/>
            <a:ext cx="338256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3B4A41"/>
                </a:solidFill>
                <a:effectLst/>
                <a:uFillTx/>
                <a:latin typeface="Calibri"/>
              </a:rPr>
              <a:t>32 to 512 dimensions vs uncompressed</a:t>
            </a:r>
            <a:endParaRPr lang="en-ZA" sz="1300" b="0" u="none" strike="noStrike">
              <a:solidFill>
                <a:srgbClr val="000000"/>
              </a:solidFill>
              <a:effectLst/>
              <a:uFillTx/>
              <a:latin typeface="Arial"/>
            </a:endParaRPr>
          </a:p>
        </p:txBody>
      </p:sp>
      <p:sp>
        <p:nvSpPr>
          <p:cNvPr id="99" name="Extra 0"/>
          <p:cNvSpPr/>
          <p:nvPr/>
        </p:nvSpPr>
        <p:spPr>
          <a:xfrm>
            <a:off x="7863840" y="4860000"/>
            <a:ext cx="3748320" cy="1329480"/>
          </a:xfrm>
          <a:prstGeom prst="roundRect">
            <a:avLst>
              <a:gd name="adj" fmla="val 5217"/>
            </a:avLst>
          </a:prstGeom>
          <a:solidFill>
            <a:srgbClr val="FFFFFF"/>
          </a:solidFill>
          <a:ln w="19050">
            <a:solidFill>
              <a:srgbClr val="8FA698"/>
            </a:solidFill>
            <a:prstDash val="dash"/>
            <a:round/>
          </a:ln>
        </p:spPr>
        <p:style>
          <a:lnRef idx="0"/>
          <a:fillRef idx="0"/>
          <a:effectRef idx="0"/>
          <a:fontRef idx="minor"/>
        </p:style>
        <p:txBody>
          <a:bodyPr lIns="90000" tIns="45000" rIns="90000" bIns="45000" anchor="t">
            <a:noAutofit/>
          </a:bodyPr>
          <a:p>
            <a:endParaRPr lang="en-ZA" sz="1800" b="0" u="none" strike="noStrike">
              <a:solidFill>
                <a:srgbClr val="000000"/>
              </a:solidFill>
              <a:effectLst/>
              <a:uFillTx/>
              <a:latin typeface="Arial"/>
            </a:endParaRPr>
          </a:p>
        </p:txBody>
      </p:sp>
      <p:sp>
        <p:nvSpPr>
          <p:cNvPr id="100" name="Extra 1"/>
          <p:cNvSpPr/>
          <p:nvPr/>
        </p:nvSpPr>
        <p:spPr>
          <a:xfrm>
            <a:off x="8046720" y="4573080"/>
            <a:ext cx="3382560" cy="410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14231C"/>
                </a:solidFill>
                <a:effectLst/>
                <a:uFillTx/>
                <a:latin typeface="Calibri"/>
              </a:rPr>
              <a:t>Slot: additional result</a:t>
            </a:r>
            <a:endParaRPr lang="en-ZA" sz="1800" b="0" u="none" strike="noStrike">
              <a:solidFill>
                <a:srgbClr val="000000"/>
              </a:solidFill>
              <a:effectLst/>
              <a:uFillTx/>
              <a:latin typeface="Arial"/>
            </a:endParaRPr>
          </a:p>
        </p:txBody>
      </p:sp>
      <p:sp>
        <p:nvSpPr>
          <p:cNvPr id="101" name="Extra 2"/>
          <p:cNvSpPr/>
          <p:nvPr/>
        </p:nvSpPr>
        <p:spPr>
          <a:xfrm>
            <a:off x="8046720" y="5023080"/>
            <a:ext cx="3382560" cy="365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3B4A41"/>
                </a:solidFill>
                <a:effectLst/>
                <a:uFillTx/>
                <a:latin typeface="Calibri"/>
              </a:rPr>
              <a:t>Your extra plot or table</a:t>
            </a:r>
            <a:endParaRPr lang="en-ZA"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2" name="Title"/>
          <p:cNvSpPr/>
          <p:nvPr/>
        </p:nvSpPr>
        <p:spPr>
          <a:xfrm>
            <a:off x="548640" y="365760"/>
            <a:ext cx="11063520" cy="822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800" b="1" u="none" strike="noStrike">
                <a:solidFill>
                  <a:schemeClr val="dk1"/>
                </a:solidFill>
                <a:effectLst/>
                <a:uFillTx/>
                <a:latin typeface="Cambria"/>
                <a:ea typeface="Cambria"/>
              </a:rPr>
              <a:t>Conclusion and ablation</a:t>
            </a:r>
            <a:endParaRPr lang="en-ZA" sz="3800" b="0" u="none" strike="noStrike">
              <a:solidFill>
                <a:srgbClr val="000000"/>
              </a:solidFill>
              <a:effectLst/>
              <a:uFillTx/>
              <a:latin typeface="Arial"/>
            </a:endParaRPr>
          </a:p>
        </p:txBody>
      </p:sp>
      <p:sp>
        <p:nvSpPr>
          <p:cNvPr id="103" name="PageNo"/>
          <p:cNvSpPr/>
          <p:nvPr/>
        </p:nvSpPr>
        <p:spPr>
          <a:xfrm>
            <a:off x="10698480" y="6400800"/>
            <a:ext cx="913680" cy="273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100" b="0" u="none" strike="noStrike">
                <a:solidFill>
                  <a:srgbClr val="5B7F6B"/>
                </a:solidFill>
                <a:effectLst/>
                <a:uFillTx/>
                <a:latin typeface="Calibri"/>
              </a:rPr>
              <a:t>5 / 5</a:t>
            </a:r>
            <a:endParaRPr lang="en-ZA" sz="1100" b="0" u="none" strike="noStrike">
              <a:solidFill>
                <a:srgbClr val="000000"/>
              </a:solidFill>
              <a:effectLst/>
              <a:uFillTx/>
              <a:latin typeface="Arial"/>
            </a:endParaRPr>
          </a:p>
        </p:txBody>
      </p:sp>
      <p:sp>
        <p:nvSpPr>
          <p:cNvPr id="104" name="Text 3"/>
          <p:cNvSpPr/>
          <p:nvPr/>
        </p:nvSpPr>
        <p:spPr>
          <a:xfrm>
            <a:off x="548640" y="1463040"/>
            <a:ext cx="4479840" cy="13708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600" b="1" u="none" strike="noStrike">
                <a:solidFill>
                  <a:srgbClr val="2C5F2D"/>
                </a:solidFill>
                <a:effectLst/>
                <a:uFillTx/>
                <a:latin typeface="Cambria"/>
                <a:ea typeface="Cambria"/>
              </a:rPr>
              <a:t>Different evidence fails in different ways, so we fuse it.</a:t>
            </a:r>
            <a:endParaRPr lang="en-ZA" sz="2600" b="0" u="none" strike="noStrike">
              <a:solidFill>
                <a:srgbClr val="000000"/>
              </a:solidFill>
              <a:effectLst/>
              <a:uFillTx/>
              <a:latin typeface="Arial"/>
            </a:endParaRPr>
          </a:p>
        </p:txBody>
      </p:sp>
      <p:sp>
        <p:nvSpPr>
          <p:cNvPr id="105" name="Text 4"/>
          <p:cNvSpPr/>
          <p:nvPr/>
        </p:nvSpPr>
        <p:spPr>
          <a:xfrm>
            <a:off x="548640" y="3017520"/>
            <a:ext cx="4479840" cy="2376720"/>
          </a:xfrm>
          <a:prstGeom prst="rect">
            <a:avLst/>
          </a:prstGeom>
          <a:noFill/>
          <a:ln w="0">
            <a:noFill/>
          </a:ln>
        </p:spPr>
        <p:style>
          <a:lnRef idx="0"/>
          <a:fillRef idx="0"/>
          <a:effectRef idx="0"/>
          <a:fontRef idx="minor"/>
        </p:style>
        <p:txBody>
          <a:bodyPr lIns="0" tIns="0" rIns="0" bIns="0" anchor="t">
            <a:noAutofit/>
          </a:bodyPr>
          <a:p>
            <a:pPr marL="343080" indent="-343080" defTabSz="914400">
              <a:lnSpc>
                <a:spcPct val="100000"/>
              </a:lnSpc>
              <a:spcAft>
                <a:spcPts val="1001"/>
              </a:spcAft>
              <a:buClr>
                <a:srgbClr val="3B4A41"/>
              </a:buClr>
              <a:buFont typeface="Symbol" charset="2"/>
              <a:buChar char=""/>
            </a:pPr>
            <a:r>
              <a:rPr lang="en-US" sz="1600" b="0" u="none" strike="noStrike">
                <a:solidFill>
                  <a:srgbClr val="3B4A41"/>
                </a:solidFill>
                <a:effectLst/>
                <a:uFillTx/>
                <a:latin typeface="Calibri"/>
              </a:rPr>
              <a:t>Calibration makes unlike scores comparable</a:t>
            </a:r>
            <a:endParaRPr lang="en-ZA" sz="1600" b="0" u="none" strike="noStrike">
              <a:solidFill>
                <a:srgbClr val="000000"/>
              </a:solidFill>
              <a:effectLst/>
              <a:uFillTx/>
              <a:latin typeface="Arial"/>
            </a:endParaRPr>
          </a:p>
          <a:p>
            <a:pPr marL="343080" indent="-343080" defTabSz="914400">
              <a:lnSpc>
                <a:spcPct val="100000"/>
              </a:lnSpc>
              <a:spcAft>
                <a:spcPts val="1001"/>
              </a:spcAft>
              <a:buClr>
                <a:srgbClr val="3B4A41"/>
              </a:buClr>
              <a:buFont typeface="Symbol" charset="2"/>
              <a:buChar char=""/>
            </a:pPr>
            <a:r>
              <a:rPr lang="en-US" sz="1600" b="0" u="none" strike="noStrike">
                <a:solidFill>
                  <a:srgbClr val="3B4A41"/>
                </a:solidFill>
                <a:effectLst/>
                <a:uFillTx/>
                <a:latin typeface="Calibri"/>
              </a:rPr>
              <a:t>Local matching runs only on a shortlist, so it stays affordable</a:t>
            </a:r>
            <a:endParaRPr lang="en-ZA" sz="1600" b="0" u="none" strike="noStrike">
              <a:solidFill>
                <a:srgbClr val="000000"/>
              </a:solidFill>
              <a:effectLst/>
              <a:uFillTx/>
              <a:latin typeface="Arial"/>
            </a:endParaRPr>
          </a:p>
          <a:p>
            <a:pPr marL="343080" indent="-343080" defTabSz="914400">
              <a:lnSpc>
                <a:spcPct val="100000"/>
              </a:lnSpc>
              <a:spcAft>
                <a:spcPts val="1001"/>
              </a:spcAft>
              <a:buClr>
                <a:srgbClr val="3B4A41"/>
              </a:buClr>
              <a:buFont typeface="Symbol" charset="2"/>
              <a:buChar char=""/>
            </a:pPr>
            <a:r>
              <a:rPr lang="en-US" sz="1600" b="0" u="none" strike="noStrike">
                <a:solidFill>
                  <a:srgbClr val="3B4A41"/>
                </a:solidFill>
                <a:effectLst/>
                <a:uFillTx/>
                <a:latin typeface="Calibri"/>
              </a:rPr>
              <a:t>One threshold τ separates known from new animals</a:t>
            </a:r>
            <a:endParaRPr lang="en-ZA" sz="1600" b="0" u="none" strike="noStrike">
              <a:solidFill>
                <a:srgbClr val="000000"/>
              </a:solidFill>
              <a:effectLst/>
              <a:uFillTx/>
              <a:latin typeface="Arial"/>
            </a:endParaRPr>
          </a:p>
        </p:txBody>
      </p:sp>
      <p:graphicFrame>
        <p:nvGraphicFramePr>
          <p:cNvPr id="106" name="Table 0"/>
          <p:cNvGraphicFramePr/>
          <p:nvPr/>
        </p:nvGraphicFramePr>
        <p:xfrm>
          <a:off x="5486400" y="1463040"/>
          <a:ext cx="6126120" cy="4004280"/>
        </p:xfrm>
        <a:graphic>
          <a:graphicData uri="http://schemas.openxmlformats.org/drawingml/2006/table">
            <a:tbl>
              <a:tblPr/>
              <a:tblGrid>
                <a:gridCol w="2194560"/>
                <a:gridCol w="3931920"/>
              </a:tblGrid>
              <a:tr h="566640">
                <a:tc>
                  <a:txBody>
                    <a:bodyPr anchor="ctr">
                      <a:noAutofit/>
                    </a:bodyPr>
                    <a:p>
                      <a:pPr defTabSz="914400">
                        <a:lnSpc>
                          <a:spcPct val="100000"/>
                        </a:lnSpc>
                        <a:tabLst>
                          <a:tab pos="0" algn="l"/>
                        </a:tabLst>
                      </a:pPr>
                      <a:r>
                        <a:rPr lang="en-US" sz="1600" b="1" u="none" strike="noStrike">
                          <a:solidFill>
                            <a:srgbClr val="FFFFFF"/>
                          </a:solidFill>
                          <a:effectLst/>
                          <a:uFillTx/>
                          <a:latin typeface="Calibri"/>
                        </a:rPr>
                        <a:t>Configuration</a:t>
                      </a:r>
                      <a:endParaRPr lang="en-ZA" sz="1600" b="0" u="none" strike="noStrike">
                        <a:solidFill>
                          <a:srgbClr val="FFFFFF"/>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2C5F2D"/>
                    </a:solidFill>
                  </a:tcPr>
                </a:tc>
                <a:tc>
                  <a:txBody>
                    <a:bodyPr anchor="ctr">
                      <a:noAutofit/>
                    </a:bodyPr>
                    <a:p>
                      <a:pPr defTabSz="914400">
                        <a:lnSpc>
                          <a:spcPct val="100000"/>
                        </a:lnSpc>
                        <a:tabLst>
                          <a:tab pos="0" algn="l"/>
                        </a:tabLst>
                      </a:pPr>
                      <a:r>
                        <a:rPr lang="en-US" sz="1600" b="1" u="none" strike="noStrike">
                          <a:solidFill>
                            <a:srgbClr val="FFFFFF"/>
                          </a:solidFill>
                          <a:effectLst/>
                          <a:uFillTx/>
                          <a:latin typeface="Calibri"/>
                        </a:rPr>
                        <a:t>What it tells us</a:t>
                      </a:r>
                      <a:endParaRPr lang="en-ZA" sz="1600" b="0" u="none" strike="noStrike">
                        <a:solidFill>
                          <a:srgbClr val="FFFFFF"/>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2C5F2D"/>
                    </a:solidFill>
                  </a:tcPr>
                </a:tc>
              </a:tr>
              <a:tr h="566640">
                <a:tc>
                  <a:txBody>
                    <a:bodyPr anchor="ctr">
                      <a:noAutofit/>
                    </a:bodyPr>
                    <a:p>
                      <a:pPr defTabSz="914400">
                        <a:lnSpc>
                          <a:spcPct val="100000"/>
                        </a:lnSpc>
                        <a:tabLst>
                          <a:tab pos="0" algn="l"/>
                        </a:tabLst>
                      </a:pPr>
                      <a:r>
                        <a:rPr lang="en-US" sz="1600" b="0" u="none" strike="noStrike">
                          <a:solidFill>
                            <a:srgbClr val="14231C"/>
                          </a:solidFill>
                          <a:effectLst/>
                          <a:uFillTx/>
                          <a:latin typeface="Calibri"/>
                        </a:rPr>
                        <a:t>Global alone</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FFFFF"/>
                    </a:solidFill>
                  </a:tcPr>
                </a:tc>
                <a:tc>
                  <a:txBody>
                    <a:bodyPr anchor="ctr">
                      <a:noAutofit/>
                    </a:bodyPr>
                    <a:p>
                      <a:pPr defTabSz="914400">
                        <a:lnSpc>
                          <a:spcPct val="100000"/>
                        </a:lnSpc>
                        <a:tabLst>
                          <a:tab pos="0" algn="l"/>
                        </a:tabLst>
                      </a:pPr>
                      <a:r>
                        <a:rPr lang="en-US" sz="1600" b="0" u="none" strike="noStrike">
                          <a:solidFill>
                            <a:srgbClr val="14231C"/>
                          </a:solidFill>
                          <a:effectLst/>
                          <a:uFillTx/>
                          <a:latin typeface="Calibri"/>
                        </a:rPr>
                        <a:t>Fine-tuned model carries the system: 81.1 BAKS, 73.3 open</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FFFFF"/>
                    </a:solidFill>
                  </a:tcPr>
                </a:tc>
              </a:tr>
              <a:tr h="566640">
                <a:tc>
                  <a:txBody>
                    <a:bodyPr anchor="ctr">
                      <a:noAutofit/>
                    </a:bodyPr>
                    <a:p>
                      <a:pPr defTabSz="914400">
                        <a:lnSpc>
                          <a:spcPct val="100000"/>
                        </a:lnSpc>
                        <a:tabLst>
                          <a:tab pos="0" algn="l"/>
                        </a:tabLst>
                      </a:pPr>
                      <a:r>
                        <a:rPr lang="en-US" sz="1600" b="0" u="none" strike="noStrike">
                          <a:solidFill>
                            <a:srgbClr val="14231C"/>
                          </a:solidFill>
                          <a:effectLst/>
                          <a:uFillTx/>
                          <a:latin typeface="Calibri"/>
                        </a:rPr>
                        <a:t>EVA02 alone</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2F5F1"/>
                    </a:solidFill>
                  </a:tcPr>
                </a:tc>
                <a:tc>
                  <a:txBody>
                    <a:bodyPr anchor="ctr">
                      <a:noAutofit/>
                    </a:bodyPr>
                    <a:p>
                      <a:pPr defTabSz="914400">
                        <a:lnSpc>
                          <a:spcPct val="100000"/>
                        </a:lnSpc>
                        <a:tabLst>
                          <a:tab pos="0" algn="l"/>
                        </a:tabLst>
                      </a:pPr>
                      <a:r>
                        <a:rPr lang="en-US" sz="1600" b="0" u="none" strike="noStrike">
                          <a:solidFill>
                            <a:srgbClr val="14231C"/>
                          </a:solidFill>
                          <a:effectLst/>
                          <a:uFillTx/>
                          <a:latin typeface="Calibri"/>
                        </a:rPr>
                        <a:t>Weak alone: 42.7 BAKS, 50.4 open (about reject-all)</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2F5F1"/>
                    </a:solidFill>
                  </a:tcPr>
                </a:tc>
              </a:tr>
              <a:tr h="566640">
                <a:tc>
                  <a:txBody>
                    <a:bodyPr anchor="ctr">
                      <a:noAutofit/>
                    </a:bodyPr>
                    <a:p>
                      <a:pPr defTabSz="914400">
                        <a:lnSpc>
                          <a:spcPct val="100000"/>
                        </a:lnSpc>
                        <a:tabLst>
                          <a:tab pos="0" algn="l"/>
                        </a:tabLst>
                      </a:pPr>
                      <a:r>
                        <a:rPr lang="en-US" sz="1600" b="0" u="none" strike="noStrike">
                          <a:solidFill>
                            <a:srgbClr val="14231C"/>
                          </a:solidFill>
                          <a:effectLst/>
                          <a:uFillTx/>
                          <a:latin typeface="Calibri"/>
                        </a:rPr>
                        <a:t>ALIKED alone</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FFFFF"/>
                    </a:solidFill>
                  </a:tcPr>
                </a:tc>
                <a:tc>
                  <a:txBody>
                    <a:bodyPr anchor="ctr">
                      <a:noAutofit/>
                    </a:bodyPr>
                    <a:p>
                      <a:pPr defTabSz="914400">
                        <a:lnSpc>
                          <a:spcPct val="100000"/>
                        </a:lnSpc>
                        <a:tabLst>
                          <a:tab pos="0" algn="l"/>
                        </a:tabLst>
                      </a:pPr>
                      <a:r>
                        <a:rPr lang="en-US" sz="1600" b="0" u="none" strike="noStrike">
                          <a:solidFill>
                            <a:srgbClr val="14231C"/>
                          </a:solidFill>
                          <a:effectLst/>
                          <a:uFillTx/>
                          <a:latin typeface="Calibri"/>
                        </a:rPr>
                        <a:t>Local branch alone: not run separately</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FFFFF"/>
                    </a:solidFill>
                  </a:tcPr>
                </a:tc>
              </a:tr>
              <a:tr h="566640">
                <a:tc>
                  <a:txBody>
                    <a:bodyPr anchor="ctr">
                      <a:noAutofit/>
                    </a:bodyPr>
                    <a:p>
                      <a:pPr defTabSz="914400">
                        <a:lnSpc>
                          <a:spcPct val="100000"/>
                        </a:lnSpc>
                        <a:tabLst>
                          <a:tab pos="0" algn="l"/>
                        </a:tabLst>
                      </a:pPr>
                      <a:r>
                        <a:rPr lang="en-US" sz="1600" b="0" u="none" strike="noStrike">
                          <a:solidFill>
                            <a:srgbClr val="14231C"/>
                          </a:solidFill>
                          <a:effectLst/>
                          <a:uFillTx/>
                          <a:latin typeface="Calibri"/>
                        </a:rPr>
                        <a:t>Global + EVA02</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2F5F1"/>
                    </a:solidFill>
                  </a:tcPr>
                </a:tc>
                <a:tc>
                  <a:txBody>
                    <a:bodyPr anchor="ctr">
                      <a:noAutofit/>
                    </a:bodyPr>
                    <a:p>
                      <a:pPr defTabSz="914400">
                        <a:lnSpc>
                          <a:spcPct val="100000"/>
                        </a:lnSpc>
                        <a:tabLst>
                          <a:tab pos="0" algn="l"/>
                        </a:tabLst>
                      </a:pPr>
                      <a:r>
                        <a:rPr lang="en-US" sz="1600" b="0" u="none" strike="noStrike">
                          <a:solidFill>
                            <a:srgbClr val="14231C"/>
                          </a:solidFill>
                          <a:effectLst/>
                          <a:uFillTx/>
                          <a:latin typeface="Calibri"/>
                        </a:rPr>
                        <a:t>Under 0.1 point change on test</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2F5F1"/>
                    </a:solidFill>
                  </a:tcPr>
                </a:tc>
              </a:tr>
              <a:tr h="566640">
                <a:tc>
                  <a:txBody>
                    <a:bodyPr anchor="ctr">
                      <a:noAutofit/>
                    </a:bodyPr>
                    <a:p>
                      <a:pPr defTabSz="914400">
                        <a:lnSpc>
                          <a:spcPct val="100000"/>
                        </a:lnSpc>
                        <a:tabLst>
                          <a:tab pos="0" algn="l"/>
                        </a:tabLst>
                      </a:pPr>
                      <a:r>
                        <a:rPr lang="en-US" sz="1600" b="0" u="none" strike="noStrike">
                          <a:solidFill>
                            <a:srgbClr val="14231C"/>
                          </a:solidFill>
                          <a:effectLst/>
                          <a:uFillTx/>
                          <a:latin typeface="Calibri"/>
                        </a:rPr>
                        <a:t>Global + ALIKED</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FFFFF"/>
                    </a:solidFill>
                  </a:tcPr>
                </a:tc>
                <a:tc>
                  <a:txBody>
                    <a:bodyPr anchor="ctr">
                      <a:noAutofit/>
                    </a:bodyPr>
                    <a:p>
                      <a:pPr defTabSz="914400">
                        <a:lnSpc>
                          <a:spcPct val="100000"/>
                        </a:lnSpc>
                        <a:tabLst>
                          <a:tab pos="0" algn="l"/>
                        </a:tabLst>
                      </a:pPr>
                      <a:r>
                        <a:rPr lang="en-US" sz="1600" b="0" u="none" strike="noStrike">
                          <a:solidFill>
                            <a:srgbClr val="14231C"/>
                          </a:solidFill>
                          <a:effectLst/>
                          <a:uFillTx/>
                          <a:latin typeface="Calibri"/>
                        </a:rPr>
                        <a:t>Not run alone; added to G+EVA02: 79.0 to 81.3 open (subset)</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FFFFF"/>
                    </a:solidFill>
                  </a:tcPr>
                </a:tc>
              </a:tr>
              <a:tr h="566640">
                <a:tc>
                  <a:txBody>
                    <a:bodyPr anchor="ctr">
                      <a:noAutofit/>
                    </a:bodyPr>
                    <a:p>
                      <a:pPr defTabSz="914400">
                        <a:lnSpc>
                          <a:spcPct val="100000"/>
                        </a:lnSpc>
                        <a:tabLst>
                          <a:tab pos="0" algn="l"/>
                        </a:tabLst>
                      </a:pPr>
                      <a:r>
                        <a:rPr lang="en-US" sz="1600" b="1" u="none" strike="noStrike">
                          <a:solidFill>
                            <a:srgbClr val="14231C"/>
                          </a:solidFill>
                          <a:effectLst/>
                          <a:uFillTx/>
                          <a:latin typeface="Calibri"/>
                        </a:rPr>
                        <a:t>All three</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BF1DC"/>
                    </a:solidFill>
                  </a:tcPr>
                </a:tc>
                <a:tc>
                  <a:txBody>
                    <a:bodyPr anchor="ctr">
                      <a:noAutofit/>
                    </a:bodyPr>
                    <a:p>
                      <a:pPr defTabSz="914400">
                        <a:lnSpc>
                          <a:spcPct val="100000"/>
                        </a:lnSpc>
                        <a:tabLst>
                          <a:tab pos="0" algn="l"/>
                        </a:tabLst>
                      </a:pPr>
                      <a:r>
                        <a:rPr lang="en-US" sz="1600" b="1" u="none" strike="noStrike">
                          <a:solidFill>
                            <a:srgbClr val="14231C"/>
                          </a:solidFill>
                          <a:effectLst/>
                          <a:uFillTx/>
                          <a:latin typeface="Calibri"/>
                        </a:rPr>
                        <a:t>Preliminary: 81.3 open, 94.3 BAUS (subset)</a:t>
                      </a:r>
                      <a:endParaRPr lang="en-ZA" sz="1600" b="0" u="none" strike="noStrike">
                        <a:solidFill>
                          <a:srgbClr val="000000"/>
                        </a:solidFill>
                        <a:effectLst/>
                        <a:uFillTx/>
                        <a:latin typeface="Arial"/>
                      </a:endParaRPr>
                    </a:p>
                  </a:txBody>
                  <a:tcPr anchor="ctr" marL="91440" marR="91440" marT="45720" marB="45720">
                    <a:lnL w="12240">
                      <a:solidFill>
                        <a:srgbClr val="DDE6DF"/>
                      </a:solidFill>
                      <a:prstDash val="solid"/>
                    </a:lnL>
                    <a:lnR w="12240">
                      <a:solidFill>
                        <a:srgbClr val="DDE6DF"/>
                      </a:solidFill>
                      <a:prstDash val="solid"/>
                    </a:lnR>
                    <a:lnT w="12240">
                      <a:solidFill>
                        <a:srgbClr val="DDE6DF"/>
                      </a:solidFill>
                      <a:prstDash val="solid"/>
                    </a:lnT>
                    <a:lnB w="12240">
                      <a:solidFill>
                        <a:srgbClr val="DDE6DF"/>
                      </a:solidFill>
                      <a:prstDash val="solid"/>
                    </a:lnB>
                    <a:solidFill>
                      <a:srgbClr val="FBF1DC"/>
                    </a:solidFill>
                  </a:tcPr>
                </a:tc>
              </a:tr>
            </a:tbl>
          </a:graphicData>
        </a:graphic>
      </p:graphicFrame>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WildlifeReID">
  <a:themeElements>
    <a:clrScheme name="WildlifeReID">
      <a:dk1>
        <a:srgbClr val="14231C"/>
      </a:dk1>
      <a:lt1>
        <a:srgbClr val="FFFFFF"/>
      </a:lt1>
      <a:dk2>
        <a:srgbClr val="2C5F2D"/>
      </a:dk2>
      <a:lt2>
        <a:srgbClr val="F2F5F1"/>
      </a:lt2>
      <a:accent1>
        <a:srgbClr val="2C5F2D"/>
      </a:accent1>
      <a:accent2>
        <a:srgbClr val="C98A1B"/>
      </a:accent2>
      <a:accent3>
        <a:srgbClr val="5B7F6B"/>
      </a:accent3>
      <a:accent4>
        <a:srgbClr val="8FA698"/>
      </a:accent4>
      <a:accent5>
        <a:srgbClr val="E8EFE9"/>
      </a:accent5>
      <a:accent6>
        <a:srgbClr val="FBF1DC"/>
      </a:accent6>
      <a:hlink>
        <a:srgbClr val="2C5F2D"/>
      </a:hlink>
      <a:folHlink>
        <a:srgbClr val="5B7F6B"/>
      </a:folHlink>
    </a:clrScheme>
    <a:fontScheme name="WildlifeReID">
      <a:majorFont>
        <a:latin typeface="Cambria" pitchFamily="0" charset="1"/>
        <a:ea typeface=""/>
        <a:cs typeface=""/>
      </a:majorFont>
      <a:minorFont>
        <a:latin typeface="Calibri"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23</TotalTime>
  <Application>LibreOffice/26.2.6.1$Linux_X86_64 LibreOffice_project/620$Build-1</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2026-10-18T16:19:03Z</dcterms:created>
  <dc:creator>PptxGenJS</dc:creator>
  <dc:description/>
  <dc:language>en-ZA</dc:language>
  <cp:lastModifiedBy/>
  <dcterms:modified xsi:type="dcterms:W3CDTF">2026-10-18T23:21:41Z</dcterms:modified>
  <cp:revision>3</cp:revision>
  <dc:subject>PptxGenJS Presentation</dc:subject>
  <dc:title>PptxGenJS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5</vt:i4>
  </property>
  <property fmtid="{D5CDD505-2E9C-101B-9397-08002B2CF9AE}" pid="3" name="PresentationFormat">
    <vt:lpwstr>On-screen Show (16:9)</vt:lpwstr>
  </property>
  <property fmtid="{D5CDD505-2E9C-101B-9397-08002B2CF9AE}" pid="4" name="Slides">
    <vt:i4>5</vt:i4>
  </property>
</Properties>
</file>